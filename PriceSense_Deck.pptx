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9"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3741" autoAdjust="0"/>
  </p:normalViewPr>
  <p:slideViewPr>
    <p:cSldViewPr snapToGrid="0" snapToObjects="1">
      <p:cViewPr>
        <p:scale>
          <a:sx n="60" d="100"/>
          <a:sy n="60" d="100"/>
        </p:scale>
        <p:origin x="884"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481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hold ~5 seconds, then speak.
WHAT TO SAY
"This is PriceSense — a dynamic pricing engine for retail. But the headline isn't that it uses AI. It's the opposite: the AI never actually sets the price. A deterministic optimizer does. The AI's job is judgment and explanation. That one design choice is what makes this defensible, and it's the thread through the whole deck."
WHY THIS FRAMING WINS THIS ROOM
This jury has seen a hundred "we bolted an LLM onto X" demos. Leading with "the LLM does NOT compute the price" signals engineering maturity in the first sentence. Say the tagline out loud — it returns on the final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PROBLEM (before any AI is mentioned)
WHAT TO SAY
"Retailers today price with static rules — cost-plus markups, periodic manual reviews. That loses money two ways at once, and they're opposite mistakes."
THE TWO LOSSES — this framing matters, say it clearly
Left: revenue left on the table — the price was too low, demand would have paid more. Right: margin eroded — the price sat too high to clear, and slow stock bled margin quietly. A rules engine can't tell which mistake it's making because it can't see the signals.
THE FOUR BLIND SPOTS
A competitor's midnight price cut, a weather-driven demand spike, 90 days of stock cover slowly eroding, and the data itself scattered across four systems. The point of the gold line: the data to react already exists — the bottleneck is integration speed, and that's exactly what agents are good at.
DELIVERY
No AI on this slide on purpose. Establish the money problem first so the solution has something to be measured against.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DESIGN PHILOSOPHY (the most important slide for this jury)
WHAT TO SAY
"This is the single principle that shapes every requirement. Read the table as: who owns each layer, and why."
THE ARGUMENT, IN PLAIN TERMS
Price optimization is mathematics — elasticity and constrained optimization. Routing arithmetic through a language model makes it slower, costlier, and non-reproducible. So a deterministic Python optimizer owns it. Compliance is a legal obligation — a model that's right 97% of the time is not an acceptable legal control, so a deterministic rule engine with veto power owns it. Uncertainty must be computed, not asserted, so Monte Carlo owns it.
WHERE THE LLM ACTUALLY EARNS ITS PLACE (the bottom two rows)
Judgment — weighing conflicting evidence, surfacing what a human missed. And explanation — turning numbers into a recommendation a manager can defend upward. That's genuine language value a rules engine can't supply.
THE GOLD ROW
Compliance enforcement is gold because it's the row a skeptical architect attacks first: "what if the AI approves something illegal?" Answer: it can't. The LLM is not in the enforcement path at all. Point at the row when you say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THE TEAM
HOW TO RUN IT
Don't read five cards. Name the shape and land one point.
THE SHAPE
Debraj owns the product — the personas, the use case, what "success" means, set before a line of code. The four engineers each own a layer of the stack: Sauris leads architecture and the AI-proposes/rules-dispose split; Surya builds the agents, the LangGraph orchestration, the optimizer and rule engine; Somiendra builds the entire React UI — review queue, dashboards, the autonomy and loop controls; Arnab owns quality.
THE POINT — ARNAB'S ROLE
Quality here isn't "click through the happy path." It's specifically testing the compliance veto holds, that pushes are idempotent, and that no LLM call bypasses grounding. For a system whose whole pitch is "the guardrails are real," the person who proves the guardrails hold is load-bearing. That's why it's a named role, not a shared afterthought.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ARCHITECTURE (trace it, don't read it)
HOW TO RUN THIS SLIDE
30 seconds tracing the flow with your finger, then stop. The job is credibility — "these people built a real system" — not making the jury memorise ten boxes.
THE TRACE
Three services top row. The UI only ever talks to the Platform on :8000. The Platform reaches business data on :8001 exclusively over HTTP — no shared database. Say why that matters: the separation the problem statement demands is structurally enforced, not just promised. A shortcut would show up as an illegal import.
THE FIVE AGENTS
Data &amp; Context ingests everything concurrently and runs the quality gate. Quantitative does elasticity then Monte Carlo. Strategy calls the optimizer and writes the rationale. Validation &amp; Compliance — the gold one — holds the rule veto and assigns the autonomy band. Execution pushes and audits, with no LLM in the path at all.
THE BRANCH AND THE LOOP
After validation, each recommendation goes one of three ways: auto-approve, review queue, or escalate. And realized sales feed back to sharpen elasticity and Monte Carlo inputs each run — that's the learning loop, covered on the metrics slide.
IF ASKED "why five agents not one pipeline?"
Four reasons: the stages own genuinely different failure modes; the compliance veto must be an independent actor for a clean audit; the quantitative layer must be isolated so its determinism is verifiable; and A2A needs addressable boundaries. The cost is latency and tokens — mitigated by deterministic edges, concurrent tool calls, and caching. That trade-off is on slide 12.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CA9A0-F69C-B4AD-C599-2510B7605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3BD6D-ACF4-3C81-8E49-A6C30968E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DF2CB-E233-272E-375C-0C9560C24455}"/>
              </a:ext>
            </a:extLst>
          </p:cNvPr>
          <p:cNvSpPr>
            <a:spLocks noGrp="1"/>
          </p:cNvSpPr>
          <p:nvPr>
            <p:ph type="body" idx="1"/>
          </p:nvPr>
        </p:nvSpPr>
        <p:spPr/>
        <p:txBody>
          <a:bodyPr/>
          <a:lstStyle/>
          <a:p>
            <a:r>
              <a:rPr lang="en-US" dirty="0"/>
              <a:t>SLIDE 6 — LIVE DEMO
HOW TO RUN IT
This slide is the map; the product is the territory. Show the map for 15 seconds, then switch to the actual app. If the demo dies, this slide is your fallback — it narrates what they would have seen.
THE NARRATION AS YOU CLICK
Trigger a run — pick a category and an objective. Watch the data quality gate; call out that a failing verdict halts the run rather than pricing on bad data — that's a deliberate safety choice. Then the model-and-simulate step produces distributions, not point estimates. Validation tags each recommendation with a band and a reason. Open the review queue — the point lands here: the manager sees maybe 40 exceptions, not 500 rows. Then push, and note the loop closes — realized sales sharpen the next run.
THE GOLD LINE
Supervised mode is the demo posture — nothing pushes automatically until we choose to show it. Say this so nobody thinks the system is quietly changing prices live.
IF THE WIFI DIES
"Let me walk you through what it does" — then narrate these six steps from the slide and move to slide 7. The deck survives without the demo.</a:t>
            </a:r>
          </a:p>
        </p:txBody>
      </p:sp>
      <p:sp>
        <p:nvSpPr>
          <p:cNvPr id="4" name="Slide Number Placeholder 3">
            <a:extLst>
              <a:ext uri="{FF2B5EF4-FFF2-40B4-BE49-F238E27FC236}">
                <a16:creationId xmlns:a16="http://schemas.microsoft.com/office/drawing/2014/main" id="{96C8E40D-14C2-11C7-621D-F835386A137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5740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LIVE DEMO
HOW TO RUN IT
This slide is the map; the product is the territory. Show the map for 15 seconds, then switch to the actual app. If the demo dies, this slide is your fallback — it narrates what they would have seen.
THE NARRATION AS YOU CLICK
Trigger a run — pick a category and an objective. Watch the data quality gate; call out that a failing verdict halts the run rather than pricing on bad data — that's a deliberate safety choice. Then the model-and-simulate step produces distributions, not point estimates. Validation tags each recommendation with a band and a reason. Open the review queue — the point lands here: the manager sees maybe 40 exceptions, not 500 rows. Then push, and note the loop closes — realized sales sharpen the next run.
THE GOLD LINE
Supervised mode is the demo posture — nothing pushes automatically until we choose to show it. Say this so nobody thinks the system is quietly changing prices live.
IF THE WIFI DIES
"Let me walk you through what it does" — then narrate these six steps from the slide and move to slide 7. The deck survives without the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THE MODELLING STACK (the slide that separates you from every other team)
WHAT TO SAY
"This is where most pricing demos quietly cheat, and I want to show you exactly where, because we didn't."
THE TRAP — say this slowly, it's the whole slide
Monte Carlo simulation is only as meaningful as the distributions it samples. It's tempting to build those distributions from historical sales variance. But historical variance tells you how demand HAS fluctuated — not how demand RESPONDS to a price you have never set. That's a causal question. Sample historical variance instead and you get a tight, confident-looking distribution of the wrong thing. It looks more rigorous than a point estimate while being no more correct.
THE THREE LAYERS, IN ORDER
Layer 1, causal: elasticity regression estimates price-to-demand response per SKU, output as a confidence interval, not a point. Layer 2, uncertainty: Monte Carlo samples over that elasticity interval plus competitor response, cost drift, seasonality — producing a revenue and margin distribution per candidate price. Layer 3, decision: the constrained optimizer picks the price maximising the objective subject to margin floor and bounds.
WHY IT MATTERS — the one-liner
Layer 1 makes it correct. Layer 2 makes it honest — and produces the variance number that drives the Escalate band. Layer 3 makes it actionable. No layer may be skipped. A Monte Carlo that doesn't consume an upstream elasticity estimate does not count, however fancy its sampling.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CONTEXT ENGINEERING &amp; RAG
WHAT TO SAY
"The question every architect asks about a RAG system is: how do you actually stop it from making up its rationale? Our answer is structural, not hopeful."
THE MECHANISM
There is exactly one LLM entry point in the entire codebase — a wrapper called GroundedLLM. Every agent that uses a model goes through it. It injects retrieved context with source identifiers, and any recommendation-class output must carry a non-empty citations field, validated after generation. Ungrounded rationale is rejected at validation — it can't reach the user.
WHY "ONE ENTRY POINT" IS THE CLEVER PART
Because the wrapper is the sole entry point, grounding isn't one agent's job you have to remember to call — it reaches every agent automatically. That's why we could collapse seven agents to five without losing retrieval: RAG was never one agent's private function, it's cross-cutting. Four collections — policy, market intel, product KB, and runtime user uploads — all local in ChromaDB, an in-process library, not a server.
THE HONEST TRADE-OFF — say it, don't hide it
Injecting grounding into literally every call inflates tokens and shifts cache keys. So retrieval breadth is tuned per role rather than blanket-injected at full width. That's a deliberate, documented softening of the "every call" ideal in favour of token efficiency. Naming it is what makes the rest credible.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MODEL SELECTION &amp; GOVERNANCE
WHAT TO SAY
"Two things architects care about here: are you using the right-sized model for each job, and what happens when a model gets deprecated."
MODEL TIERING
Four roles mapped to model tiers by how hard the job is. Router and narrator — cheap flash-lite, for classification and anomaly narration. Analyst — flash, for competitive synthesis and variance interpretation. Strategist — the pro model, for the actual recommendation and rationale, and for explaining compliance violations. Embeddings run on a local MiniLM model, so RAG costs nothing per call. Execution appears in no row — it makes no LLM calls at all.
THE GOVERNANCE POINT — this is the deprecation answer
Model IDs are never hardcoded. Roles map to aliases resolved from config and validated against the gateway at boot. If a model the config names doesn't exist, startup fails loudly and lists what's actually available — it does not degrade silently. So swapping a deprecated model is a config change, not a code change.
STRUCTURED OUTPUT
Every application call uses structured output with a JSON schema and one repair-retry that feeds the validation error back to the model, then a typed error state. There is no raw json-dot-loads on model output anywhere in the codebase. That's how you get 99%+ valid structured output.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GUARDRAILS &amp; RESPONSIBLE AI (your strongest slide — lead with confidence)
WHAT TO SAY
"The problem asked us to balance autonomy with oversight. The key move is separating two things people conflate: enforcement and approval."
THE CORE DISTINCTION
Enforcement — whether compliance rules apply — is never relaxed, in any mode, including fully autonomous. The rule engine holds its veto always. Approval — WHO signs off on a compliant recommendation — is graduated by risk. That's what makes human attention valuable: the reviewer sees the 40 decisions that need judgment, not the 500 that don't.
THE THREE BANDS
Auto-approve: confident, low-impact, stable, clean compliance — pushed automatically, fully logged, reversible. Review: something didn't meet the auto bar — queued with the specific failed condition shown. Escalate: compliance violation, margin-proximity, high variance, oscillation, or unprecedented market — blocked, needs a written human override, and compliance violations can't be overridden at all.
THE SAFETY NET
A global kill switch halts the loop, cancels pending pushes, and reverts to Supervised mode in one action. Plus the anti-goals — no individual-level pricing ever (legal exposure), automatic PII redaction, no consumer data enters the system. Say the responsible-AI boundaries out loud; this jury rewards a team that drew them on purpose.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DATA GENERATION &amp; VALIDATION
WHAT TO SAY
"You'll notice we tested on synthetic data. The obvious challenge is 'you made up your own test — why trust it?' Here's the answer, and it's actually our strongest evidence."
THE KEY IDEA — GROUND-TRUTH ELASTICITY
We generate the synthetic sales history with a KNOWN elasticity baked into each SKU. That means we know the mathematically optimal price in advance. So we can measure how close the system's recommendation lands to the true optimum — objectively, not by opinion. Real retail data would never let you do that, because the true elasticity is never known.
THE QUALITY GATE
Before any pricing happens, the data runs through freshness, completeness, schema, referential-integrity, and outlier checks. Each emits a structured verdict. A failing gate halts the run with a specific reason. The system never prices on data it has judged unfit.
THE "IT KNOWS WHEN IT DOESN'T KNOW" DEMO
The sharpest thing you can show: degrade one SKU's history live. Watch its confidence fall and its recommendation move from Auto-approve to Escalate — while a rules engine's output wouldn't change at all. That single demonstration is the whole argument for why calibrated confidence makes bounded autonomy safe.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RESULTS, ENGINEERING DECISIONS &amp; WHAT'S NEXT
WHAT TO SAY
"Four claims, each with evidence, then the decisions we'd defend and the honest limits."
THE RESULTS — read the numbers, then the receipts
Revenue uplift target 5%+ against a rule-based baseline running on identical data. Margin protected, not traded away. Pricing accuracy within 10% of the ground-truth optimum for high-confidence SKUs. And the hard governance numbers: zero compliance violations reaching commerce in any mode, zero auto-approvals that would have failed a human-path check, 100% of recommendations carrying valid citations. Those zeros are the ones this jury remembers.
THE DECISIONS WE'D DEFEND
Five agents not seven — the extra structure buys independent failure modes and a clean compliance audit, at a latency cost we mitigate. The RAG token trade-off — tuned per role, not blanket. Regression with honest intervals over a deep-learning forecast — more defensible and interpretable on synthetic data.
WHAT'S NEXT — name the limits before they do
The distribution-refinement learning loop degrades gracefully to reporting if cut. Autonomous mode ships behind Supervised and Assisted. Live competitor scraping stays an optional adapter, not the demo path. Naming these is the credibility move.
CLOSE — slow down
"AI proposes. Deterministic rules dispose." Same line as slide 1. That's the whole system in five words. Thank you — happy to take questions, or run it live again.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3.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1.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1.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0" y="2084832"/>
            <a:ext cx="12191695" cy="1097280"/>
          </a:xfrm>
          <a:prstGeom prst="rect">
            <a:avLst/>
          </a:prstGeom>
          <a:noFill/>
          <a:ln/>
        </p:spPr>
        <p:txBody>
          <a:bodyPr wrap="square" lIns="0" tIns="0" rIns="0" bIns="0" rtlCol="0" anchor="ctr"/>
          <a:lstStyle/>
          <a:p>
            <a:pPr marL="0" indent="0" algn="ctr">
              <a:buNone/>
            </a:pPr>
            <a:r>
              <a:rPr lang="en-US" sz="7400" kern="0" spc="-100" dirty="0">
                <a:solidFill>
                  <a:srgbClr val="F4F6FF"/>
                </a:solidFill>
                <a:latin typeface="Calibri" pitchFamily="34" charset="0"/>
                <a:ea typeface="Calibri" pitchFamily="34" charset="-122"/>
                <a:cs typeface="Calibri" pitchFamily="34" charset="-120"/>
              </a:rPr>
              <a:t>Price</a:t>
            </a:r>
            <a:r>
              <a:rPr lang="en-US" sz="7400" kern="0" spc="-100" dirty="0">
                <a:solidFill>
                  <a:srgbClr val="4FC3F7"/>
                </a:solidFill>
                <a:latin typeface="Calibri" pitchFamily="34" charset="0"/>
                <a:ea typeface="Calibri" pitchFamily="34" charset="-122"/>
                <a:cs typeface="Calibri" pitchFamily="34" charset="-120"/>
              </a:rPr>
              <a:t>Sense</a:t>
            </a:r>
            <a:endParaRPr lang="en-US" sz="7400" dirty="0"/>
          </a:p>
        </p:txBody>
      </p:sp>
      <p:sp>
        <p:nvSpPr>
          <p:cNvPr id="3" name="Text 1"/>
          <p:cNvSpPr/>
          <p:nvPr/>
        </p:nvSpPr>
        <p:spPr>
          <a:xfrm>
            <a:off x="0" y="3310128"/>
            <a:ext cx="12191695" cy="402336"/>
          </a:xfrm>
          <a:prstGeom prst="rect">
            <a:avLst/>
          </a:prstGeom>
          <a:noFill/>
          <a:ln/>
        </p:spPr>
        <p:txBody>
          <a:bodyPr wrap="square" lIns="0" tIns="0" rIns="0" bIns="0" rtlCol="0" anchor="ctr"/>
          <a:lstStyle/>
          <a:p>
            <a:pPr marL="0" indent="0" algn="ctr">
              <a:buNone/>
            </a:pPr>
            <a:r>
              <a:rPr lang="en-US" sz="1900" kern="0" spc="40" dirty="0">
                <a:solidFill>
                  <a:srgbClr val="F5A623"/>
                </a:solidFill>
                <a:latin typeface="Calibri" pitchFamily="34" charset="0"/>
                <a:ea typeface="Calibri" pitchFamily="34" charset="-122"/>
                <a:cs typeface="Calibri" pitchFamily="34" charset="-120"/>
              </a:rPr>
              <a:t>Priced By Math | Explained By AI </a:t>
            </a:r>
            <a:r>
              <a:rPr lang="en-US" sz="1900" kern="0" spc="40">
                <a:solidFill>
                  <a:srgbClr val="F5A623"/>
                </a:solidFill>
                <a:latin typeface="Calibri" pitchFamily="34" charset="0"/>
                <a:ea typeface="Calibri" pitchFamily="34" charset="-122"/>
                <a:cs typeface="Calibri" pitchFamily="34" charset="-120"/>
              </a:rPr>
              <a:t>| Governed By Rules</a:t>
            </a:r>
            <a:endParaRPr lang="en-US" sz="1900" dirty="0"/>
          </a:p>
        </p:txBody>
      </p:sp>
      <p:sp>
        <p:nvSpPr>
          <p:cNvPr id="4" name="Shape 2"/>
          <p:cNvSpPr/>
          <p:nvPr/>
        </p:nvSpPr>
        <p:spPr>
          <a:xfrm>
            <a:off x="5272888" y="4114800"/>
            <a:ext cx="1645920" cy="0"/>
          </a:xfrm>
          <a:prstGeom prst="line">
            <a:avLst/>
          </a:prstGeom>
          <a:noFill/>
          <a:ln w="12700">
            <a:solidFill>
              <a:srgbClr val="1A2040"/>
            </a:solidFill>
            <a:prstDash val="solid"/>
          </a:ln>
        </p:spPr>
      </p:sp>
      <p:sp>
        <p:nvSpPr>
          <p:cNvPr id="5" name="Text 3"/>
          <p:cNvSpPr/>
          <p:nvPr/>
        </p:nvSpPr>
        <p:spPr>
          <a:xfrm>
            <a:off x="0" y="4315968"/>
            <a:ext cx="12191695" cy="274320"/>
          </a:xfrm>
          <a:prstGeom prst="rect">
            <a:avLst/>
          </a:prstGeom>
          <a:noFill/>
          <a:ln/>
        </p:spPr>
        <p:txBody>
          <a:bodyPr wrap="square" lIns="0" tIns="0" rIns="0" bIns="0" rtlCol="0" anchor="ctr"/>
          <a:lstStyle/>
          <a:p>
            <a:pPr marL="0" indent="0" algn="ctr">
              <a:buNone/>
            </a:pPr>
            <a:r>
              <a:rPr lang="en-US" sz="1250" dirty="0">
                <a:solidFill>
                  <a:srgbClr val="A8B4CC"/>
                </a:solidFill>
                <a:latin typeface="Calibri" pitchFamily="34" charset="0"/>
                <a:ea typeface="Calibri" pitchFamily="34" charset="-122"/>
                <a:cs typeface="Calibri" pitchFamily="34" charset="-120"/>
              </a:rPr>
              <a:t>AI-Driven Dynamic Pricing Engine for Retail</a:t>
            </a:r>
            <a:endParaRPr lang="en-US" sz="1250" dirty="0"/>
          </a:p>
        </p:txBody>
      </p:sp>
      <p:sp>
        <p:nvSpPr>
          <p:cNvPr id="6" name="Text 4"/>
          <p:cNvSpPr/>
          <p:nvPr/>
        </p:nvSpPr>
        <p:spPr>
          <a:xfrm>
            <a:off x="0" y="6053328"/>
            <a:ext cx="12191695" cy="274320"/>
          </a:xfrm>
          <a:prstGeom prst="rect">
            <a:avLst/>
          </a:prstGeom>
          <a:noFill/>
          <a:ln/>
        </p:spPr>
        <p:txBody>
          <a:bodyPr wrap="square" lIns="0" tIns="0" rIns="0" bIns="0" rtlCol="0" anchor="ctr"/>
          <a:lstStyle/>
          <a:p>
            <a:pPr marL="0" indent="0" algn="ctr">
              <a:buNone/>
            </a:pPr>
            <a:r>
              <a:rPr lang="en-US" sz="1050" kern="0" spc="120" dirty="0">
                <a:solidFill>
                  <a:srgbClr val="6A7590"/>
                </a:solidFill>
                <a:latin typeface="Calibri" pitchFamily="34" charset="0"/>
                <a:ea typeface="Calibri" pitchFamily="34" charset="-122"/>
                <a:cs typeface="Calibri" pitchFamily="34" charset="-120"/>
              </a:rPr>
              <a:t>CBG Deep Thinkers   ·   Hackathon Submission   ·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02</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THE PROBLEM</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3078"/>
              </a:lnSpc>
              <a:buNone/>
            </a:pPr>
            <a:r>
              <a:rPr lang="en-US" sz="2700" b="1" dirty="0">
                <a:solidFill>
                  <a:srgbClr val="F4F6FF"/>
                </a:solidFill>
                <a:latin typeface="Calibri" pitchFamily="34" charset="0"/>
                <a:ea typeface="Calibri" pitchFamily="34" charset="-122"/>
                <a:cs typeface="Calibri" pitchFamily="34" charset="-120"/>
              </a:rPr>
              <a:t>Static pricing loses money in two directions at once</a:t>
            </a:r>
            <a:endParaRPr lang="en-US" sz="2700" dirty="0"/>
          </a:p>
        </p:txBody>
      </p:sp>
      <p:sp>
        <p:nvSpPr>
          <p:cNvPr id="5" name="Shape 3"/>
          <p:cNvSpPr/>
          <p:nvPr/>
        </p:nvSpPr>
        <p:spPr>
          <a:xfrm>
            <a:off x="640080" y="1920240"/>
            <a:ext cx="5074920" cy="1481328"/>
          </a:xfrm>
          <a:prstGeom prst="roundRect">
            <a:avLst>
              <a:gd name="adj" fmla="val 4938"/>
            </a:avLst>
          </a:prstGeom>
          <a:solidFill>
            <a:srgbClr val="0D1128"/>
          </a:solidFill>
          <a:ln w="12700">
            <a:solidFill>
              <a:srgbClr val="1A2040"/>
            </a:solidFill>
            <a:prstDash val="solid"/>
          </a:ln>
        </p:spPr>
      </p:sp>
      <p:pic>
        <p:nvPicPr>
          <p:cNvPr id="6" name="Image 0" descr="preencoded.png"/>
          <p:cNvPicPr>
            <a:picLocks noChangeAspect="1"/>
          </p:cNvPicPr>
          <p:nvPr/>
        </p:nvPicPr>
        <p:blipFill>
          <a:blip r:embed="rId3"/>
          <a:stretch>
            <a:fillRect/>
          </a:stretch>
        </p:blipFill>
        <p:spPr>
          <a:xfrm>
            <a:off x="914400" y="2194560"/>
            <a:ext cx="365760" cy="365760"/>
          </a:xfrm>
          <a:prstGeom prst="rect">
            <a:avLst/>
          </a:prstGeom>
        </p:spPr>
      </p:pic>
      <p:sp>
        <p:nvSpPr>
          <p:cNvPr id="7" name="Text 4"/>
          <p:cNvSpPr/>
          <p:nvPr/>
        </p:nvSpPr>
        <p:spPr>
          <a:xfrm>
            <a:off x="1463040" y="2194560"/>
            <a:ext cx="3977640" cy="365760"/>
          </a:xfrm>
          <a:prstGeom prst="rect">
            <a:avLst/>
          </a:prstGeom>
          <a:noFill/>
          <a:ln/>
        </p:spPr>
        <p:txBody>
          <a:bodyPr wrap="square" lIns="0" tIns="0" rIns="0" bIns="0" rtlCol="0" anchor="ctr"/>
          <a:lstStyle/>
          <a:p>
            <a:pPr marL="0" indent="0">
              <a:buNone/>
            </a:pPr>
            <a:r>
              <a:rPr lang="en-US" sz="1500" b="1" dirty="0">
                <a:solidFill>
                  <a:srgbClr val="F4F6FF"/>
                </a:solidFill>
                <a:latin typeface="Calibri" pitchFamily="34" charset="0"/>
                <a:ea typeface="Calibri" pitchFamily="34" charset="-122"/>
                <a:cs typeface="Calibri" pitchFamily="34" charset="-120"/>
              </a:rPr>
              <a:t>Revenue left on the table</a:t>
            </a:r>
            <a:endParaRPr lang="en-US" sz="1500" dirty="0"/>
          </a:p>
        </p:txBody>
      </p:sp>
      <p:sp>
        <p:nvSpPr>
          <p:cNvPr id="8" name="Text 5"/>
          <p:cNvSpPr/>
          <p:nvPr/>
        </p:nvSpPr>
        <p:spPr>
          <a:xfrm>
            <a:off x="914400" y="2697480"/>
            <a:ext cx="4526280" cy="594360"/>
          </a:xfrm>
          <a:prstGeom prst="rect">
            <a:avLst/>
          </a:prstGeom>
          <a:noFill/>
          <a:ln/>
        </p:spPr>
        <p:txBody>
          <a:bodyPr wrap="square" lIns="0" tIns="0" rIns="0" bIns="0" rtlCol="0" anchor="t"/>
          <a:lstStyle/>
          <a:p>
            <a:pPr marL="0" indent="0">
              <a:lnSpc>
                <a:spcPts val="1500"/>
              </a:lnSpc>
              <a:buNone/>
            </a:pPr>
            <a:r>
              <a:rPr lang="en-US" sz="1150" dirty="0">
                <a:solidFill>
                  <a:srgbClr val="A8B4CC"/>
                </a:solidFill>
                <a:latin typeface="Calibri" pitchFamily="34" charset="0"/>
                <a:ea typeface="Calibri" pitchFamily="34" charset="-122"/>
                <a:cs typeface="Calibri" pitchFamily="34" charset="-120"/>
              </a:rPr>
              <a:t>When demand would have borne a higher price, but the price sat too low to capture it.</a:t>
            </a:r>
            <a:endParaRPr lang="en-US" sz="1150" dirty="0"/>
          </a:p>
        </p:txBody>
      </p:sp>
      <p:sp>
        <p:nvSpPr>
          <p:cNvPr id="9" name="Shape 6"/>
          <p:cNvSpPr/>
          <p:nvPr/>
        </p:nvSpPr>
        <p:spPr>
          <a:xfrm>
            <a:off x="6476695" y="1920240"/>
            <a:ext cx="5074920" cy="1481328"/>
          </a:xfrm>
          <a:prstGeom prst="roundRect">
            <a:avLst>
              <a:gd name="adj" fmla="val 4938"/>
            </a:avLst>
          </a:prstGeom>
          <a:solidFill>
            <a:srgbClr val="0D1128"/>
          </a:solidFill>
          <a:ln w="12700">
            <a:solidFill>
              <a:srgbClr val="1A2040"/>
            </a:solidFill>
            <a:prstDash val="solid"/>
          </a:ln>
        </p:spPr>
      </p:sp>
      <p:pic>
        <p:nvPicPr>
          <p:cNvPr id="10" name="Image 1" descr="preencoded.png"/>
          <p:cNvPicPr>
            <a:picLocks noChangeAspect="1"/>
          </p:cNvPicPr>
          <p:nvPr/>
        </p:nvPicPr>
        <p:blipFill>
          <a:blip r:embed="rId4"/>
          <a:stretch>
            <a:fillRect/>
          </a:stretch>
        </p:blipFill>
        <p:spPr>
          <a:xfrm>
            <a:off x="6751015" y="2194560"/>
            <a:ext cx="365760" cy="365760"/>
          </a:xfrm>
          <a:prstGeom prst="rect">
            <a:avLst/>
          </a:prstGeom>
        </p:spPr>
      </p:pic>
      <p:sp>
        <p:nvSpPr>
          <p:cNvPr id="11" name="Text 7"/>
          <p:cNvSpPr/>
          <p:nvPr/>
        </p:nvSpPr>
        <p:spPr>
          <a:xfrm>
            <a:off x="7299655" y="2194560"/>
            <a:ext cx="3977640" cy="365760"/>
          </a:xfrm>
          <a:prstGeom prst="rect">
            <a:avLst/>
          </a:prstGeom>
          <a:noFill/>
          <a:ln/>
        </p:spPr>
        <p:txBody>
          <a:bodyPr wrap="square" lIns="0" tIns="0" rIns="0" bIns="0" rtlCol="0" anchor="ctr"/>
          <a:lstStyle/>
          <a:p>
            <a:pPr marL="0" indent="0">
              <a:buNone/>
            </a:pPr>
            <a:r>
              <a:rPr lang="en-US" sz="1500" b="1" dirty="0">
                <a:solidFill>
                  <a:srgbClr val="F4F6FF"/>
                </a:solidFill>
                <a:latin typeface="Calibri" pitchFamily="34" charset="0"/>
                <a:ea typeface="Calibri" pitchFamily="34" charset="-122"/>
                <a:cs typeface="Calibri" pitchFamily="34" charset="-120"/>
              </a:rPr>
              <a:t>Margin quietly eroded</a:t>
            </a:r>
            <a:endParaRPr lang="en-US" sz="1500" dirty="0"/>
          </a:p>
        </p:txBody>
      </p:sp>
      <p:sp>
        <p:nvSpPr>
          <p:cNvPr id="12" name="Text 8"/>
          <p:cNvSpPr/>
          <p:nvPr/>
        </p:nvSpPr>
        <p:spPr>
          <a:xfrm>
            <a:off x="6751015" y="2697480"/>
            <a:ext cx="4526280" cy="594360"/>
          </a:xfrm>
          <a:prstGeom prst="rect">
            <a:avLst/>
          </a:prstGeom>
          <a:noFill/>
          <a:ln/>
        </p:spPr>
        <p:txBody>
          <a:bodyPr wrap="square" lIns="0" tIns="0" rIns="0" bIns="0" rtlCol="0" anchor="t"/>
          <a:lstStyle/>
          <a:p>
            <a:pPr marL="0" indent="0">
              <a:lnSpc>
                <a:spcPts val="1500"/>
              </a:lnSpc>
              <a:buNone/>
            </a:pPr>
            <a:r>
              <a:rPr lang="en-US" sz="1150" dirty="0">
                <a:solidFill>
                  <a:srgbClr val="A8B4CC"/>
                </a:solidFill>
                <a:latin typeface="Calibri" pitchFamily="34" charset="0"/>
                <a:ea typeface="Calibri" pitchFamily="34" charset="-122"/>
                <a:cs typeface="Calibri" pitchFamily="34" charset="-120"/>
              </a:rPr>
              <a:t>When prices sat above what the market would clear, and slow-moving stock bled margin unnoticed.</a:t>
            </a:r>
            <a:endParaRPr lang="en-US" sz="1150" dirty="0"/>
          </a:p>
        </p:txBody>
      </p:sp>
      <p:sp>
        <p:nvSpPr>
          <p:cNvPr id="13" name="Text 9"/>
          <p:cNvSpPr/>
          <p:nvPr/>
        </p:nvSpPr>
        <p:spPr>
          <a:xfrm>
            <a:off x="640080" y="3749040"/>
            <a:ext cx="10911535" cy="274320"/>
          </a:xfrm>
          <a:prstGeom prst="rect">
            <a:avLst/>
          </a:prstGeom>
          <a:noFill/>
          <a:ln/>
        </p:spPr>
        <p:txBody>
          <a:bodyPr wrap="square" lIns="0" tIns="0" rIns="0" bIns="0" rtlCol="0" anchor="ctr"/>
          <a:lstStyle/>
          <a:p>
            <a:pPr marL="0" indent="0">
              <a:buNone/>
            </a:pPr>
            <a:r>
              <a:rPr lang="en-US" sz="1100" b="1" kern="0" spc="150" dirty="0">
                <a:solidFill>
                  <a:srgbClr val="6A7590"/>
                </a:solidFill>
                <a:latin typeface="Calibri" pitchFamily="34" charset="0"/>
                <a:ea typeface="Calibri" pitchFamily="34" charset="-122"/>
                <a:cs typeface="Calibri" pitchFamily="34" charset="-120"/>
              </a:rPr>
              <a:t>Why rules-based pricing can't fix it</a:t>
            </a:r>
            <a:endParaRPr lang="en-US" sz="1100" dirty="0"/>
          </a:p>
        </p:txBody>
      </p:sp>
      <p:sp>
        <p:nvSpPr>
          <p:cNvPr id="14" name="Shape 10"/>
          <p:cNvSpPr/>
          <p:nvPr/>
        </p:nvSpPr>
        <p:spPr>
          <a:xfrm>
            <a:off x="640080" y="4114800"/>
            <a:ext cx="2563292" cy="1417320"/>
          </a:xfrm>
          <a:prstGeom prst="roundRect">
            <a:avLst>
              <a:gd name="adj" fmla="val 5161"/>
            </a:avLst>
          </a:prstGeom>
          <a:solidFill>
            <a:srgbClr val="0D1128"/>
          </a:solidFill>
          <a:ln w="12700">
            <a:solidFill>
              <a:srgbClr val="1A2040"/>
            </a:solidFill>
            <a:prstDash val="solid"/>
          </a:ln>
        </p:spPr>
      </p:sp>
      <p:pic>
        <p:nvPicPr>
          <p:cNvPr id="15" name="Image 2" descr="preencoded.png"/>
          <p:cNvPicPr>
            <a:picLocks noChangeAspect="1"/>
          </p:cNvPicPr>
          <p:nvPr/>
        </p:nvPicPr>
        <p:blipFill>
          <a:blip r:embed="rId5"/>
          <a:stretch>
            <a:fillRect/>
          </a:stretch>
        </p:blipFill>
        <p:spPr>
          <a:xfrm>
            <a:off x="1738846" y="4334256"/>
            <a:ext cx="365760" cy="365760"/>
          </a:xfrm>
          <a:prstGeom prst="rect">
            <a:avLst/>
          </a:prstGeom>
        </p:spPr>
      </p:pic>
      <p:sp>
        <p:nvSpPr>
          <p:cNvPr id="16" name="Text 11"/>
          <p:cNvSpPr/>
          <p:nvPr/>
        </p:nvSpPr>
        <p:spPr>
          <a:xfrm>
            <a:off x="822960" y="4791456"/>
            <a:ext cx="2197532" cy="658368"/>
          </a:xfrm>
          <a:prstGeom prst="rect">
            <a:avLst/>
          </a:prstGeom>
          <a:noFill/>
          <a:ln/>
        </p:spPr>
        <p:txBody>
          <a:bodyPr wrap="square" lIns="0" tIns="0" rIns="0" bIns="0" rtlCol="0" anchor="t"/>
          <a:lstStyle/>
          <a:p>
            <a:pPr marL="0" indent="0" algn="ctr">
              <a:lnSpc>
                <a:spcPts val="1400"/>
              </a:lnSpc>
              <a:buNone/>
            </a:pPr>
            <a:r>
              <a:rPr lang="en-US" sz="1100" dirty="0">
                <a:solidFill>
                  <a:srgbClr val="A8B4CC"/>
                </a:solidFill>
                <a:latin typeface="Calibri" pitchFamily="34" charset="0"/>
                <a:ea typeface="Calibri" pitchFamily="34" charset="-122"/>
                <a:cs typeface="Calibri" pitchFamily="34" charset="-120"/>
              </a:rPr>
              <a:t>Can't see a competitor's midnight price cut</a:t>
            </a:r>
            <a:endParaRPr lang="en-US" sz="1100" dirty="0"/>
          </a:p>
        </p:txBody>
      </p:sp>
      <p:sp>
        <p:nvSpPr>
          <p:cNvPr id="17" name="Shape 12"/>
          <p:cNvSpPr/>
          <p:nvPr/>
        </p:nvSpPr>
        <p:spPr>
          <a:xfrm>
            <a:off x="3422828" y="4114800"/>
            <a:ext cx="2563292" cy="1417320"/>
          </a:xfrm>
          <a:prstGeom prst="roundRect">
            <a:avLst>
              <a:gd name="adj" fmla="val 5161"/>
            </a:avLst>
          </a:prstGeom>
          <a:solidFill>
            <a:srgbClr val="0D1128"/>
          </a:solidFill>
          <a:ln w="12700">
            <a:solidFill>
              <a:srgbClr val="1A2040"/>
            </a:solidFill>
            <a:prstDash val="solid"/>
          </a:ln>
        </p:spPr>
      </p:sp>
      <p:pic>
        <p:nvPicPr>
          <p:cNvPr id="18" name="Image 3" descr="preencoded.png"/>
          <p:cNvPicPr>
            <a:picLocks noChangeAspect="1"/>
          </p:cNvPicPr>
          <p:nvPr/>
        </p:nvPicPr>
        <p:blipFill>
          <a:blip r:embed="rId6"/>
          <a:stretch>
            <a:fillRect/>
          </a:stretch>
        </p:blipFill>
        <p:spPr>
          <a:xfrm>
            <a:off x="4521594" y="4334256"/>
            <a:ext cx="365760" cy="365760"/>
          </a:xfrm>
          <a:prstGeom prst="rect">
            <a:avLst/>
          </a:prstGeom>
        </p:spPr>
      </p:pic>
      <p:sp>
        <p:nvSpPr>
          <p:cNvPr id="19" name="Text 13"/>
          <p:cNvSpPr/>
          <p:nvPr/>
        </p:nvSpPr>
        <p:spPr>
          <a:xfrm>
            <a:off x="3605708" y="4791456"/>
            <a:ext cx="2197532" cy="658368"/>
          </a:xfrm>
          <a:prstGeom prst="rect">
            <a:avLst/>
          </a:prstGeom>
          <a:noFill/>
          <a:ln/>
        </p:spPr>
        <p:txBody>
          <a:bodyPr wrap="square" lIns="0" tIns="0" rIns="0" bIns="0" rtlCol="0" anchor="t"/>
          <a:lstStyle/>
          <a:p>
            <a:pPr marL="0" indent="0" algn="ctr">
              <a:lnSpc>
                <a:spcPts val="1400"/>
              </a:lnSpc>
              <a:buNone/>
            </a:pPr>
            <a:r>
              <a:rPr lang="en-US" sz="1100" dirty="0">
                <a:solidFill>
                  <a:srgbClr val="A8B4CC"/>
                </a:solidFill>
                <a:latin typeface="Calibri" pitchFamily="34" charset="0"/>
                <a:ea typeface="Calibri" pitchFamily="34" charset="-122"/>
                <a:cs typeface="Calibri" pitchFamily="34" charset="-120"/>
              </a:rPr>
              <a:t>Can't react to a weather-driven demand spike</a:t>
            </a:r>
            <a:endParaRPr lang="en-US" sz="1100" dirty="0"/>
          </a:p>
        </p:txBody>
      </p:sp>
      <p:sp>
        <p:nvSpPr>
          <p:cNvPr id="20" name="Shape 14"/>
          <p:cNvSpPr/>
          <p:nvPr/>
        </p:nvSpPr>
        <p:spPr>
          <a:xfrm>
            <a:off x="6205576" y="4114800"/>
            <a:ext cx="2563292" cy="1417320"/>
          </a:xfrm>
          <a:prstGeom prst="roundRect">
            <a:avLst>
              <a:gd name="adj" fmla="val 5161"/>
            </a:avLst>
          </a:prstGeom>
          <a:solidFill>
            <a:srgbClr val="0D1128"/>
          </a:solidFill>
          <a:ln w="12700">
            <a:solidFill>
              <a:srgbClr val="1A2040"/>
            </a:solidFill>
            <a:prstDash val="solid"/>
          </a:ln>
        </p:spPr>
      </p:sp>
      <p:pic>
        <p:nvPicPr>
          <p:cNvPr id="21" name="Image 4" descr="preencoded.png"/>
          <p:cNvPicPr>
            <a:picLocks noChangeAspect="1"/>
          </p:cNvPicPr>
          <p:nvPr/>
        </p:nvPicPr>
        <p:blipFill>
          <a:blip r:embed="rId7"/>
          <a:stretch>
            <a:fillRect/>
          </a:stretch>
        </p:blipFill>
        <p:spPr>
          <a:xfrm>
            <a:off x="7304341" y="4334256"/>
            <a:ext cx="365760" cy="365760"/>
          </a:xfrm>
          <a:prstGeom prst="rect">
            <a:avLst/>
          </a:prstGeom>
        </p:spPr>
      </p:pic>
      <p:sp>
        <p:nvSpPr>
          <p:cNvPr id="22" name="Text 15"/>
          <p:cNvSpPr/>
          <p:nvPr/>
        </p:nvSpPr>
        <p:spPr>
          <a:xfrm>
            <a:off x="6388456" y="4791456"/>
            <a:ext cx="2197532" cy="658368"/>
          </a:xfrm>
          <a:prstGeom prst="rect">
            <a:avLst/>
          </a:prstGeom>
          <a:noFill/>
          <a:ln/>
        </p:spPr>
        <p:txBody>
          <a:bodyPr wrap="square" lIns="0" tIns="0" rIns="0" bIns="0" rtlCol="0" anchor="t"/>
          <a:lstStyle/>
          <a:p>
            <a:pPr marL="0" indent="0" algn="ctr">
              <a:lnSpc>
                <a:spcPts val="1400"/>
              </a:lnSpc>
              <a:buNone/>
            </a:pPr>
            <a:r>
              <a:rPr lang="en-US" sz="1100" dirty="0">
                <a:solidFill>
                  <a:srgbClr val="A8B4CC"/>
                </a:solidFill>
                <a:latin typeface="Calibri" pitchFamily="34" charset="0"/>
                <a:ea typeface="Calibri" pitchFamily="34" charset="-122"/>
                <a:cs typeface="Calibri" pitchFamily="34" charset="-120"/>
              </a:rPr>
              <a:t>Can't watch 90 days of stock cover erode margin</a:t>
            </a:r>
            <a:endParaRPr lang="en-US" sz="1100" dirty="0"/>
          </a:p>
        </p:txBody>
      </p:sp>
      <p:sp>
        <p:nvSpPr>
          <p:cNvPr id="23" name="Shape 16"/>
          <p:cNvSpPr/>
          <p:nvPr/>
        </p:nvSpPr>
        <p:spPr>
          <a:xfrm>
            <a:off x="8988323" y="4114800"/>
            <a:ext cx="2563292" cy="1417320"/>
          </a:xfrm>
          <a:prstGeom prst="roundRect">
            <a:avLst>
              <a:gd name="adj" fmla="val 5161"/>
            </a:avLst>
          </a:prstGeom>
          <a:solidFill>
            <a:srgbClr val="0D1128"/>
          </a:solidFill>
          <a:ln w="12700">
            <a:solidFill>
              <a:srgbClr val="1A2040"/>
            </a:solidFill>
            <a:prstDash val="solid"/>
          </a:ln>
        </p:spPr>
      </p:sp>
      <p:pic>
        <p:nvPicPr>
          <p:cNvPr id="24" name="Image 5" descr="preencoded.png"/>
          <p:cNvPicPr>
            <a:picLocks noChangeAspect="1"/>
          </p:cNvPicPr>
          <p:nvPr/>
        </p:nvPicPr>
        <p:blipFill>
          <a:blip r:embed="rId8"/>
          <a:stretch>
            <a:fillRect/>
          </a:stretch>
        </p:blipFill>
        <p:spPr>
          <a:xfrm>
            <a:off x="10087089" y="4334256"/>
            <a:ext cx="365760" cy="365760"/>
          </a:xfrm>
          <a:prstGeom prst="rect">
            <a:avLst/>
          </a:prstGeom>
        </p:spPr>
      </p:pic>
      <p:sp>
        <p:nvSpPr>
          <p:cNvPr id="25" name="Text 17"/>
          <p:cNvSpPr/>
          <p:nvPr/>
        </p:nvSpPr>
        <p:spPr>
          <a:xfrm>
            <a:off x="9171203" y="4791456"/>
            <a:ext cx="2197532" cy="658368"/>
          </a:xfrm>
          <a:prstGeom prst="rect">
            <a:avLst/>
          </a:prstGeom>
          <a:noFill/>
          <a:ln/>
        </p:spPr>
        <p:txBody>
          <a:bodyPr wrap="square" lIns="0" tIns="0" rIns="0" bIns="0" rtlCol="0" anchor="t"/>
          <a:lstStyle/>
          <a:p>
            <a:pPr marL="0" indent="0" algn="ctr">
              <a:lnSpc>
                <a:spcPts val="1400"/>
              </a:lnSpc>
              <a:buNone/>
            </a:pPr>
            <a:r>
              <a:rPr lang="en-US" sz="1100" dirty="0">
                <a:solidFill>
                  <a:srgbClr val="A8B4CC"/>
                </a:solidFill>
                <a:latin typeface="Calibri" pitchFamily="34" charset="0"/>
                <a:ea typeface="Calibri" pitchFamily="34" charset="-122"/>
                <a:cs typeface="Calibri" pitchFamily="34" charset="-120"/>
              </a:rPr>
              <a:t>Signals scattered across four disconnected systems</a:t>
            </a:r>
            <a:endParaRPr lang="en-US" sz="1100" dirty="0"/>
          </a:p>
        </p:txBody>
      </p:sp>
      <p:sp>
        <p:nvSpPr>
          <p:cNvPr id="26" name="Text 18"/>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500" dirty="0">
                <a:solidFill>
                  <a:srgbClr val="F5A623"/>
                </a:solidFill>
                <a:latin typeface="Calibri" pitchFamily="34" charset="0"/>
                <a:ea typeface="Calibri" pitchFamily="34" charset="-122"/>
                <a:cs typeface="Calibri" pitchFamily="34" charset="-120"/>
              </a:rPr>
              <a:t>The data to react already exists. Integrating it by hand is slower than the market moves.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03</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DESIGN PHILOSOPHY</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3192"/>
              </a:lnSpc>
              <a:buNone/>
            </a:pPr>
            <a:r>
              <a:rPr lang="en-US" sz="2800" b="1" dirty="0">
                <a:solidFill>
                  <a:srgbClr val="F4F6FF"/>
                </a:solidFill>
                <a:latin typeface="Calibri" pitchFamily="34" charset="0"/>
                <a:ea typeface="Calibri" pitchFamily="34" charset="-122"/>
                <a:cs typeface="Calibri" pitchFamily="34" charset="-120"/>
              </a:rPr>
              <a:t>AI proposes. Deterministic rules dispose.</a:t>
            </a:r>
            <a:endParaRPr lang="en-US" sz="2800" dirty="0"/>
          </a:p>
        </p:txBody>
      </p:sp>
      <p:sp>
        <p:nvSpPr>
          <p:cNvPr id="5" name="Text 3"/>
          <p:cNvSpPr/>
          <p:nvPr/>
        </p:nvSpPr>
        <p:spPr>
          <a:xfrm>
            <a:off x="640080" y="1481328"/>
            <a:ext cx="10911535" cy="457200"/>
          </a:xfrm>
          <a:prstGeom prst="rect">
            <a:avLst/>
          </a:prstGeom>
          <a:noFill/>
          <a:ln/>
        </p:spPr>
        <p:txBody>
          <a:bodyPr wrap="square" lIns="0" tIns="0" rIns="0" bIns="0" rtlCol="0" anchor="t"/>
          <a:lstStyle/>
          <a:p>
            <a:pPr marL="0" indent="0">
              <a:lnSpc>
                <a:spcPts val="1800"/>
              </a:lnSpc>
              <a:buNone/>
            </a:pPr>
            <a:r>
              <a:rPr lang="en-US" sz="1350" dirty="0">
                <a:solidFill>
                  <a:srgbClr val="A8B4CC"/>
                </a:solidFill>
                <a:latin typeface="Calibri" pitchFamily="34" charset="0"/>
                <a:ea typeface="Calibri" pitchFamily="34" charset="-122"/>
                <a:cs typeface="Calibri" pitchFamily="34" charset="-120"/>
              </a:rPr>
              <a:t>The single principle that shapes every decision in this system — and the answer to "why not just let the model set the price?"</a:t>
            </a:r>
            <a:endParaRPr lang="en-US" sz="1350" dirty="0"/>
          </a:p>
        </p:txBody>
      </p:sp>
      <p:sp>
        <p:nvSpPr>
          <p:cNvPr id="6" name="Text 4"/>
          <p:cNvSpPr/>
          <p:nvPr/>
        </p:nvSpPr>
        <p:spPr>
          <a:xfrm>
            <a:off x="640080" y="2103120"/>
            <a:ext cx="2743200" cy="219456"/>
          </a:xfrm>
          <a:prstGeom prst="rect">
            <a:avLst/>
          </a:prstGeom>
          <a:noFill/>
          <a:ln/>
        </p:spPr>
        <p:txBody>
          <a:bodyPr wrap="square" lIns="0" tIns="0" rIns="0" bIns="0" rtlCol="0" anchor="ctr"/>
          <a:lstStyle/>
          <a:p>
            <a:pPr marL="0" indent="0">
              <a:buNone/>
            </a:pPr>
            <a:r>
              <a:rPr lang="en-US" sz="900" b="1" kern="0" spc="150" dirty="0">
                <a:solidFill>
                  <a:srgbClr val="6A7590"/>
                </a:solidFill>
                <a:latin typeface="Calibri" pitchFamily="34" charset="0"/>
                <a:ea typeface="Calibri" pitchFamily="34" charset="-122"/>
                <a:cs typeface="Calibri" pitchFamily="34" charset="-120"/>
              </a:rPr>
              <a:t>LAYER</a:t>
            </a:r>
            <a:endParaRPr lang="en-US" sz="900" dirty="0"/>
          </a:p>
        </p:txBody>
      </p:sp>
      <p:sp>
        <p:nvSpPr>
          <p:cNvPr id="7" name="Text 5"/>
          <p:cNvSpPr/>
          <p:nvPr/>
        </p:nvSpPr>
        <p:spPr>
          <a:xfrm>
            <a:off x="3474720" y="2103120"/>
            <a:ext cx="2468880" cy="219456"/>
          </a:xfrm>
          <a:prstGeom prst="rect">
            <a:avLst/>
          </a:prstGeom>
          <a:noFill/>
          <a:ln/>
        </p:spPr>
        <p:txBody>
          <a:bodyPr wrap="square" lIns="0" tIns="0" rIns="0" bIns="0" rtlCol="0" anchor="ctr"/>
          <a:lstStyle/>
          <a:p>
            <a:pPr marL="0" indent="0">
              <a:buNone/>
            </a:pPr>
            <a:r>
              <a:rPr lang="en-US" sz="900" b="1" kern="0" spc="150" dirty="0">
                <a:solidFill>
                  <a:srgbClr val="6A7590"/>
                </a:solidFill>
                <a:latin typeface="Calibri" pitchFamily="34" charset="0"/>
                <a:ea typeface="Calibri" pitchFamily="34" charset="-122"/>
                <a:cs typeface="Calibri" pitchFamily="34" charset="-120"/>
              </a:rPr>
              <a:t>OWNER</a:t>
            </a:r>
            <a:endParaRPr lang="en-US" sz="900" dirty="0"/>
          </a:p>
        </p:txBody>
      </p:sp>
      <p:sp>
        <p:nvSpPr>
          <p:cNvPr id="8" name="Text 6"/>
          <p:cNvSpPr/>
          <p:nvPr/>
        </p:nvSpPr>
        <p:spPr>
          <a:xfrm>
            <a:off x="6080760" y="2103120"/>
            <a:ext cx="5470855" cy="219456"/>
          </a:xfrm>
          <a:prstGeom prst="rect">
            <a:avLst/>
          </a:prstGeom>
          <a:noFill/>
          <a:ln/>
        </p:spPr>
        <p:txBody>
          <a:bodyPr wrap="square" lIns="0" tIns="0" rIns="0" bIns="0" rtlCol="0" anchor="ctr"/>
          <a:lstStyle/>
          <a:p>
            <a:pPr marL="0" indent="0">
              <a:buNone/>
            </a:pPr>
            <a:r>
              <a:rPr lang="en-US" sz="900" b="1" kern="0" spc="150" dirty="0">
                <a:solidFill>
                  <a:srgbClr val="6A7590"/>
                </a:solidFill>
                <a:latin typeface="Calibri" pitchFamily="34" charset="0"/>
                <a:ea typeface="Calibri" pitchFamily="34" charset="-122"/>
                <a:cs typeface="Calibri" pitchFamily="34" charset="-120"/>
              </a:rPr>
              <a:t>WHY</a:t>
            </a:r>
            <a:endParaRPr lang="en-US" sz="900" dirty="0"/>
          </a:p>
        </p:txBody>
      </p:sp>
      <p:sp>
        <p:nvSpPr>
          <p:cNvPr id="9" name="Shape 7"/>
          <p:cNvSpPr/>
          <p:nvPr/>
        </p:nvSpPr>
        <p:spPr>
          <a:xfrm>
            <a:off x="640080" y="2450592"/>
            <a:ext cx="54864" cy="530352"/>
          </a:xfrm>
          <a:prstGeom prst="rect">
            <a:avLst/>
          </a:prstGeom>
          <a:solidFill>
            <a:srgbClr val="4FC3F7"/>
          </a:solidFill>
          <a:ln/>
        </p:spPr>
      </p:sp>
      <p:sp>
        <p:nvSpPr>
          <p:cNvPr id="10" name="Text 8"/>
          <p:cNvSpPr/>
          <p:nvPr/>
        </p:nvSpPr>
        <p:spPr>
          <a:xfrm>
            <a:off x="841248" y="2395728"/>
            <a:ext cx="2651760" cy="603504"/>
          </a:xfrm>
          <a:prstGeom prst="rect">
            <a:avLst/>
          </a:prstGeom>
          <a:noFill/>
          <a:ln/>
        </p:spPr>
        <p:txBody>
          <a:bodyPr wrap="square" lIns="0" tIns="0" rIns="0" bIns="0" rtlCol="0" anchor="ctr"/>
          <a:lstStyle/>
          <a:p>
            <a:pPr marL="0" indent="0">
              <a:lnSpc>
                <a:spcPts val="1500"/>
              </a:lnSpc>
              <a:buNone/>
            </a:pPr>
            <a:r>
              <a:rPr lang="en-US" sz="1300" b="1" dirty="0">
                <a:solidFill>
                  <a:srgbClr val="F4F6FF"/>
                </a:solidFill>
                <a:latin typeface="Calibri" pitchFamily="34" charset="0"/>
                <a:ea typeface="Calibri" pitchFamily="34" charset="-122"/>
                <a:cs typeface="Calibri" pitchFamily="34" charset="-120"/>
              </a:rPr>
              <a:t>Numeric optimization</a:t>
            </a:r>
            <a:endParaRPr lang="en-US" sz="1300" dirty="0"/>
          </a:p>
        </p:txBody>
      </p:sp>
      <p:sp>
        <p:nvSpPr>
          <p:cNvPr id="11" name="Text 9"/>
          <p:cNvSpPr/>
          <p:nvPr/>
        </p:nvSpPr>
        <p:spPr>
          <a:xfrm>
            <a:off x="3474720" y="2395728"/>
            <a:ext cx="2468880" cy="603504"/>
          </a:xfrm>
          <a:prstGeom prst="rect">
            <a:avLst/>
          </a:prstGeom>
          <a:noFill/>
          <a:ln/>
        </p:spPr>
        <p:txBody>
          <a:bodyPr wrap="square" lIns="0" tIns="0" rIns="0" bIns="0" rtlCol="0" anchor="ctr"/>
          <a:lstStyle/>
          <a:p>
            <a:pPr marL="0" indent="0">
              <a:lnSpc>
                <a:spcPts val="1400"/>
              </a:lnSpc>
              <a:buNone/>
            </a:pPr>
            <a:r>
              <a:rPr lang="en-US" sz="1150" dirty="0">
                <a:solidFill>
                  <a:srgbClr val="4FC3F7"/>
                </a:solidFill>
                <a:latin typeface="Calibri" pitchFamily="34" charset="0"/>
                <a:ea typeface="Calibri" pitchFamily="34" charset="-122"/>
                <a:cs typeface="Calibri" pitchFamily="34" charset="-120"/>
              </a:rPr>
              <a:t>Deterministic Python</a:t>
            </a:r>
            <a:endParaRPr lang="en-US" sz="1150" dirty="0"/>
          </a:p>
        </p:txBody>
      </p:sp>
      <p:sp>
        <p:nvSpPr>
          <p:cNvPr id="12" name="Text 10"/>
          <p:cNvSpPr/>
          <p:nvPr/>
        </p:nvSpPr>
        <p:spPr>
          <a:xfrm>
            <a:off x="6080760" y="2395728"/>
            <a:ext cx="5470855" cy="603504"/>
          </a:xfrm>
          <a:prstGeom prst="rect">
            <a:avLst/>
          </a:prstGeom>
          <a:noFill/>
          <a:ln/>
        </p:spPr>
        <p:txBody>
          <a:bodyPr wrap="square" lIns="0" tIns="0" rIns="0" bIns="0" rtlCol="0" anchor="ctr"/>
          <a:lstStyle/>
          <a:p>
            <a:pPr marL="0" indent="0">
              <a:lnSpc>
                <a:spcPts val="1400"/>
              </a:lnSpc>
              <a:buNone/>
            </a:pPr>
            <a:r>
              <a:rPr lang="en-US" sz="1100" dirty="0">
                <a:solidFill>
                  <a:srgbClr val="A8B4CC"/>
                </a:solidFill>
                <a:latin typeface="Calibri" pitchFamily="34" charset="0"/>
                <a:ea typeface="Calibri" pitchFamily="34" charset="-122"/>
                <a:cs typeface="Calibri" pitchFamily="34" charset="-120"/>
              </a:rPr>
              <a:t>Reproducible, auditable, fast, free — routing arithmetic through an LLM makes it slower and non-reproducible</a:t>
            </a:r>
            <a:endParaRPr lang="en-US" sz="1100" dirty="0"/>
          </a:p>
        </p:txBody>
      </p:sp>
      <p:sp>
        <p:nvSpPr>
          <p:cNvPr id="13" name="Shape 11"/>
          <p:cNvSpPr/>
          <p:nvPr/>
        </p:nvSpPr>
        <p:spPr>
          <a:xfrm>
            <a:off x="640080" y="3072384"/>
            <a:ext cx="10911535" cy="0"/>
          </a:xfrm>
          <a:prstGeom prst="line">
            <a:avLst/>
          </a:prstGeom>
          <a:noFill/>
          <a:ln w="12700">
            <a:solidFill>
              <a:srgbClr val="1A2040"/>
            </a:solidFill>
            <a:prstDash val="solid"/>
          </a:ln>
        </p:spPr>
      </p:sp>
      <p:sp>
        <p:nvSpPr>
          <p:cNvPr id="14" name="Shape 12"/>
          <p:cNvSpPr/>
          <p:nvPr/>
        </p:nvSpPr>
        <p:spPr>
          <a:xfrm>
            <a:off x="640080" y="3200400"/>
            <a:ext cx="54864" cy="530352"/>
          </a:xfrm>
          <a:prstGeom prst="rect">
            <a:avLst/>
          </a:prstGeom>
          <a:solidFill>
            <a:srgbClr val="F5A623"/>
          </a:solidFill>
          <a:ln/>
        </p:spPr>
      </p:sp>
      <p:sp>
        <p:nvSpPr>
          <p:cNvPr id="15" name="Text 13"/>
          <p:cNvSpPr/>
          <p:nvPr/>
        </p:nvSpPr>
        <p:spPr>
          <a:xfrm>
            <a:off x="841248" y="3145536"/>
            <a:ext cx="2651760" cy="603504"/>
          </a:xfrm>
          <a:prstGeom prst="rect">
            <a:avLst/>
          </a:prstGeom>
          <a:noFill/>
          <a:ln/>
        </p:spPr>
        <p:txBody>
          <a:bodyPr wrap="square" lIns="0" tIns="0" rIns="0" bIns="0" rtlCol="0" anchor="ctr"/>
          <a:lstStyle/>
          <a:p>
            <a:pPr marL="0" indent="0">
              <a:lnSpc>
                <a:spcPts val="1500"/>
              </a:lnSpc>
              <a:buNone/>
            </a:pPr>
            <a:r>
              <a:rPr lang="en-US" sz="1300" b="1" dirty="0">
                <a:solidFill>
                  <a:srgbClr val="F5A623"/>
                </a:solidFill>
                <a:latin typeface="Calibri" pitchFamily="34" charset="0"/>
                <a:ea typeface="Calibri" pitchFamily="34" charset="-122"/>
                <a:cs typeface="Calibri" pitchFamily="34" charset="-120"/>
              </a:rPr>
              <a:t>Compliance enforcement</a:t>
            </a:r>
            <a:endParaRPr lang="en-US" sz="1300" dirty="0"/>
          </a:p>
        </p:txBody>
      </p:sp>
      <p:sp>
        <p:nvSpPr>
          <p:cNvPr id="16" name="Text 14"/>
          <p:cNvSpPr/>
          <p:nvPr/>
        </p:nvSpPr>
        <p:spPr>
          <a:xfrm>
            <a:off x="3474720" y="3145536"/>
            <a:ext cx="2468880" cy="603504"/>
          </a:xfrm>
          <a:prstGeom prst="rect">
            <a:avLst/>
          </a:prstGeom>
          <a:noFill/>
          <a:ln/>
        </p:spPr>
        <p:txBody>
          <a:bodyPr wrap="square" lIns="0" tIns="0" rIns="0" bIns="0" rtlCol="0" anchor="ctr"/>
          <a:lstStyle/>
          <a:p>
            <a:pPr marL="0" indent="0">
              <a:lnSpc>
                <a:spcPts val="1400"/>
              </a:lnSpc>
              <a:buNone/>
            </a:pPr>
            <a:r>
              <a:rPr lang="en-US" sz="1150" dirty="0">
                <a:solidFill>
                  <a:srgbClr val="F5A623"/>
                </a:solidFill>
                <a:latin typeface="Calibri" pitchFamily="34" charset="0"/>
                <a:ea typeface="Calibri" pitchFamily="34" charset="-122"/>
                <a:cs typeface="Calibri" pitchFamily="34" charset="-120"/>
              </a:rPr>
              <a:t>Rule engine with veto</a:t>
            </a:r>
            <a:endParaRPr lang="en-US" sz="1150" dirty="0"/>
          </a:p>
        </p:txBody>
      </p:sp>
      <p:sp>
        <p:nvSpPr>
          <p:cNvPr id="17" name="Text 15"/>
          <p:cNvSpPr/>
          <p:nvPr/>
        </p:nvSpPr>
        <p:spPr>
          <a:xfrm>
            <a:off x="6080760" y="3145536"/>
            <a:ext cx="5470855" cy="603504"/>
          </a:xfrm>
          <a:prstGeom prst="rect">
            <a:avLst/>
          </a:prstGeom>
          <a:noFill/>
          <a:ln/>
        </p:spPr>
        <p:txBody>
          <a:bodyPr wrap="square" lIns="0" tIns="0" rIns="0" bIns="0" rtlCol="0" anchor="ctr"/>
          <a:lstStyle/>
          <a:p>
            <a:pPr marL="0" indent="0">
              <a:lnSpc>
                <a:spcPts val="1400"/>
              </a:lnSpc>
              <a:buNone/>
            </a:pPr>
            <a:r>
              <a:rPr lang="en-US" sz="1100" dirty="0">
                <a:solidFill>
                  <a:srgbClr val="A8B4CC"/>
                </a:solidFill>
                <a:latin typeface="Calibri" pitchFamily="34" charset="0"/>
                <a:ea typeface="Calibri" pitchFamily="34" charset="-122"/>
                <a:cs typeface="Calibri" pitchFamily="34" charset="-120"/>
              </a:rPr>
              <a:t>A legal control cannot be probabilistic. An LLM right 97% of the time is not an acceptable gate</a:t>
            </a:r>
            <a:endParaRPr lang="en-US" sz="1100" dirty="0"/>
          </a:p>
        </p:txBody>
      </p:sp>
      <p:sp>
        <p:nvSpPr>
          <p:cNvPr id="18" name="Shape 16"/>
          <p:cNvSpPr/>
          <p:nvPr/>
        </p:nvSpPr>
        <p:spPr>
          <a:xfrm>
            <a:off x="640080" y="3822192"/>
            <a:ext cx="10911535" cy="0"/>
          </a:xfrm>
          <a:prstGeom prst="line">
            <a:avLst/>
          </a:prstGeom>
          <a:noFill/>
          <a:ln w="12700">
            <a:solidFill>
              <a:srgbClr val="1A2040"/>
            </a:solidFill>
            <a:prstDash val="solid"/>
          </a:ln>
        </p:spPr>
      </p:sp>
      <p:sp>
        <p:nvSpPr>
          <p:cNvPr id="19" name="Shape 17"/>
          <p:cNvSpPr/>
          <p:nvPr/>
        </p:nvSpPr>
        <p:spPr>
          <a:xfrm>
            <a:off x="640080" y="3950208"/>
            <a:ext cx="54864" cy="530352"/>
          </a:xfrm>
          <a:prstGeom prst="rect">
            <a:avLst/>
          </a:prstGeom>
          <a:solidFill>
            <a:srgbClr val="4FC3F7"/>
          </a:solidFill>
          <a:ln/>
        </p:spPr>
      </p:sp>
      <p:sp>
        <p:nvSpPr>
          <p:cNvPr id="20" name="Text 18"/>
          <p:cNvSpPr/>
          <p:nvPr/>
        </p:nvSpPr>
        <p:spPr>
          <a:xfrm>
            <a:off x="841248" y="3895344"/>
            <a:ext cx="2651760" cy="603504"/>
          </a:xfrm>
          <a:prstGeom prst="rect">
            <a:avLst/>
          </a:prstGeom>
          <a:noFill/>
          <a:ln/>
        </p:spPr>
        <p:txBody>
          <a:bodyPr wrap="square" lIns="0" tIns="0" rIns="0" bIns="0" rtlCol="0" anchor="ctr"/>
          <a:lstStyle/>
          <a:p>
            <a:pPr marL="0" indent="0">
              <a:lnSpc>
                <a:spcPts val="1500"/>
              </a:lnSpc>
              <a:buNone/>
            </a:pPr>
            <a:r>
              <a:rPr lang="en-US" sz="1300" b="1" dirty="0">
                <a:solidFill>
                  <a:srgbClr val="F4F6FF"/>
                </a:solidFill>
                <a:latin typeface="Calibri" pitchFamily="34" charset="0"/>
                <a:ea typeface="Calibri" pitchFamily="34" charset="-122"/>
                <a:cs typeface="Calibri" pitchFamily="34" charset="-120"/>
              </a:rPr>
              <a:t>Uncertainty quantification</a:t>
            </a:r>
            <a:endParaRPr lang="en-US" sz="1300" dirty="0"/>
          </a:p>
        </p:txBody>
      </p:sp>
      <p:sp>
        <p:nvSpPr>
          <p:cNvPr id="21" name="Text 19"/>
          <p:cNvSpPr/>
          <p:nvPr/>
        </p:nvSpPr>
        <p:spPr>
          <a:xfrm>
            <a:off x="3474720" y="3895344"/>
            <a:ext cx="2468880" cy="603504"/>
          </a:xfrm>
          <a:prstGeom prst="rect">
            <a:avLst/>
          </a:prstGeom>
          <a:noFill/>
          <a:ln/>
        </p:spPr>
        <p:txBody>
          <a:bodyPr wrap="square" lIns="0" tIns="0" rIns="0" bIns="0" rtlCol="0" anchor="ctr"/>
          <a:lstStyle/>
          <a:p>
            <a:pPr marL="0" indent="0">
              <a:lnSpc>
                <a:spcPts val="1400"/>
              </a:lnSpc>
              <a:buNone/>
            </a:pPr>
            <a:r>
              <a:rPr lang="en-US" sz="1150" dirty="0">
                <a:solidFill>
                  <a:srgbClr val="4FC3F7"/>
                </a:solidFill>
                <a:latin typeface="Calibri" pitchFamily="34" charset="0"/>
                <a:ea typeface="Calibri" pitchFamily="34" charset="-122"/>
                <a:cs typeface="Calibri" pitchFamily="34" charset="-120"/>
              </a:rPr>
              <a:t>Deterministic Monte Carlo</a:t>
            </a:r>
            <a:endParaRPr lang="en-US" sz="1150" dirty="0"/>
          </a:p>
        </p:txBody>
      </p:sp>
      <p:sp>
        <p:nvSpPr>
          <p:cNvPr id="22" name="Text 20"/>
          <p:cNvSpPr/>
          <p:nvPr/>
        </p:nvSpPr>
        <p:spPr>
          <a:xfrm>
            <a:off x="6080760" y="3895344"/>
            <a:ext cx="5470855" cy="603504"/>
          </a:xfrm>
          <a:prstGeom prst="rect">
            <a:avLst/>
          </a:prstGeom>
          <a:noFill/>
          <a:ln/>
        </p:spPr>
        <p:txBody>
          <a:bodyPr wrap="square" lIns="0" tIns="0" rIns="0" bIns="0" rtlCol="0" anchor="ctr"/>
          <a:lstStyle/>
          <a:p>
            <a:pPr marL="0" indent="0">
              <a:lnSpc>
                <a:spcPts val="1400"/>
              </a:lnSpc>
              <a:buNone/>
            </a:pPr>
            <a:r>
              <a:rPr lang="en-US" sz="1100" dirty="0">
                <a:solidFill>
                  <a:srgbClr val="A8B4CC"/>
                </a:solidFill>
                <a:latin typeface="Calibri" pitchFamily="34" charset="0"/>
                <a:ea typeface="Calibri" pitchFamily="34" charset="-122"/>
                <a:cs typeface="Calibri" pitchFamily="34" charset="-120"/>
              </a:rPr>
              <a:t>Confidence ranges must be computed, not asserted by a model</a:t>
            </a:r>
            <a:endParaRPr lang="en-US" sz="1100" dirty="0"/>
          </a:p>
        </p:txBody>
      </p:sp>
      <p:sp>
        <p:nvSpPr>
          <p:cNvPr id="23" name="Shape 21"/>
          <p:cNvSpPr/>
          <p:nvPr/>
        </p:nvSpPr>
        <p:spPr>
          <a:xfrm>
            <a:off x="640080" y="4572000"/>
            <a:ext cx="10911535" cy="0"/>
          </a:xfrm>
          <a:prstGeom prst="line">
            <a:avLst/>
          </a:prstGeom>
          <a:noFill/>
          <a:ln w="12700">
            <a:solidFill>
              <a:srgbClr val="1A2040"/>
            </a:solidFill>
            <a:prstDash val="solid"/>
          </a:ln>
        </p:spPr>
      </p:sp>
      <p:sp>
        <p:nvSpPr>
          <p:cNvPr id="24" name="Shape 22"/>
          <p:cNvSpPr/>
          <p:nvPr/>
        </p:nvSpPr>
        <p:spPr>
          <a:xfrm>
            <a:off x="640080" y="4700016"/>
            <a:ext cx="54864" cy="530352"/>
          </a:xfrm>
          <a:prstGeom prst="rect">
            <a:avLst/>
          </a:prstGeom>
          <a:solidFill>
            <a:srgbClr val="A8B4CC"/>
          </a:solidFill>
          <a:ln/>
        </p:spPr>
      </p:sp>
      <p:sp>
        <p:nvSpPr>
          <p:cNvPr id="25" name="Text 23"/>
          <p:cNvSpPr/>
          <p:nvPr/>
        </p:nvSpPr>
        <p:spPr>
          <a:xfrm>
            <a:off x="841248" y="4645152"/>
            <a:ext cx="2651760" cy="603504"/>
          </a:xfrm>
          <a:prstGeom prst="rect">
            <a:avLst/>
          </a:prstGeom>
          <a:noFill/>
          <a:ln/>
        </p:spPr>
        <p:txBody>
          <a:bodyPr wrap="square" lIns="0" tIns="0" rIns="0" bIns="0" rtlCol="0" anchor="ctr"/>
          <a:lstStyle/>
          <a:p>
            <a:pPr marL="0" indent="0">
              <a:lnSpc>
                <a:spcPts val="1500"/>
              </a:lnSpc>
              <a:buNone/>
            </a:pPr>
            <a:r>
              <a:rPr lang="en-US" sz="1300" b="1" dirty="0">
                <a:solidFill>
                  <a:srgbClr val="F4F6FF"/>
                </a:solidFill>
                <a:latin typeface="Calibri" pitchFamily="34" charset="0"/>
                <a:ea typeface="Calibri" pitchFamily="34" charset="-122"/>
                <a:cs typeface="Calibri" pitchFamily="34" charset="-120"/>
              </a:rPr>
              <a:t>Judgment &amp; synthesis</a:t>
            </a:r>
            <a:endParaRPr lang="en-US" sz="1300" dirty="0"/>
          </a:p>
        </p:txBody>
      </p:sp>
      <p:sp>
        <p:nvSpPr>
          <p:cNvPr id="26" name="Text 24"/>
          <p:cNvSpPr/>
          <p:nvPr/>
        </p:nvSpPr>
        <p:spPr>
          <a:xfrm>
            <a:off x="3474720" y="4645152"/>
            <a:ext cx="2468880" cy="603504"/>
          </a:xfrm>
          <a:prstGeom prst="rect">
            <a:avLst/>
          </a:prstGeom>
          <a:noFill/>
          <a:ln/>
        </p:spPr>
        <p:txBody>
          <a:bodyPr wrap="square" lIns="0" tIns="0" rIns="0" bIns="0" rtlCol="0" anchor="ctr"/>
          <a:lstStyle/>
          <a:p>
            <a:pPr marL="0" indent="0">
              <a:lnSpc>
                <a:spcPts val="1400"/>
              </a:lnSpc>
              <a:buNone/>
            </a:pPr>
            <a:r>
              <a:rPr lang="en-US" sz="1150" dirty="0">
                <a:solidFill>
                  <a:srgbClr val="A8B4CC"/>
                </a:solidFill>
                <a:latin typeface="Calibri" pitchFamily="34" charset="0"/>
                <a:ea typeface="Calibri" pitchFamily="34" charset="-122"/>
                <a:cs typeface="Calibri" pitchFamily="34" charset="-120"/>
              </a:rPr>
              <a:t>LLM agents</a:t>
            </a:r>
            <a:endParaRPr lang="en-US" sz="1150" dirty="0"/>
          </a:p>
        </p:txBody>
      </p:sp>
      <p:sp>
        <p:nvSpPr>
          <p:cNvPr id="27" name="Text 25"/>
          <p:cNvSpPr/>
          <p:nvPr/>
        </p:nvSpPr>
        <p:spPr>
          <a:xfrm>
            <a:off x="6080760" y="4645152"/>
            <a:ext cx="5470855" cy="603504"/>
          </a:xfrm>
          <a:prstGeom prst="rect">
            <a:avLst/>
          </a:prstGeom>
          <a:noFill/>
          <a:ln/>
        </p:spPr>
        <p:txBody>
          <a:bodyPr wrap="square" lIns="0" tIns="0" rIns="0" bIns="0" rtlCol="0" anchor="ctr"/>
          <a:lstStyle/>
          <a:p>
            <a:pPr marL="0" indent="0">
              <a:lnSpc>
                <a:spcPts val="1400"/>
              </a:lnSpc>
              <a:buNone/>
            </a:pPr>
            <a:r>
              <a:rPr lang="en-US" sz="1100" dirty="0">
                <a:solidFill>
                  <a:srgbClr val="A8B4CC"/>
                </a:solidFill>
                <a:latin typeface="Calibri" pitchFamily="34" charset="0"/>
                <a:ea typeface="Calibri" pitchFamily="34" charset="-122"/>
                <a:cs typeface="Calibri" pitchFamily="34" charset="-120"/>
              </a:rPr>
              <a:t>Weighing conflicting evidence and surfacing what a human would have missed</a:t>
            </a:r>
            <a:endParaRPr lang="en-US" sz="1100" dirty="0"/>
          </a:p>
        </p:txBody>
      </p:sp>
      <p:sp>
        <p:nvSpPr>
          <p:cNvPr id="28" name="Shape 26"/>
          <p:cNvSpPr/>
          <p:nvPr/>
        </p:nvSpPr>
        <p:spPr>
          <a:xfrm>
            <a:off x="640080" y="5321808"/>
            <a:ext cx="10911535" cy="0"/>
          </a:xfrm>
          <a:prstGeom prst="line">
            <a:avLst/>
          </a:prstGeom>
          <a:noFill/>
          <a:ln w="12700">
            <a:solidFill>
              <a:srgbClr val="1A2040"/>
            </a:solidFill>
            <a:prstDash val="solid"/>
          </a:ln>
        </p:spPr>
      </p:sp>
      <p:sp>
        <p:nvSpPr>
          <p:cNvPr id="29" name="Shape 27"/>
          <p:cNvSpPr/>
          <p:nvPr/>
        </p:nvSpPr>
        <p:spPr>
          <a:xfrm>
            <a:off x="640080" y="5449824"/>
            <a:ext cx="54864" cy="530352"/>
          </a:xfrm>
          <a:prstGeom prst="rect">
            <a:avLst/>
          </a:prstGeom>
          <a:solidFill>
            <a:srgbClr val="A8B4CC"/>
          </a:solidFill>
          <a:ln/>
        </p:spPr>
      </p:sp>
      <p:sp>
        <p:nvSpPr>
          <p:cNvPr id="30" name="Text 28"/>
          <p:cNvSpPr/>
          <p:nvPr/>
        </p:nvSpPr>
        <p:spPr>
          <a:xfrm>
            <a:off x="841248" y="5394960"/>
            <a:ext cx="2651760" cy="603504"/>
          </a:xfrm>
          <a:prstGeom prst="rect">
            <a:avLst/>
          </a:prstGeom>
          <a:noFill/>
          <a:ln/>
        </p:spPr>
        <p:txBody>
          <a:bodyPr wrap="square" lIns="0" tIns="0" rIns="0" bIns="0" rtlCol="0" anchor="ctr"/>
          <a:lstStyle/>
          <a:p>
            <a:pPr marL="0" indent="0">
              <a:lnSpc>
                <a:spcPts val="1500"/>
              </a:lnSpc>
              <a:buNone/>
            </a:pPr>
            <a:r>
              <a:rPr lang="en-US" sz="1300" b="1" dirty="0">
                <a:solidFill>
                  <a:srgbClr val="F4F6FF"/>
                </a:solidFill>
                <a:latin typeface="Calibri" pitchFamily="34" charset="0"/>
                <a:ea typeface="Calibri" pitchFamily="34" charset="-122"/>
                <a:cs typeface="Calibri" pitchFamily="34" charset="-120"/>
              </a:rPr>
              <a:t>Explanation &amp; narration</a:t>
            </a:r>
            <a:endParaRPr lang="en-US" sz="1300" dirty="0"/>
          </a:p>
        </p:txBody>
      </p:sp>
      <p:sp>
        <p:nvSpPr>
          <p:cNvPr id="31" name="Text 29"/>
          <p:cNvSpPr/>
          <p:nvPr/>
        </p:nvSpPr>
        <p:spPr>
          <a:xfrm>
            <a:off x="3474720" y="5394960"/>
            <a:ext cx="2468880" cy="603504"/>
          </a:xfrm>
          <a:prstGeom prst="rect">
            <a:avLst/>
          </a:prstGeom>
          <a:noFill/>
          <a:ln/>
        </p:spPr>
        <p:txBody>
          <a:bodyPr wrap="square" lIns="0" tIns="0" rIns="0" bIns="0" rtlCol="0" anchor="ctr"/>
          <a:lstStyle/>
          <a:p>
            <a:pPr marL="0" indent="0">
              <a:lnSpc>
                <a:spcPts val="1400"/>
              </a:lnSpc>
              <a:buNone/>
            </a:pPr>
            <a:r>
              <a:rPr lang="en-US" sz="1150" dirty="0">
                <a:solidFill>
                  <a:srgbClr val="A8B4CC"/>
                </a:solidFill>
                <a:latin typeface="Calibri" pitchFamily="34" charset="0"/>
                <a:ea typeface="Calibri" pitchFamily="34" charset="-122"/>
                <a:cs typeface="Calibri" pitchFamily="34" charset="-120"/>
              </a:rPr>
              <a:t>LLM agents</a:t>
            </a:r>
            <a:endParaRPr lang="en-US" sz="1150" dirty="0"/>
          </a:p>
        </p:txBody>
      </p:sp>
      <p:sp>
        <p:nvSpPr>
          <p:cNvPr id="32" name="Text 30"/>
          <p:cNvSpPr/>
          <p:nvPr/>
        </p:nvSpPr>
        <p:spPr>
          <a:xfrm>
            <a:off x="6080760" y="5394960"/>
            <a:ext cx="5470855" cy="603504"/>
          </a:xfrm>
          <a:prstGeom prst="rect">
            <a:avLst/>
          </a:prstGeom>
          <a:noFill/>
          <a:ln/>
        </p:spPr>
        <p:txBody>
          <a:bodyPr wrap="square" lIns="0" tIns="0" rIns="0" bIns="0" rtlCol="0" anchor="ctr"/>
          <a:lstStyle/>
          <a:p>
            <a:pPr marL="0" indent="0">
              <a:lnSpc>
                <a:spcPts val="1400"/>
              </a:lnSpc>
              <a:buNone/>
            </a:pPr>
            <a:r>
              <a:rPr lang="en-US" sz="1100" dirty="0">
                <a:solidFill>
                  <a:srgbClr val="A8B4CC"/>
                </a:solidFill>
                <a:latin typeface="Calibri" pitchFamily="34" charset="0"/>
                <a:ea typeface="Calibri" pitchFamily="34" charset="-122"/>
                <a:cs typeface="Calibri" pitchFamily="34" charset="-120"/>
              </a:rPr>
              <a:t>Turning numbers into a decision a pricing manager can defend upward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04</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THE TEAM</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3192"/>
              </a:lnSpc>
              <a:buNone/>
            </a:pPr>
            <a:r>
              <a:rPr lang="en-US" sz="2800" b="1" dirty="0">
                <a:solidFill>
                  <a:srgbClr val="F4F6FF"/>
                </a:solidFill>
                <a:latin typeface="Calibri" pitchFamily="34" charset="0"/>
                <a:ea typeface="Calibri" pitchFamily="34" charset="-122"/>
                <a:cs typeface="Calibri" pitchFamily="34" charset="-120"/>
              </a:rPr>
              <a:t>Five people. Clear ownership of every layer.</a:t>
            </a:r>
            <a:endParaRPr lang="en-US" sz="2800" dirty="0"/>
          </a:p>
        </p:txBody>
      </p:sp>
      <p:sp>
        <p:nvSpPr>
          <p:cNvPr id="5" name="Shape 3"/>
          <p:cNvSpPr/>
          <p:nvPr/>
        </p:nvSpPr>
        <p:spPr>
          <a:xfrm>
            <a:off x="4315968" y="1700784"/>
            <a:ext cx="3557016" cy="932688"/>
          </a:xfrm>
          <a:prstGeom prst="roundRect">
            <a:avLst>
              <a:gd name="adj" fmla="val 7843"/>
            </a:avLst>
          </a:prstGeom>
          <a:solidFill>
            <a:srgbClr val="0D1128"/>
          </a:solidFill>
          <a:ln w="12700">
            <a:solidFill>
              <a:srgbClr val="1A2040"/>
            </a:solidFill>
            <a:prstDash val="solid"/>
          </a:ln>
        </p:spPr>
      </p:sp>
      <p:pic>
        <p:nvPicPr>
          <p:cNvPr id="6" name="Image 0" descr="preencoded.png"/>
          <p:cNvPicPr>
            <a:picLocks noChangeAspect="1"/>
          </p:cNvPicPr>
          <p:nvPr/>
        </p:nvPicPr>
        <p:blipFill>
          <a:blip r:embed="rId3"/>
          <a:stretch>
            <a:fillRect/>
          </a:stretch>
        </p:blipFill>
        <p:spPr>
          <a:xfrm>
            <a:off x="4553712" y="1993392"/>
            <a:ext cx="347472" cy="347472"/>
          </a:xfrm>
          <a:prstGeom prst="rect">
            <a:avLst/>
          </a:prstGeom>
        </p:spPr>
      </p:pic>
      <p:sp>
        <p:nvSpPr>
          <p:cNvPr id="7" name="Text 4"/>
          <p:cNvSpPr/>
          <p:nvPr/>
        </p:nvSpPr>
        <p:spPr>
          <a:xfrm>
            <a:off x="5065776" y="1865376"/>
            <a:ext cx="2642616" cy="292608"/>
          </a:xfrm>
          <a:prstGeom prst="rect">
            <a:avLst/>
          </a:prstGeom>
          <a:noFill/>
          <a:ln/>
        </p:spPr>
        <p:txBody>
          <a:bodyPr wrap="square" lIns="0" tIns="0" rIns="0" bIns="0" rtlCol="0" anchor="ctr"/>
          <a:lstStyle/>
          <a:p>
            <a:pPr marL="0" indent="0">
              <a:buNone/>
            </a:pPr>
            <a:r>
              <a:rPr lang="en-US" sz="1500" b="1" dirty="0">
                <a:solidFill>
                  <a:srgbClr val="F4F6FF"/>
                </a:solidFill>
                <a:latin typeface="Calibri" pitchFamily="34" charset="0"/>
                <a:ea typeface="Calibri" pitchFamily="34" charset="-122"/>
                <a:cs typeface="Calibri" pitchFamily="34" charset="-120"/>
              </a:rPr>
              <a:t>Debraj</a:t>
            </a:r>
            <a:endParaRPr lang="en-US" sz="1500" dirty="0"/>
          </a:p>
        </p:txBody>
      </p:sp>
      <p:sp>
        <p:nvSpPr>
          <p:cNvPr id="8" name="Text 5"/>
          <p:cNvSpPr/>
          <p:nvPr/>
        </p:nvSpPr>
        <p:spPr>
          <a:xfrm>
            <a:off x="5065776" y="2157984"/>
            <a:ext cx="2642616" cy="237744"/>
          </a:xfrm>
          <a:prstGeom prst="rect">
            <a:avLst/>
          </a:prstGeom>
          <a:noFill/>
          <a:ln/>
        </p:spPr>
        <p:txBody>
          <a:bodyPr wrap="square" lIns="0" tIns="0" rIns="0" bIns="0" rtlCol="0" anchor="ctr"/>
          <a:lstStyle/>
          <a:p>
            <a:pPr marL="0" indent="0">
              <a:buNone/>
            </a:pPr>
            <a:r>
              <a:rPr lang="en-US" sz="1100" dirty="0">
                <a:solidFill>
                  <a:srgbClr val="4FC3F7"/>
                </a:solidFill>
                <a:latin typeface="Calibri" pitchFamily="34" charset="0"/>
                <a:ea typeface="Calibri" pitchFamily="34" charset="-122"/>
                <a:cs typeface="Calibri" pitchFamily="34" charset="-120"/>
              </a:rPr>
              <a:t>Product Owner</a:t>
            </a:r>
            <a:endParaRPr lang="en-US" sz="1100" dirty="0"/>
          </a:p>
        </p:txBody>
      </p:sp>
      <p:sp>
        <p:nvSpPr>
          <p:cNvPr id="9" name="Text 6"/>
          <p:cNvSpPr/>
          <p:nvPr/>
        </p:nvSpPr>
        <p:spPr>
          <a:xfrm>
            <a:off x="4553712" y="2377440"/>
            <a:ext cx="3081528" cy="219456"/>
          </a:xfrm>
          <a:prstGeom prst="rect">
            <a:avLst/>
          </a:prstGeom>
          <a:noFill/>
          <a:ln/>
        </p:spPr>
        <p:txBody>
          <a:bodyPr wrap="square" lIns="0" tIns="0" rIns="0" bIns="0" rtlCol="0" anchor="t"/>
          <a:lstStyle/>
          <a:p>
            <a:pPr marL="0" indent="0">
              <a:lnSpc>
                <a:spcPts val="1100"/>
              </a:lnSpc>
              <a:buNone/>
            </a:pPr>
            <a:r>
              <a:rPr lang="en-US" sz="950" dirty="0">
                <a:solidFill>
                  <a:srgbClr val="A8B4CC"/>
                </a:solidFill>
                <a:latin typeface="Calibri" pitchFamily="34" charset="0"/>
                <a:ea typeface="Calibri" pitchFamily="34" charset="-122"/>
                <a:cs typeface="Calibri" pitchFamily="34" charset="-120"/>
              </a:rPr>
              <a:t>Owns the use case, personas, and what "success" means before build starts</a:t>
            </a:r>
            <a:endParaRPr lang="en-US" sz="950" dirty="0"/>
          </a:p>
        </p:txBody>
      </p:sp>
      <p:sp>
        <p:nvSpPr>
          <p:cNvPr id="10" name="Shape 7"/>
          <p:cNvSpPr/>
          <p:nvPr/>
        </p:nvSpPr>
        <p:spPr>
          <a:xfrm>
            <a:off x="6095848" y="2633472"/>
            <a:ext cx="0" cy="365760"/>
          </a:xfrm>
          <a:prstGeom prst="line">
            <a:avLst/>
          </a:prstGeom>
          <a:noFill/>
          <a:ln w="15875">
            <a:solidFill>
              <a:srgbClr val="2A3560"/>
            </a:solidFill>
            <a:prstDash val="solid"/>
          </a:ln>
        </p:spPr>
      </p:sp>
      <p:sp>
        <p:nvSpPr>
          <p:cNvPr id="11" name="Shape 8"/>
          <p:cNvSpPr/>
          <p:nvPr/>
        </p:nvSpPr>
        <p:spPr>
          <a:xfrm>
            <a:off x="1901152" y="2999232"/>
            <a:ext cx="8389391" cy="0"/>
          </a:xfrm>
          <a:prstGeom prst="line">
            <a:avLst/>
          </a:prstGeom>
          <a:noFill/>
          <a:ln w="15875">
            <a:solidFill>
              <a:srgbClr val="2A3560"/>
            </a:solidFill>
            <a:prstDash val="solid"/>
          </a:ln>
        </p:spPr>
      </p:sp>
      <p:sp>
        <p:nvSpPr>
          <p:cNvPr id="12" name="Shape 9"/>
          <p:cNvSpPr/>
          <p:nvPr/>
        </p:nvSpPr>
        <p:spPr>
          <a:xfrm>
            <a:off x="1901152" y="2999232"/>
            <a:ext cx="0" cy="347472"/>
          </a:xfrm>
          <a:prstGeom prst="line">
            <a:avLst/>
          </a:prstGeom>
          <a:noFill/>
          <a:ln w="15875">
            <a:solidFill>
              <a:srgbClr val="2A3560"/>
            </a:solidFill>
            <a:prstDash val="solid"/>
          </a:ln>
        </p:spPr>
      </p:sp>
      <p:sp>
        <p:nvSpPr>
          <p:cNvPr id="13" name="Shape 10"/>
          <p:cNvSpPr/>
          <p:nvPr/>
        </p:nvSpPr>
        <p:spPr>
          <a:xfrm>
            <a:off x="640080" y="3346704"/>
            <a:ext cx="2522144" cy="2432304"/>
          </a:xfrm>
          <a:prstGeom prst="roundRect">
            <a:avLst>
              <a:gd name="adj" fmla="val 3008"/>
            </a:avLst>
          </a:prstGeom>
          <a:solidFill>
            <a:srgbClr val="0D1128"/>
          </a:solidFill>
          <a:ln w="12700">
            <a:solidFill>
              <a:srgbClr val="F5A623"/>
            </a:solidFill>
            <a:prstDash val="solid"/>
          </a:ln>
        </p:spPr>
      </p:sp>
      <p:pic>
        <p:nvPicPr>
          <p:cNvPr id="14" name="Image 1" descr="preencoded.png"/>
          <p:cNvPicPr>
            <a:picLocks noChangeAspect="1"/>
          </p:cNvPicPr>
          <p:nvPr/>
        </p:nvPicPr>
        <p:blipFill>
          <a:blip r:embed="rId4"/>
          <a:stretch>
            <a:fillRect/>
          </a:stretch>
        </p:blipFill>
        <p:spPr>
          <a:xfrm>
            <a:off x="859536" y="3602736"/>
            <a:ext cx="329184" cy="329184"/>
          </a:xfrm>
          <a:prstGeom prst="rect">
            <a:avLst/>
          </a:prstGeom>
        </p:spPr>
      </p:pic>
      <p:sp>
        <p:nvSpPr>
          <p:cNvPr id="15" name="Text 11"/>
          <p:cNvSpPr/>
          <p:nvPr/>
        </p:nvSpPr>
        <p:spPr>
          <a:xfrm>
            <a:off x="859536" y="4041648"/>
            <a:ext cx="2083232" cy="274320"/>
          </a:xfrm>
          <a:prstGeom prst="rect">
            <a:avLst/>
          </a:prstGeom>
          <a:noFill/>
          <a:ln/>
        </p:spPr>
        <p:txBody>
          <a:bodyPr wrap="square" lIns="0" tIns="0" rIns="0" bIns="0" rtlCol="0" anchor="ctr"/>
          <a:lstStyle/>
          <a:p>
            <a:pPr marL="0" indent="0">
              <a:buNone/>
            </a:pPr>
            <a:r>
              <a:rPr lang="en-US" sz="1500" b="1" dirty="0">
                <a:solidFill>
                  <a:srgbClr val="F5A623"/>
                </a:solidFill>
                <a:latin typeface="Calibri" pitchFamily="34" charset="0"/>
                <a:ea typeface="Calibri" pitchFamily="34" charset="-122"/>
                <a:cs typeface="Calibri" pitchFamily="34" charset="-120"/>
              </a:rPr>
              <a:t>Sauris</a:t>
            </a:r>
            <a:endParaRPr lang="en-US" sz="1500" dirty="0"/>
          </a:p>
        </p:txBody>
      </p:sp>
      <p:sp>
        <p:nvSpPr>
          <p:cNvPr id="16" name="Text 12"/>
          <p:cNvSpPr/>
          <p:nvPr/>
        </p:nvSpPr>
        <p:spPr>
          <a:xfrm>
            <a:off x="859536" y="4334256"/>
            <a:ext cx="2083232" cy="256032"/>
          </a:xfrm>
          <a:prstGeom prst="rect">
            <a:avLst/>
          </a:prstGeom>
          <a:noFill/>
          <a:ln/>
        </p:spPr>
        <p:txBody>
          <a:bodyPr wrap="square" lIns="0" tIns="0" rIns="0" bIns="0" rtlCol="0" anchor="ctr"/>
          <a:lstStyle/>
          <a:p>
            <a:pPr marL="0" indent="0">
              <a:buNone/>
            </a:pPr>
            <a:r>
              <a:rPr lang="en-US" sz="1100" dirty="0">
                <a:solidFill>
                  <a:srgbClr val="F5A623"/>
                </a:solidFill>
                <a:latin typeface="Calibri" pitchFamily="34" charset="0"/>
                <a:ea typeface="Calibri" pitchFamily="34" charset="-122"/>
                <a:cs typeface="Calibri" pitchFamily="34" charset="-120"/>
              </a:rPr>
              <a:t>Lead Engineer</a:t>
            </a:r>
            <a:endParaRPr lang="en-US" sz="1100" dirty="0"/>
          </a:p>
        </p:txBody>
      </p:sp>
      <p:sp>
        <p:nvSpPr>
          <p:cNvPr id="17" name="Shape 13"/>
          <p:cNvSpPr/>
          <p:nvPr/>
        </p:nvSpPr>
        <p:spPr>
          <a:xfrm>
            <a:off x="859536" y="4645152"/>
            <a:ext cx="640080" cy="0"/>
          </a:xfrm>
          <a:prstGeom prst="line">
            <a:avLst/>
          </a:prstGeom>
          <a:noFill/>
          <a:ln w="19050">
            <a:solidFill>
              <a:srgbClr val="F5A623"/>
            </a:solidFill>
            <a:prstDash val="solid"/>
          </a:ln>
        </p:spPr>
      </p:sp>
      <p:sp>
        <p:nvSpPr>
          <p:cNvPr id="18" name="Text 14"/>
          <p:cNvSpPr/>
          <p:nvPr/>
        </p:nvSpPr>
        <p:spPr>
          <a:xfrm>
            <a:off x="859536" y="4754880"/>
            <a:ext cx="2083232" cy="91440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Owns architecture, the agent topology, and the AI-proposes/rules-dispose split</a:t>
            </a:r>
            <a:endParaRPr lang="en-US" sz="1050" dirty="0"/>
          </a:p>
        </p:txBody>
      </p:sp>
      <p:sp>
        <p:nvSpPr>
          <p:cNvPr id="19" name="Shape 15"/>
          <p:cNvSpPr/>
          <p:nvPr/>
        </p:nvSpPr>
        <p:spPr>
          <a:xfrm>
            <a:off x="4697616" y="2999232"/>
            <a:ext cx="0" cy="347472"/>
          </a:xfrm>
          <a:prstGeom prst="line">
            <a:avLst/>
          </a:prstGeom>
          <a:noFill/>
          <a:ln w="15875">
            <a:solidFill>
              <a:srgbClr val="2A3560"/>
            </a:solidFill>
            <a:prstDash val="solid"/>
          </a:ln>
        </p:spPr>
      </p:sp>
      <p:sp>
        <p:nvSpPr>
          <p:cNvPr id="20" name="Shape 16"/>
          <p:cNvSpPr/>
          <p:nvPr/>
        </p:nvSpPr>
        <p:spPr>
          <a:xfrm>
            <a:off x="3436544" y="3346704"/>
            <a:ext cx="2522144" cy="2432304"/>
          </a:xfrm>
          <a:prstGeom prst="roundRect">
            <a:avLst>
              <a:gd name="adj" fmla="val 3008"/>
            </a:avLst>
          </a:prstGeom>
          <a:solidFill>
            <a:srgbClr val="0D1128"/>
          </a:solidFill>
          <a:ln w="12700">
            <a:solidFill>
              <a:srgbClr val="1A2040"/>
            </a:solidFill>
            <a:prstDash val="solid"/>
          </a:ln>
        </p:spPr>
      </p:sp>
      <p:pic>
        <p:nvPicPr>
          <p:cNvPr id="21" name="Image 2" descr="preencoded.png"/>
          <p:cNvPicPr>
            <a:picLocks noChangeAspect="1"/>
          </p:cNvPicPr>
          <p:nvPr/>
        </p:nvPicPr>
        <p:blipFill>
          <a:blip r:embed="rId5"/>
          <a:stretch>
            <a:fillRect/>
          </a:stretch>
        </p:blipFill>
        <p:spPr>
          <a:xfrm>
            <a:off x="3656000" y="3602736"/>
            <a:ext cx="329184" cy="329184"/>
          </a:xfrm>
          <a:prstGeom prst="rect">
            <a:avLst/>
          </a:prstGeom>
        </p:spPr>
      </p:pic>
      <p:sp>
        <p:nvSpPr>
          <p:cNvPr id="22" name="Text 17"/>
          <p:cNvSpPr/>
          <p:nvPr/>
        </p:nvSpPr>
        <p:spPr>
          <a:xfrm>
            <a:off x="3656000" y="4041648"/>
            <a:ext cx="2083232" cy="274320"/>
          </a:xfrm>
          <a:prstGeom prst="rect">
            <a:avLst/>
          </a:prstGeom>
          <a:noFill/>
          <a:ln/>
        </p:spPr>
        <p:txBody>
          <a:bodyPr wrap="square" lIns="0" tIns="0" rIns="0" bIns="0" rtlCol="0" anchor="ctr"/>
          <a:lstStyle/>
          <a:p>
            <a:pPr marL="0" indent="0">
              <a:buNone/>
            </a:pPr>
            <a:r>
              <a:rPr lang="en-US" sz="1500" b="1" dirty="0">
                <a:solidFill>
                  <a:srgbClr val="F4F6FF"/>
                </a:solidFill>
                <a:latin typeface="Calibri" pitchFamily="34" charset="0"/>
                <a:ea typeface="Calibri" pitchFamily="34" charset="-122"/>
                <a:cs typeface="Calibri" pitchFamily="34" charset="-120"/>
              </a:rPr>
              <a:t>Surya</a:t>
            </a:r>
            <a:endParaRPr lang="en-US" sz="1500" dirty="0"/>
          </a:p>
        </p:txBody>
      </p:sp>
      <p:sp>
        <p:nvSpPr>
          <p:cNvPr id="23" name="Text 18"/>
          <p:cNvSpPr/>
          <p:nvPr/>
        </p:nvSpPr>
        <p:spPr>
          <a:xfrm>
            <a:off x="3656000" y="4334256"/>
            <a:ext cx="2083232" cy="256032"/>
          </a:xfrm>
          <a:prstGeom prst="rect">
            <a:avLst/>
          </a:prstGeom>
          <a:noFill/>
          <a:ln/>
        </p:spPr>
        <p:txBody>
          <a:bodyPr wrap="square" lIns="0" tIns="0" rIns="0" bIns="0" rtlCol="0" anchor="ctr"/>
          <a:lstStyle/>
          <a:p>
            <a:pPr marL="0" indent="0">
              <a:buNone/>
            </a:pPr>
            <a:r>
              <a:rPr lang="en-US" sz="1100" dirty="0">
                <a:solidFill>
                  <a:srgbClr val="4FC3F7"/>
                </a:solidFill>
                <a:latin typeface="Calibri" pitchFamily="34" charset="0"/>
                <a:ea typeface="Calibri" pitchFamily="34" charset="-122"/>
                <a:cs typeface="Calibri" pitchFamily="34" charset="-120"/>
              </a:rPr>
              <a:t>Backend Engineer</a:t>
            </a:r>
            <a:endParaRPr lang="en-US" sz="1100" dirty="0"/>
          </a:p>
        </p:txBody>
      </p:sp>
      <p:sp>
        <p:nvSpPr>
          <p:cNvPr id="24" name="Shape 19"/>
          <p:cNvSpPr/>
          <p:nvPr/>
        </p:nvSpPr>
        <p:spPr>
          <a:xfrm>
            <a:off x="3656000" y="4645152"/>
            <a:ext cx="640080" cy="0"/>
          </a:xfrm>
          <a:prstGeom prst="line">
            <a:avLst/>
          </a:prstGeom>
          <a:noFill/>
          <a:ln w="19050">
            <a:solidFill>
              <a:srgbClr val="1A2040"/>
            </a:solidFill>
            <a:prstDash val="solid"/>
          </a:ln>
        </p:spPr>
      </p:sp>
      <p:sp>
        <p:nvSpPr>
          <p:cNvPr id="25" name="Text 20"/>
          <p:cNvSpPr/>
          <p:nvPr/>
        </p:nvSpPr>
        <p:spPr>
          <a:xfrm>
            <a:off x="3656000" y="4754880"/>
            <a:ext cx="2083232" cy="91440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Agents, LangGraph orchestration, optimizer, rule engine, commerce integration</a:t>
            </a:r>
            <a:endParaRPr lang="en-US" sz="1050" dirty="0"/>
          </a:p>
        </p:txBody>
      </p:sp>
      <p:sp>
        <p:nvSpPr>
          <p:cNvPr id="26" name="Shape 21"/>
          <p:cNvSpPr/>
          <p:nvPr/>
        </p:nvSpPr>
        <p:spPr>
          <a:xfrm>
            <a:off x="7494080" y="2999232"/>
            <a:ext cx="0" cy="347472"/>
          </a:xfrm>
          <a:prstGeom prst="line">
            <a:avLst/>
          </a:prstGeom>
          <a:noFill/>
          <a:ln w="15875">
            <a:solidFill>
              <a:srgbClr val="2A3560"/>
            </a:solidFill>
            <a:prstDash val="solid"/>
          </a:ln>
        </p:spPr>
      </p:sp>
      <p:sp>
        <p:nvSpPr>
          <p:cNvPr id="27" name="Shape 22"/>
          <p:cNvSpPr/>
          <p:nvPr/>
        </p:nvSpPr>
        <p:spPr>
          <a:xfrm>
            <a:off x="6233008" y="3346704"/>
            <a:ext cx="2522144" cy="2432304"/>
          </a:xfrm>
          <a:prstGeom prst="roundRect">
            <a:avLst>
              <a:gd name="adj" fmla="val 3008"/>
            </a:avLst>
          </a:prstGeom>
          <a:solidFill>
            <a:srgbClr val="0D1128"/>
          </a:solidFill>
          <a:ln w="12700">
            <a:solidFill>
              <a:srgbClr val="1A2040"/>
            </a:solidFill>
            <a:prstDash val="solid"/>
          </a:ln>
        </p:spPr>
      </p:sp>
      <p:pic>
        <p:nvPicPr>
          <p:cNvPr id="28" name="Image 3" descr="preencoded.png"/>
          <p:cNvPicPr>
            <a:picLocks noChangeAspect="1"/>
          </p:cNvPicPr>
          <p:nvPr/>
        </p:nvPicPr>
        <p:blipFill>
          <a:blip r:embed="rId6"/>
          <a:stretch>
            <a:fillRect/>
          </a:stretch>
        </p:blipFill>
        <p:spPr>
          <a:xfrm>
            <a:off x="6452464" y="3602736"/>
            <a:ext cx="329184" cy="329184"/>
          </a:xfrm>
          <a:prstGeom prst="rect">
            <a:avLst/>
          </a:prstGeom>
        </p:spPr>
      </p:pic>
      <p:sp>
        <p:nvSpPr>
          <p:cNvPr id="29" name="Text 23"/>
          <p:cNvSpPr/>
          <p:nvPr/>
        </p:nvSpPr>
        <p:spPr>
          <a:xfrm>
            <a:off x="6452464" y="4041648"/>
            <a:ext cx="2083232" cy="274320"/>
          </a:xfrm>
          <a:prstGeom prst="rect">
            <a:avLst/>
          </a:prstGeom>
          <a:noFill/>
          <a:ln/>
        </p:spPr>
        <p:txBody>
          <a:bodyPr wrap="square" lIns="0" tIns="0" rIns="0" bIns="0" rtlCol="0" anchor="ctr"/>
          <a:lstStyle/>
          <a:p>
            <a:pPr marL="0" indent="0">
              <a:buNone/>
            </a:pPr>
            <a:r>
              <a:rPr lang="en-US" sz="1500" b="1" dirty="0">
                <a:solidFill>
                  <a:srgbClr val="F4F6FF"/>
                </a:solidFill>
                <a:latin typeface="Calibri" pitchFamily="34" charset="0"/>
                <a:ea typeface="Calibri" pitchFamily="34" charset="-122"/>
                <a:cs typeface="Calibri" pitchFamily="34" charset="-120"/>
              </a:rPr>
              <a:t>Somiendra</a:t>
            </a:r>
            <a:endParaRPr lang="en-US" sz="1500" dirty="0"/>
          </a:p>
        </p:txBody>
      </p:sp>
      <p:sp>
        <p:nvSpPr>
          <p:cNvPr id="30" name="Text 24"/>
          <p:cNvSpPr/>
          <p:nvPr/>
        </p:nvSpPr>
        <p:spPr>
          <a:xfrm>
            <a:off x="6452464" y="4334256"/>
            <a:ext cx="2083232" cy="256032"/>
          </a:xfrm>
          <a:prstGeom prst="rect">
            <a:avLst/>
          </a:prstGeom>
          <a:noFill/>
          <a:ln/>
        </p:spPr>
        <p:txBody>
          <a:bodyPr wrap="square" lIns="0" tIns="0" rIns="0" bIns="0" rtlCol="0" anchor="ctr"/>
          <a:lstStyle/>
          <a:p>
            <a:pPr marL="0" indent="0">
              <a:buNone/>
            </a:pPr>
            <a:r>
              <a:rPr lang="en-US" sz="1100" dirty="0">
                <a:solidFill>
                  <a:srgbClr val="4FC3F7"/>
                </a:solidFill>
                <a:latin typeface="Calibri" pitchFamily="34" charset="0"/>
                <a:ea typeface="Calibri" pitchFamily="34" charset="-122"/>
                <a:cs typeface="Calibri" pitchFamily="34" charset="-120"/>
              </a:rPr>
              <a:t>Frontend Engineer</a:t>
            </a:r>
            <a:endParaRPr lang="en-US" sz="1100" dirty="0"/>
          </a:p>
        </p:txBody>
      </p:sp>
      <p:sp>
        <p:nvSpPr>
          <p:cNvPr id="31" name="Shape 25"/>
          <p:cNvSpPr/>
          <p:nvPr/>
        </p:nvSpPr>
        <p:spPr>
          <a:xfrm>
            <a:off x="6452464" y="4645152"/>
            <a:ext cx="640080" cy="0"/>
          </a:xfrm>
          <a:prstGeom prst="line">
            <a:avLst/>
          </a:prstGeom>
          <a:noFill/>
          <a:ln w="19050">
            <a:solidFill>
              <a:srgbClr val="1A2040"/>
            </a:solidFill>
            <a:prstDash val="solid"/>
          </a:ln>
        </p:spPr>
      </p:sp>
      <p:sp>
        <p:nvSpPr>
          <p:cNvPr id="32" name="Text 26"/>
          <p:cNvSpPr/>
          <p:nvPr/>
        </p:nvSpPr>
        <p:spPr>
          <a:xfrm>
            <a:off x="6452464" y="4754880"/>
            <a:ext cx="2083232" cy="91440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React/Vite UI — review queue, dashboards, autonomy and loop controls</a:t>
            </a:r>
            <a:endParaRPr lang="en-US" sz="1050" dirty="0"/>
          </a:p>
        </p:txBody>
      </p:sp>
      <p:sp>
        <p:nvSpPr>
          <p:cNvPr id="33" name="Shape 27"/>
          <p:cNvSpPr/>
          <p:nvPr/>
        </p:nvSpPr>
        <p:spPr>
          <a:xfrm>
            <a:off x="10290543" y="2999232"/>
            <a:ext cx="0" cy="347472"/>
          </a:xfrm>
          <a:prstGeom prst="line">
            <a:avLst/>
          </a:prstGeom>
          <a:noFill/>
          <a:ln w="15875">
            <a:solidFill>
              <a:srgbClr val="2A3560"/>
            </a:solidFill>
            <a:prstDash val="solid"/>
          </a:ln>
        </p:spPr>
      </p:sp>
      <p:sp>
        <p:nvSpPr>
          <p:cNvPr id="34" name="Shape 28"/>
          <p:cNvSpPr/>
          <p:nvPr/>
        </p:nvSpPr>
        <p:spPr>
          <a:xfrm>
            <a:off x="9029471" y="3346704"/>
            <a:ext cx="2522144" cy="2432304"/>
          </a:xfrm>
          <a:prstGeom prst="roundRect">
            <a:avLst>
              <a:gd name="adj" fmla="val 3008"/>
            </a:avLst>
          </a:prstGeom>
          <a:solidFill>
            <a:srgbClr val="0D1128"/>
          </a:solidFill>
          <a:ln w="12700">
            <a:solidFill>
              <a:srgbClr val="1A2040"/>
            </a:solidFill>
            <a:prstDash val="solid"/>
          </a:ln>
        </p:spPr>
      </p:sp>
      <p:pic>
        <p:nvPicPr>
          <p:cNvPr id="35" name="Image 4" descr="preencoded.png"/>
          <p:cNvPicPr>
            <a:picLocks noChangeAspect="1"/>
          </p:cNvPicPr>
          <p:nvPr/>
        </p:nvPicPr>
        <p:blipFill>
          <a:blip r:embed="rId7"/>
          <a:stretch>
            <a:fillRect/>
          </a:stretch>
        </p:blipFill>
        <p:spPr>
          <a:xfrm>
            <a:off x="9248927" y="3602736"/>
            <a:ext cx="329184" cy="329184"/>
          </a:xfrm>
          <a:prstGeom prst="rect">
            <a:avLst/>
          </a:prstGeom>
        </p:spPr>
      </p:pic>
      <p:sp>
        <p:nvSpPr>
          <p:cNvPr id="36" name="Text 29"/>
          <p:cNvSpPr/>
          <p:nvPr/>
        </p:nvSpPr>
        <p:spPr>
          <a:xfrm>
            <a:off x="9248927" y="4041648"/>
            <a:ext cx="2083232" cy="274320"/>
          </a:xfrm>
          <a:prstGeom prst="rect">
            <a:avLst/>
          </a:prstGeom>
          <a:noFill/>
          <a:ln/>
        </p:spPr>
        <p:txBody>
          <a:bodyPr wrap="square" lIns="0" tIns="0" rIns="0" bIns="0" rtlCol="0" anchor="ctr"/>
          <a:lstStyle/>
          <a:p>
            <a:pPr marL="0" indent="0">
              <a:buNone/>
            </a:pPr>
            <a:r>
              <a:rPr lang="en-US" sz="1500" b="1" dirty="0">
                <a:solidFill>
                  <a:srgbClr val="F4F6FF"/>
                </a:solidFill>
                <a:latin typeface="Calibri" pitchFamily="34" charset="0"/>
                <a:ea typeface="Calibri" pitchFamily="34" charset="-122"/>
                <a:cs typeface="Calibri" pitchFamily="34" charset="-120"/>
              </a:rPr>
              <a:t>Arnab</a:t>
            </a:r>
            <a:endParaRPr lang="en-US" sz="1500" dirty="0"/>
          </a:p>
        </p:txBody>
      </p:sp>
      <p:sp>
        <p:nvSpPr>
          <p:cNvPr id="37" name="Text 30"/>
          <p:cNvSpPr/>
          <p:nvPr/>
        </p:nvSpPr>
        <p:spPr>
          <a:xfrm>
            <a:off x="9248927" y="4334256"/>
            <a:ext cx="2083232" cy="256032"/>
          </a:xfrm>
          <a:prstGeom prst="rect">
            <a:avLst/>
          </a:prstGeom>
          <a:noFill/>
          <a:ln/>
        </p:spPr>
        <p:txBody>
          <a:bodyPr wrap="square" lIns="0" tIns="0" rIns="0" bIns="0" rtlCol="0" anchor="ctr"/>
          <a:lstStyle/>
          <a:p>
            <a:pPr marL="0" indent="0">
              <a:buNone/>
            </a:pPr>
            <a:r>
              <a:rPr lang="en-US" sz="1100" dirty="0">
                <a:solidFill>
                  <a:srgbClr val="4FC3F7"/>
                </a:solidFill>
                <a:latin typeface="Calibri" pitchFamily="34" charset="0"/>
                <a:ea typeface="Calibri" pitchFamily="34" charset="-122"/>
                <a:cs typeface="Calibri" pitchFamily="34" charset="-120"/>
              </a:rPr>
              <a:t>Quality Engineer</a:t>
            </a:r>
            <a:endParaRPr lang="en-US" sz="1100" dirty="0"/>
          </a:p>
        </p:txBody>
      </p:sp>
      <p:sp>
        <p:nvSpPr>
          <p:cNvPr id="38" name="Shape 31"/>
          <p:cNvSpPr/>
          <p:nvPr/>
        </p:nvSpPr>
        <p:spPr>
          <a:xfrm>
            <a:off x="9248927" y="4645152"/>
            <a:ext cx="640080" cy="0"/>
          </a:xfrm>
          <a:prstGeom prst="line">
            <a:avLst/>
          </a:prstGeom>
          <a:noFill/>
          <a:ln w="19050">
            <a:solidFill>
              <a:srgbClr val="1A2040"/>
            </a:solidFill>
            <a:prstDash val="solid"/>
          </a:ln>
        </p:spPr>
      </p:sp>
      <p:sp>
        <p:nvSpPr>
          <p:cNvPr id="39" name="Text 32"/>
          <p:cNvSpPr/>
          <p:nvPr/>
        </p:nvSpPr>
        <p:spPr>
          <a:xfrm>
            <a:off x="9248927" y="4754880"/>
            <a:ext cx="2083232" cy="91440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Compliance-veto tests, idempotency, grounding enforcement, the golden path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05</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ARCHITECTURE</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2964"/>
              </a:lnSpc>
              <a:buNone/>
            </a:pPr>
            <a:r>
              <a:rPr lang="en-US" sz="2600" b="1" dirty="0">
                <a:solidFill>
                  <a:srgbClr val="F4F6FF"/>
                </a:solidFill>
                <a:latin typeface="Calibri" pitchFamily="34" charset="0"/>
                <a:ea typeface="Calibri" pitchFamily="34" charset="-122"/>
                <a:cs typeface="Calibri" pitchFamily="34" charset="-120"/>
              </a:rPr>
              <a:t>Two services. Five agents. Deterministic edges.</a:t>
            </a:r>
            <a:endParaRPr lang="en-US" sz="2600" dirty="0"/>
          </a:p>
        </p:txBody>
      </p:sp>
      <p:sp>
        <p:nvSpPr>
          <p:cNvPr id="5" name="Shape 3"/>
          <p:cNvSpPr/>
          <p:nvPr/>
        </p:nvSpPr>
        <p:spPr>
          <a:xfrm>
            <a:off x="640080" y="1572768"/>
            <a:ext cx="3200400" cy="603504"/>
          </a:xfrm>
          <a:prstGeom prst="roundRect">
            <a:avLst>
              <a:gd name="adj" fmla="val 12121"/>
            </a:avLst>
          </a:prstGeom>
          <a:solidFill>
            <a:srgbClr val="0D1128"/>
          </a:solidFill>
          <a:ln w="12700">
            <a:solidFill>
              <a:srgbClr val="1A2040"/>
            </a:solidFill>
            <a:prstDash val="solid"/>
          </a:ln>
        </p:spPr>
      </p:sp>
      <p:sp>
        <p:nvSpPr>
          <p:cNvPr id="6" name="Text 4"/>
          <p:cNvSpPr/>
          <p:nvPr/>
        </p:nvSpPr>
        <p:spPr>
          <a:xfrm>
            <a:off x="822960" y="1645920"/>
            <a:ext cx="2834640" cy="256032"/>
          </a:xfrm>
          <a:prstGeom prst="rect">
            <a:avLst/>
          </a:prstGeom>
          <a:noFill/>
          <a:ln/>
        </p:spPr>
        <p:txBody>
          <a:bodyPr wrap="square" lIns="0" tIns="0" rIns="0" bIns="0" rtlCol="0" anchor="ctr"/>
          <a:lstStyle/>
          <a:p>
            <a:pPr marL="0" indent="0">
              <a:buNone/>
            </a:pPr>
            <a:r>
              <a:rPr lang="en-US" sz="1200" b="1" dirty="0">
                <a:solidFill>
                  <a:srgbClr val="F4F6FF"/>
                </a:solidFill>
                <a:latin typeface="Calibri" pitchFamily="34" charset="0"/>
                <a:ea typeface="Calibri" pitchFamily="34" charset="-122"/>
                <a:cs typeface="Calibri" pitchFamily="34" charset="-120"/>
              </a:rPr>
              <a:t>Web UI  </a:t>
            </a:r>
            <a:r>
              <a:rPr lang="en-US" sz="900" dirty="0">
                <a:solidFill>
                  <a:srgbClr val="6A7590"/>
                </a:solidFill>
                <a:latin typeface="Courier New" pitchFamily="34" charset="0"/>
                <a:ea typeface="Courier New" pitchFamily="34" charset="-122"/>
                <a:cs typeface="Courier New" pitchFamily="34" charset="-120"/>
              </a:rPr>
              <a:t>:5173</a:t>
            </a:r>
            <a:endParaRPr lang="en-US" sz="1200" dirty="0"/>
          </a:p>
        </p:txBody>
      </p:sp>
      <p:sp>
        <p:nvSpPr>
          <p:cNvPr id="7" name="Text 5"/>
          <p:cNvSpPr/>
          <p:nvPr/>
        </p:nvSpPr>
        <p:spPr>
          <a:xfrm>
            <a:off x="822960" y="1901952"/>
            <a:ext cx="2834640" cy="219456"/>
          </a:xfrm>
          <a:prstGeom prst="rect">
            <a:avLst/>
          </a:prstGeom>
          <a:noFill/>
          <a:ln/>
        </p:spPr>
        <p:txBody>
          <a:bodyPr wrap="square" lIns="0" tIns="0" rIns="0" bIns="0" rtlCol="0" anchor="ctr"/>
          <a:lstStyle/>
          <a:p>
            <a:pPr marL="0" indent="0">
              <a:buNone/>
            </a:pPr>
            <a:r>
              <a:rPr lang="en-US" sz="900" dirty="0">
                <a:solidFill>
                  <a:srgbClr val="A8B4CC"/>
                </a:solidFill>
                <a:latin typeface="Calibri" pitchFamily="34" charset="0"/>
                <a:ea typeface="Calibri" pitchFamily="34" charset="-122"/>
                <a:cs typeface="Calibri" pitchFamily="34" charset="-120"/>
              </a:rPr>
              <a:t>React · Vite · talks only to :8000</a:t>
            </a:r>
            <a:endParaRPr lang="en-US" sz="900" dirty="0"/>
          </a:p>
        </p:txBody>
      </p:sp>
      <p:sp>
        <p:nvSpPr>
          <p:cNvPr id="8" name="Shape 6"/>
          <p:cNvSpPr/>
          <p:nvPr/>
        </p:nvSpPr>
        <p:spPr>
          <a:xfrm>
            <a:off x="3858768" y="1874520"/>
            <a:ext cx="146304" cy="0"/>
          </a:xfrm>
          <a:prstGeom prst="line">
            <a:avLst/>
          </a:prstGeom>
          <a:noFill/>
          <a:ln w="15875">
            <a:solidFill>
              <a:srgbClr val="2A3560"/>
            </a:solidFill>
            <a:prstDash val="solid"/>
            <a:tailEnd type="triangle"/>
          </a:ln>
        </p:spPr>
      </p:sp>
      <p:sp>
        <p:nvSpPr>
          <p:cNvPr id="9" name="Shape 7"/>
          <p:cNvSpPr/>
          <p:nvPr/>
        </p:nvSpPr>
        <p:spPr>
          <a:xfrm>
            <a:off x="4023360" y="1572768"/>
            <a:ext cx="3566160" cy="603504"/>
          </a:xfrm>
          <a:prstGeom prst="roundRect">
            <a:avLst>
              <a:gd name="adj" fmla="val 12121"/>
            </a:avLst>
          </a:prstGeom>
          <a:solidFill>
            <a:srgbClr val="0D1128"/>
          </a:solidFill>
          <a:ln w="12700">
            <a:solidFill>
              <a:srgbClr val="F5A623"/>
            </a:solidFill>
            <a:prstDash val="solid"/>
          </a:ln>
        </p:spPr>
      </p:sp>
      <p:sp>
        <p:nvSpPr>
          <p:cNvPr id="10" name="Text 8"/>
          <p:cNvSpPr/>
          <p:nvPr/>
        </p:nvSpPr>
        <p:spPr>
          <a:xfrm>
            <a:off x="4206240" y="1645920"/>
            <a:ext cx="3200400" cy="256032"/>
          </a:xfrm>
          <a:prstGeom prst="rect">
            <a:avLst/>
          </a:prstGeom>
          <a:noFill/>
          <a:ln/>
        </p:spPr>
        <p:txBody>
          <a:bodyPr wrap="square" lIns="0" tIns="0" rIns="0" bIns="0"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Pricing AI Platform  </a:t>
            </a:r>
            <a:r>
              <a:rPr lang="en-US" sz="900" dirty="0">
                <a:solidFill>
                  <a:srgbClr val="6A7590"/>
                </a:solidFill>
                <a:latin typeface="Courier New" pitchFamily="34" charset="0"/>
                <a:ea typeface="Courier New" pitchFamily="34" charset="-122"/>
                <a:cs typeface="Courier New" pitchFamily="34" charset="-120"/>
              </a:rPr>
              <a:t>:8000</a:t>
            </a:r>
            <a:endParaRPr lang="en-US" sz="1200" dirty="0"/>
          </a:p>
        </p:txBody>
      </p:sp>
      <p:sp>
        <p:nvSpPr>
          <p:cNvPr id="11" name="Text 9"/>
          <p:cNvSpPr/>
          <p:nvPr/>
        </p:nvSpPr>
        <p:spPr>
          <a:xfrm>
            <a:off x="4206240" y="1901952"/>
            <a:ext cx="3200400" cy="219456"/>
          </a:xfrm>
          <a:prstGeom prst="rect">
            <a:avLst/>
          </a:prstGeom>
          <a:noFill/>
          <a:ln/>
        </p:spPr>
        <p:txBody>
          <a:bodyPr wrap="square" lIns="0" tIns="0" rIns="0" bIns="0" rtlCol="0" anchor="ctr"/>
          <a:lstStyle/>
          <a:p>
            <a:pPr marL="0" indent="0">
              <a:buNone/>
            </a:pPr>
            <a:r>
              <a:rPr lang="en-US" sz="900" dirty="0">
                <a:solidFill>
                  <a:srgbClr val="A8B4CC"/>
                </a:solidFill>
                <a:latin typeface="Calibri" pitchFamily="34" charset="0"/>
                <a:ea typeface="Calibri" pitchFamily="34" charset="-122"/>
                <a:cs typeface="Calibri" pitchFamily="34" charset="-120"/>
              </a:rPr>
              <a:t>Agents · RAG · optimizer · owns no business data</a:t>
            </a:r>
            <a:endParaRPr lang="en-US" sz="900" dirty="0"/>
          </a:p>
        </p:txBody>
      </p:sp>
      <p:sp>
        <p:nvSpPr>
          <p:cNvPr id="12" name="Shape 10"/>
          <p:cNvSpPr/>
          <p:nvPr/>
        </p:nvSpPr>
        <p:spPr>
          <a:xfrm>
            <a:off x="7607808" y="1874520"/>
            <a:ext cx="146304" cy="0"/>
          </a:xfrm>
          <a:prstGeom prst="line">
            <a:avLst/>
          </a:prstGeom>
          <a:noFill/>
          <a:ln w="15875">
            <a:solidFill>
              <a:srgbClr val="2A3560"/>
            </a:solidFill>
            <a:prstDash val="solid"/>
            <a:tailEnd type="triangle"/>
          </a:ln>
        </p:spPr>
      </p:sp>
      <p:sp>
        <p:nvSpPr>
          <p:cNvPr id="13" name="Shape 11"/>
          <p:cNvSpPr/>
          <p:nvPr/>
        </p:nvSpPr>
        <p:spPr>
          <a:xfrm>
            <a:off x="7772400" y="1572768"/>
            <a:ext cx="3779215" cy="603504"/>
          </a:xfrm>
          <a:prstGeom prst="roundRect">
            <a:avLst>
              <a:gd name="adj" fmla="val 12121"/>
            </a:avLst>
          </a:prstGeom>
          <a:solidFill>
            <a:srgbClr val="0D1128"/>
          </a:solidFill>
          <a:ln w="12700">
            <a:solidFill>
              <a:srgbClr val="1A2040"/>
            </a:solidFill>
            <a:prstDash val="solid"/>
          </a:ln>
        </p:spPr>
      </p:sp>
      <p:sp>
        <p:nvSpPr>
          <p:cNvPr id="14" name="Text 12"/>
          <p:cNvSpPr/>
          <p:nvPr/>
        </p:nvSpPr>
        <p:spPr>
          <a:xfrm>
            <a:off x="7955280" y="1645920"/>
            <a:ext cx="3413455" cy="256032"/>
          </a:xfrm>
          <a:prstGeom prst="rect">
            <a:avLst/>
          </a:prstGeom>
          <a:noFill/>
          <a:ln/>
        </p:spPr>
        <p:txBody>
          <a:bodyPr wrap="square" lIns="0" tIns="0" rIns="0" bIns="0" rtlCol="0" anchor="ctr"/>
          <a:lstStyle/>
          <a:p>
            <a:pPr marL="0" indent="0">
              <a:buNone/>
            </a:pPr>
            <a:r>
              <a:rPr lang="en-US" sz="1200" b="1" dirty="0">
                <a:solidFill>
                  <a:srgbClr val="F4F6FF"/>
                </a:solidFill>
                <a:latin typeface="Calibri" pitchFamily="34" charset="0"/>
                <a:ea typeface="Calibri" pitchFamily="34" charset="-122"/>
                <a:cs typeface="Calibri" pitchFamily="34" charset="-120"/>
              </a:rPr>
              <a:t>Commerce Service  </a:t>
            </a:r>
            <a:r>
              <a:rPr lang="en-US" sz="900" dirty="0">
                <a:solidFill>
                  <a:srgbClr val="6A7590"/>
                </a:solidFill>
                <a:latin typeface="Courier New" pitchFamily="34" charset="0"/>
                <a:ea typeface="Courier New" pitchFamily="34" charset="-122"/>
                <a:cs typeface="Courier New" pitchFamily="34" charset="-120"/>
              </a:rPr>
              <a:t>:8001</a:t>
            </a:r>
            <a:endParaRPr lang="en-US" sz="1200" dirty="0"/>
          </a:p>
        </p:txBody>
      </p:sp>
      <p:sp>
        <p:nvSpPr>
          <p:cNvPr id="15" name="Text 13"/>
          <p:cNvSpPr/>
          <p:nvPr/>
        </p:nvSpPr>
        <p:spPr>
          <a:xfrm>
            <a:off x="7955280" y="1901952"/>
            <a:ext cx="3413455" cy="219456"/>
          </a:xfrm>
          <a:prstGeom prst="rect">
            <a:avLst/>
          </a:prstGeom>
          <a:noFill/>
          <a:ln/>
        </p:spPr>
        <p:txBody>
          <a:bodyPr wrap="square" lIns="0" tIns="0" rIns="0" bIns="0" rtlCol="0" anchor="ctr"/>
          <a:lstStyle/>
          <a:p>
            <a:pPr marL="0" indent="0">
              <a:buNone/>
            </a:pPr>
            <a:r>
              <a:rPr lang="en-US" sz="900" dirty="0">
                <a:solidFill>
                  <a:srgbClr val="A8B4CC"/>
                </a:solidFill>
                <a:latin typeface="Calibri" pitchFamily="34" charset="0"/>
                <a:ea typeface="Calibri" pitchFamily="34" charset="-122"/>
                <a:cs typeface="Calibri" pitchFamily="34" charset="-120"/>
              </a:rPr>
              <a:t>System of record · catalog, sales, inventory</a:t>
            </a:r>
            <a:endParaRPr lang="en-US" sz="900" dirty="0"/>
          </a:p>
        </p:txBody>
      </p:sp>
      <p:sp>
        <p:nvSpPr>
          <p:cNvPr id="16" name="Text 14"/>
          <p:cNvSpPr/>
          <p:nvPr/>
        </p:nvSpPr>
        <p:spPr>
          <a:xfrm>
            <a:off x="4023360" y="2212848"/>
            <a:ext cx="3566160" cy="201168"/>
          </a:xfrm>
          <a:prstGeom prst="rect">
            <a:avLst/>
          </a:prstGeom>
          <a:noFill/>
          <a:ln/>
        </p:spPr>
        <p:txBody>
          <a:bodyPr wrap="square" lIns="0" tIns="0" rIns="0" bIns="0" rtlCol="0" anchor="ctr"/>
          <a:lstStyle/>
          <a:p>
            <a:pPr marL="0" indent="0" algn="ctr">
              <a:buNone/>
            </a:pPr>
            <a:r>
              <a:rPr lang="en-US" sz="850" i="1" dirty="0">
                <a:solidFill>
                  <a:srgbClr val="6A7590"/>
                </a:solidFill>
                <a:latin typeface="Calibri" pitchFamily="34" charset="0"/>
                <a:ea typeface="Calibri" pitchFamily="34" charset="-122"/>
                <a:cs typeface="Calibri" pitchFamily="34" charset="-120"/>
              </a:rPr>
              <a:t>HTTP only — no shared DB, no cross-boundary import</a:t>
            </a:r>
            <a:endParaRPr lang="en-US" sz="850" dirty="0"/>
          </a:p>
        </p:txBody>
      </p:sp>
      <p:sp>
        <p:nvSpPr>
          <p:cNvPr id="17" name="Shape 15"/>
          <p:cNvSpPr/>
          <p:nvPr/>
        </p:nvSpPr>
        <p:spPr>
          <a:xfrm>
            <a:off x="640080" y="2670048"/>
            <a:ext cx="2036003" cy="1371600"/>
          </a:xfrm>
          <a:prstGeom prst="roundRect">
            <a:avLst>
              <a:gd name="adj" fmla="val 5333"/>
            </a:avLst>
          </a:prstGeom>
          <a:solidFill>
            <a:srgbClr val="0D1128"/>
          </a:solidFill>
          <a:ln w="12700">
            <a:solidFill>
              <a:srgbClr val="1A2040"/>
            </a:solidFill>
            <a:prstDash val="solid"/>
          </a:ln>
        </p:spPr>
      </p:sp>
      <p:pic>
        <p:nvPicPr>
          <p:cNvPr id="18" name="Image 0" descr="preencoded.png"/>
          <p:cNvPicPr>
            <a:picLocks noChangeAspect="1"/>
          </p:cNvPicPr>
          <p:nvPr/>
        </p:nvPicPr>
        <p:blipFill>
          <a:blip r:embed="rId3"/>
          <a:stretch>
            <a:fillRect/>
          </a:stretch>
        </p:blipFill>
        <p:spPr>
          <a:xfrm>
            <a:off x="804672" y="2834640"/>
            <a:ext cx="292608" cy="292608"/>
          </a:xfrm>
          <a:prstGeom prst="rect">
            <a:avLst/>
          </a:prstGeom>
        </p:spPr>
      </p:pic>
      <p:sp>
        <p:nvSpPr>
          <p:cNvPr id="19" name="Text 16"/>
          <p:cNvSpPr/>
          <p:nvPr/>
        </p:nvSpPr>
        <p:spPr>
          <a:xfrm>
            <a:off x="2273747" y="2798064"/>
            <a:ext cx="274320"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1</a:t>
            </a:r>
            <a:endParaRPr lang="en-US" sz="1300" dirty="0"/>
          </a:p>
        </p:txBody>
      </p:sp>
      <p:sp>
        <p:nvSpPr>
          <p:cNvPr id="20" name="Text 17"/>
          <p:cNvSpPr/>
          <p:nvPr/>
        </p:nvSpPr>
        <p:spPr>
          <a:xfrm>
            <a:off x="804672" y="3182112"/>
            <a:ext cx="1706819" cy="457200"/>
          </a:xfrm>
          <a:prstGeom prst="rect">
            <a:avLst/>
          </a:prstGeom>
          <a:noFill/>
          <a:ln/>
        </p:spPr>
        <p:txBody>
          <a:bodyPr wrap="square" lIns="0" tIns="0" rIns="0" bIns="0" rtlCol="0" anchor="t"/>
          <a:lstStyle/>
          <a:p>
            <a:pPr marL="0" indent="0">
              <a:lnSpc>
                <a:spcPts val="1300"/>
              </a:lnSpc>
              <a:buNone/>
            </a:pPr>
            <a:r>
              <a:rPr lang="en-US" sz="1150" b="1" dirty="0">
                <a:solidFill>
                  <a:srgbClr val="F4F6FF"/>
                </a:solidFill>
                <a:latin typeface="Calibri" pitchFamily="34" charset="0"/>
                <a:ea typeface="Calibri" pitchFamily="34" charset="-122"/>
                <a:cs typeface="Calibri" pitchFamily="34" charset="-120"/>
              </a:rPr>
              <a:t>Data &amp; Context</a:t>
            </a:r>
            <a:endParaRPr lang="en-US" sz="1150" dirty="0"/>
          </a:p>
        </p:txBody>
      </p:sp>
      <p:sp>
        <p:nvSpPr>
          <p:cNvPr id="21" name="Text 18"/>
          <p:cNvSpPr/>
          <p:nvPr/>
        </p:nvSpPr>
        <p:spPr>
          <a:xfrm>
            <a:off x="804672" y="3621024"/>
            <a:ext cx="1706819" cy="365760"/>
          </a:xfrm>
          <a:prstGeom prst="rect">
            <a:avLst/>
          </a:prstGeom>
          <a:noFill/>
          <a:ln/>
        </p:spPr>
        <p:txBody>
          <a:bodyPr wrap="square" lIns="0" tIns="0" rIns="0" bIns="0" rtlCol="0" anchor="t"/>
          <a:lstStyle/>
          <a:p>
            <a:pPr marL="0" indent="0">
              <a:lnSpc>
                <a:spcPts val="1050"/>
              </a:lnSpc>
              <a:buNone/>
            </a:pPr>
            <a:r>
              <a:rPr lang="en-US" sz="850" dirty="0">
                <a:solidFill>
                  <a:srgbClr val="A8B4CC"/>
                </a:solidFill>
                <a:latin typeface="Calibri" pitchFamily="34" charset="0"/>
                <a:ea typeface="Calibri" pitchFamily="34" charset="-122"/>
                <a:cs typeface="Calibri" pitchFamily="34" charset="-120"/>
              </a:rPr>
              <a:t>Concurrent ingest · quality gate · RAG</a:t>
            </a:r>
            <a:endParaRPr lang="en-US" sz="850" dirty="0"/>
          </a:p>
        </p:txBody>
      </p:sp>
      <p:sp>
        <p:nvSpPr>
          <p:cNvPr id="22" name="Shape 19"/>
          <p:cNvSpPr/>
          <p:nvPr/>
        </p:nvSpPr>
        <p:spPr>
          <a:xfrm>
            <a:off x="2694371" y="3355848"/>
            <a:ext cx="146304" cy="0"/>
          </a:xfrm>
          <a:prstGeom prst="line">
            <a:avLst/>
          </a:prstGeom>
          <a:noFill/>
          <a:ln w="15875">
            <a:solidFill>
              <a:srgbClr val="2A3560"/>
            </a:solidFill>
            <a:prstDash val="solid"/>
            <a:tailEnd type="triangle"/>
          </a:ln>
        </p:spPr>
      </p:sp>
      <p:sp>
        <p:nvSpPr>
          <p:cNvPr id="23" name="Shape 20"/>
          <p:cNvSpPr/>
          <p:nvPr/>
        </p:nvSpPr>
        <p:spPr>
          <a:xfrm>
            <a:off x="2858963" y="2670048"/>
            <a:ext cx="2036003" cy="1371600"/>
          </a:xfrm>
          <a:prstGeom prst="roundRect">
            <a:avLst>
              <a:gd name="adj" fmla="val 5333"/>
            </a:avLst>
          </a:prstGeom>
          <a:solidFill>
            <a:srgbClr val="0D1128"/>
          </a:solidFill>
          <a:ln w="12700">
            <a:solidFill>
              <a:srgbClr val="1A2040"/>
            </a:solidFill>
            <a:prstDash val="solid"/>
          </a:ln>
        </p:spPr>
      </p:sp>
      <p:pic>
        <p:nvPicPr>
          <p:cNvPr id="24" name="Image 1" descr="preencoded.png"/>
          <p:cNvPicPr>
            <a:picLocks noChangeAspect="1"/>
          </p:cNvPicPr>
          <p:nvPr/>
        </p:nvPicPr>
        <p:blipFill>
          <a:blip r:embed="rId4"/>
          <a:stretch>
            <a:fillRect/>
          </a:stretch>
        </p:blipFill>
        <p:spPr>
          <a:xfrm>
            <a:off x="3023555" y="2834640"/>
            <a:ext cx="292608" cy="292608"/>
          </a:xfrm>
          <a:prstGeom prst="rect">
            <a:avLst/>
          </a:prstGeom>
        </p:spPr>
      </p:pic>
      <p:sp>
        <p:nvSpPr>
          <p:cNvPr id="25" name="Text 21"/>
          <p:cNvSpPr/>
          <p:nvPr/>
        </p:nvSpPr>
        <p:spPr>
          <a:xfrm>
            <a:off x="4492630" y="2798064"/>
            <a:ext cx="274320"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2</a:t>
            </a:r>
            <a:endParaRPr lang="en-US" sz="1300" dirty="0"/>
          </a:p>
        </p:txBody>
      </p:sp>
      <p:sp>
        <p:nvSpPr>
          <p:cNvPr id="26" name="Text 22"/>
          <p:cNvSpPr/>
          <p:nvPr/>
        </p:nvSpPr>
        <p:spPr>
          <a:xfrm>
            <a:off x="3023555" y="3182112"/>
            <a:ext cx="1706819" cy="457200"/>
          </a:xfrm>
          <a:prstGeom prst="rect">
            <a:avLst/>
          </a:prstGeom>
          <a:noFill/>
          <a:ln/>
        </p:spPr>
        <p:txBody>
          <a:bodyPr wrap="square" lIns="0" tIns="0" rIns="0" bIns="0" rtlCol="0" anchor="t"/>
          <a:lstStyle/>
          <a:p>
            <a:pPr marL="0" indent="0">
              <a:lnSpc>
                <a:spcPts val="1300"/>
              </a:lnSpc>
              <a:buNone/>
            </a:pPr>
            <a:r>
              <a:rPr lang="en-US" sz="1150" b="1" dirty="0">
                <a:solidFill>
                  <a:srgbClr val="F4F6FF"/>
                </a:solidFill>
                <a:latin typeface="Calibri" pitchFamily="34" charset="0"/>
                <a:ea typeface="Calibri" pitchFamily="34" charset="-122"/>
                <a:cs typeface="Calibri" pitchFamily="34" charset="-120"/>
              </a:rPr>
              <a:t>Quantitative</a:t>
            </a:r>
            <a:endParaRPr lang="en-US" sz="1150" dirty="0"/>
          </a:p>
        </p:txBody>
      </p:sp>
      <p:sp>
        <p:nvSpPr>
          <p:cNvPr id="27" name="Text 23"/>
          <p:cNvSpPr/>
          <p:nvPr/>
        </p:nvSpPr>
        <p:spPr>
          <a:xfrm>
            <a:off x="3023555" y="3621024"/>
            <a:ext cx="1706819" cy="365760"/>
          </a:xfrm>
          <a:prstGeom prst="rect">
            <a:avLst/>
          </a:prstGeom>
          <a:noFill/>
          <a:ln/>
        </p:spPr>
        <p:txBody>
          <a:bodyPr wrap="square" lIns="0" tIns="0" rIns="0" bIns="0" rtlCol="0" anchor="t"/>
          <a:lstStyle/>
          <a:p>
            <a:pPr marL="0" indent="0">
              <a:lnSpc>
                <a:spcPts val="1050"/>
              </a:lnSpc>
              <a:buNone/>
            </a:pPr>
            <a:r>
              <a:rPr lang="en-US" sz="850" dirty="0">
                <a:solidFill>
                  <a:srgbClr val="A8B4CC"/>
                </a:solidFill>
                <a:latin typeface="Calibri" pitchFamily="34" charset="0"/>
                <a:ea typeface="Calibri" pitchFamily="34" charset="-122"/>
                <a:cs typeface="Calibri" pitchFamily="34" charset="-120"/>
              </a:rPr>
              <a:t>Elasticity → Monte Carlo → distributions</a:t>
            </a:r>
            <a:endParaRPr lang="en-US" sz="850" dirty="0"/>
          </a:p>
        </p:txBody>
      </p:sp>
      <p:sp>
        <p:nvSpPr>
          <p:cNvPr id="28" name="Shape 24"/>
          <p:cNvSpPr/>
          <p:nvPr/>
        </p:nvSpPr>
        <p:spPr>
          <a:xfrm>
            <a:off x="4913254" y="3355848"/>
            <a:ext cx="146304" cy="0"/>
          </a:xfrm>
          <a:prstGeom prst="line">
            <a:avLst/>
          </a:prstGeom>
          <a:noFill/>
          <a:ln w="15875">
            <a:solidFill>
              <a:srgbClr val="2A3560"/>
            </a:solidFill>
            <a:prstDash val="solid"/>
            <a:tailEnd type="triangle"/>
          </a:ln>
        </p:spPr>
      </p:sp>
      <p:sp>
        <p:nvSpPr>
          <p:cNvPr id="29" name="Shape 25"/>
          <p:cNvSpPr/>
          <p:nvPr/>
        </p:nvSpPr>
        <p:spPr>
          <a:xfrm>
            <a:off x="5077846" y="2670048"/>
            <a:ext cx="2036003" cy="1371600"/>
          </a:xfrm>
          <a:prstGeom prst="roundRect">
            <a:avLst>
              <a:gd name="adj" fmla="val 5333"/>
            </a:avLst>
          </a:prstGeom>
          <a:solidFill>
            <a:srgbClr val="0D1128"/>
          </a:solidFill>
          <a:ln w="12700">
            <a:solidFill>
              <a:srgbClr val="1A2040"/>
            </a:solidFill>
            <a:prstDash val="solid"/>
          </a:ln>
        </p:spPr>
      </p:sp>
      <p:pic>
        <p:nvPicPr>
          <p:cNvPr id="30" name="Image 2" descr="preencoded.png"/>
          <p:cNvPicPr>
            <a:picLocks noChangeAspect="1"/>
          </p:cNvPicPr>
          <p:nvPr/>
        </p:nvPicPr>
        <p:blipFill>
          <a:blip r:embed="rId5"/>
          <a:stretch>
            <a:fillRect/>
          </a:stretch>
        </p:blipFill>
        <p:spPr>
          <a:xfrm>
            <a:off x="5242438" y="2834640"/>
            <a:ext cx="292608" cy="292608"/>
          </a:xfrm>
          <a:prstGeom prst="rect">
            <a:avLst/>
          </a:prstGeom>
        </p:spPr>
      </p:pic>
      <p:sp>
        <p:nvSpPr>
          <p:cNvPr id="31" name="Text 26"/>
          <p:cNvSpPr/>
          <p:nvPr/>
        </p:nvSpPr>
        <p:spPr>
          <a:xfrm>
            <a:off x="6711513" y="2798064"/>
            <a:ext cx="274320"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3</a:t>
            </a:r>
            <a:endParaRPr lang="en-US" sz="1300" dirty="0"/>
          </a:p>
        </p:txBody>
      </p:sp>
      <p:sp>
        <p:nvSpPr>
          <p:cNvPr id="32" name="Text 27"/>
          <p:cNvSpPr/>
          <p:nvPr/>
        </p:nvSpPr>
        <p:spPr>
          <a:xfrm>
            <a:off x="5242438" y="3182112"/>
            <a:ext cx="1706819" cy="457200"/>
          </a:xfrm>
          <a:prstGeom prst="rect">
            <a:avLst/>
          </a:prstGeom>
          <a:noFill/>
          <a:ln/>
        </p:spPr>
        <p:txBody>
          <a:bodyPr wrap="square" lIns="0" tIns="0" rIns="0" bIns="0" rtlCol="0" anchor="t"/>
          <a:lstStyle/>
          <a:p>
            <a:pPr marL="0" indent="0">
              <a:lnSpc>
                <a:spcPts val="1300"/>
              </a:lnSpc>
              <a:buNone/>
            </a:pPr>
            <a:r>
              <a:rPr lang="en-US" sz="1150" b="1" dirty="0">
                <a:solidFill>
                  <a:srgbClr val="F4F6FF"/>
                </a:solidFill>
                <a:latin typeface="Calibri" pitchFamily="34" charset="0"/>
                <a:ea typeface="Calibri" pitchFamily="34" charset="-122"/>
                <a:cs typeface="Calibri" pitchFamily="34" charset="-120"/>
              </a:rPr>
              <a:t>Strategy &amp; Reasoning</a:t>
            </a:r>
            <a:endParaRPr lang="en-US" sz="1150" dirty="0"/>
          </a:p>
        </p:txBody>
      </p:sp>
      <p:sp>
        <p:nvSpPr>
          <p:cNvPr id="33" name="Text 28"/>
          <p:cNvSpPr/>
          <p:nvPr/>
        </p:nvSpPr>
        <p:spPr>
          <a:xfrm>
            <a:off x="5242438" y="3621024"/>
            <a:ext cx="1706819" cy="365760"/>
          </a:xfrm>
          <a:prstGeom prst="rect">
            <a:avLst/>
          </a:prstGeom>
          <a:noFill/>
          <a:ln/>
        </p:spPr>
        <p:txBody>
          <a:bodyPr wrap="square" lIns="0" tIns="0" rIns="0" bIns="0" rtlCol="0" anchor="t"/>
          <a:lstStyle/>
          <a:p>
            <a:pPr marL="0" indent="0">
              <a:lnSpc>
                <a:spcPts val="1050"/>
              </a:lnSpc>
              <a:buNone/>
            </a:pPr>
            <a:r>
              <a:rPr lang="en-US" sz="850" dirty="0">
                <a:solidFill>
                  <a:srgbClr val="A8B4CC"/>
                </a:solidFill>
                <a:latin typeface="Calibri" pitchFamily="34" charset="0"/>
                <a:ea typeface="Calibri" pitchFamily="34" charset="-122"/>
                <a:cs typeface="Calibri" pitchFamily="34" charset="-120"/>
              </a:rPr>
              <a:t>Optimizer call · rationale · citations</a:t>
            </a:r>
            <a:endParaRPr lang="en-US" sz="850" dirty="0"/>
          </a:p>
        </p:txBody>
      </p:sp>
      <p:sp>
        <p:nvSpPr>
          <p:cNvPr id="34" name="Shape 29"/>
          <p:cNvSpPr/>
          <p:nvPr/>
        </p:nvSpPr>
        <p:spPr>
          <a:xfrm>
            <a:off x="7132137" y="3355848"/>
            <a:ext cx="146304" cy="0"/>
          </a:xfrm>
          <a:prstGeom prst="line">
            <a:avLst/>
          </a:prstGeom>
          <a:noFill/>
          <a:ln w="15875">
            <a:solidFill>
              <a:srgbClr val="2A3560"/>
            </a:solidFill>
            <a:prstDash val="solid"/>
            <a:tailEnd type="triangle"/>
          </a:ln>
        </p:spPr>
      </p:sp>
      <p:sp>
        <p:nvSpPr>
          <p:cNvPr id="35" name="Shape 30"/>
          <p:cNvSpPr/>
          <p:nvPr/>
        </p:nvSpPr>
        <p:spPr>
          <a:xfrm>
            <a:off x="7296729" y="2670048"/>
            <a:ext cx="2036003" cy="1371600"/>
          </a:xfrm>
          <a:prstGeom prst="roundRect">
            <a:avLst>
              <a:gd name="adj" fmla="val 5333"/>
            </a:avLst>
          </a:prstGeom>
          <a:solidFill>
            <a:srgbClr val="0D1128"/>
          </a:solidFill>
          <a:ln w="12700">
            <a:solidFill>
              <a:srgbClr val="F5A623"/>
            </a:solidFill>
            <a:prstDash val="solid"/>
          </a:ln>
        </p:spPr>
      </p:sp>
      <p:pic>
        <p:nvPicPr>
          <p:cNvPr id="36" name="Image 3" descr="preencoded.png"/>
          <p:cNvPicPr>
            <a:picLocks noChangeAspect="1"/>
          </p:cNvPicPr>
          <p:nvPr/>
        </p:nvPicPr>
        <p:blipFill>
          <a:blip r:embed="rId6"/>
          <a:stretch>
            <a:fillRect/>
          </a:stretch>
        </p:blipFill>
        <p:spPr>
          <a:xfrm>
            <a:off x="7461321" y="2834640"/>
            <a:ext cx="292608" cy="292608"/>
          </a:xfrm>
          <a:prstGeom prst="rect">
            <a:avLst/>
          </a:prstGeom>
        </p:spPr>
      </p:pic>
      <p:sp>
        <p:nvSpPr>
          <p:cNvPr id="37" name="Text 31"/>
          <p:cNvSpPr/>
          <p:nvPr/>
        </p:nvSpPr>
        <p:spPr>
          <a:xfrm>
            <a:off x="8930396" y="2798064"/>
            <a:ext cx="274320"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4</a:t>
            </a:r>
            <a:endParaRPr lang="en-US" sz="1300" dirty="0"/>
          </a:p>
        </p:txBody>
      </p:sp>
      <p:sp>
        <p:nvSpPr>
          <p:cNvPr id="38" name="Text 32"/>
          <p:cNvSpPr/>
          <p:nvPr/>
        </p:nvSpPr>
        <p:spPr>
          <a:xfrm>
            <a:off x="7461321" y="3182112"/>
            <a:ext cx="1706819" cy="457200"/>
          </a:xfrm>
          <a:prstGeom prst="rect">
            <a:avLst/>
          </a:prstGeom>
          <a:noFill/>
          <a:ln/>
        </p:spPr>
        <p:txBody>
          <a:bodyPr wrap="square" lIns="0" tIns="0" rIns="0" bIns="0" rtlCol="0" anchor="t"/>
          <a:lstStyle/>
          <a:p>
            <a:pPr marL="0" indent="0">
              <a:lnSpc>
                <a:spcPts val="1300"/>
              </a:lnSpc>
              <a:buNone/>
            </a:pPr>
            <a:r>
              <a:rPr lang="en-US" sz="1150" b="1" dirty="0">
                <a:solidFill>
                  <a:srgbClr val="F5A623"/>
                </a:solidFill>
                <a:latin typeface="Calibri" pitchFamily="34" charset="0"/>
                <a:ea typeface="Calibri" pitchFamily="34" charset="-122"/>
                <a:cs typeface="Calibri" pitchFamily="34" charset="-120"/>
              </a:rPr>
              <a:t>Validation &amp; Compliance</a:t>
            </a:r>
            <a:endParaRPr lang="en-US" sz="1150" dirty="0"/>
          </a:p>
        </p:txBody>
      </p:sp>
      <p:sp>
        <p:nvSpPr>
          <p:cNvPr id="39" name="Text 33"/>
          <p:cNvSpPr/>
          <p:nvPr/>
        </p:nvSpPr>
        <p:spPr>
          <a:xfrm>
            <a:off x="7461321" y="3621024"/>
            <a:ext cx="1706819" cy="365760"/>
          </a:xfrm>
          <a:prstGeom prst="rect">
            <a:avLst/>
          </a:prstGeom>
          <a:noFill/>
          <a:ln/>
        </p:spPr>
        <p:txBody>
          <a:bodyPr wrap="square" lIns="0" tIns="0" rIns="0" bIns="0" rtlCol="0" anchor="t"/>
          <a:lstStyle/>
          <a:p>
            <a:pPr marL="0" indent="0">
              <a:lnSpc>
                <a:spcPts val="1050"/>
              </a:lnSpc>
              <a:buNone/>
            </a:pPr>
            <a:r>
              <a:rPr lang="en-US" sz="850" dirty="0">
                <a:solidFill>
                  <a:srgbClr val="A8B4CC"/>
                </a:solidFill>
                <a:latin typeface="Calibri" pitchFamily="34" charset="0"/>
                <a:ea typeface="Calibri" pitchFamily="34" charset="-122"/>
                <a:cs typeface="Calibri" pitchFamily="34" charset="-120"/>
              </a:rPr>
              <a:t>Rule veto · bands · stability</a:t>
            </a:r>
            <a:endParaRPr lang="en-US" sz="850" dirty="0"/>
          </a:p>
        </p:txBody>
      </p:sp>
      <p:sp>
        <p:nvSpPr>
          <p:cNvPr id="40" name="Shape 34"/>
          <p:cNvSpPr/>
          <p:nvPr/>
        </p:nvSpPr>
        <p:spPr>
          <a:xfrm>
            <a:off x="9351020" y="3355848"/>
            <a:ext cx="146304" cy="0"/>
          </a:xfrm>
          <a:prstGeom prst="line">
            <a:avLst/>
          </a:prstGeom>
          <a:noFill/>
          <a:ln w="15875">
            <a:solidFill>
              <a:srgbClr val="2A3560"/>
            </a:solidFill>
            <a:prstDash val="solid"/>
            <a:tailEnd type="triangle"/>
          </a:ln>
        </p:spPr>
      </p:sp>
      <p:sp>
        <p:nvSpPr>
          <p:cNvPr id="41" name="Shape 35"/>
          <p:cNvSpPr/>
          <p:nvPr/>
        </p:nvSpPr>
        <p:spPr>
          <a:xfrm>
            <a:off x="9515612" y="2670048"/>
            <a:ext cx="2036003" cy="1371600"/>
          </a:xfrm>
          <a:prstGeom prst="roundRect">
            <a:avLst>
              <a:gd name="adj" fmla="val 5333"/>
            </a:avLst>
          </a:prstGeom>
          <a:solidFill>
            <a:srgbClr val="0D1128"/>
          </a:solidFill>
          <a:ln w="12700">
            <a:solidFill>
              <a:srgbClr val="1A2040"/>
            </a:solidFill>
            <a:prstDash val="solid"/>
          </a:ln>
        </p:spPr>
      </p:sp>
      <p:pic>
        <p:nvPicPr>
          <p:cNvPr id="42" name="Image 4" descr="preencoded.png"/>
          <p:cNvPicPr>
            <a:picLocks noChangeAspect="1"/>
          </p:cNvPicPr>
          <p:nvPr/>
        </p:nvPicPr>
        <p:blipFill>
          <a:blip r:embed="rId7"/>
          <a:stretch>
            <a:fillRect/>
          </a:stretch>
        </p:blipFill>
        <p:spPr>
          <a:xfrm>
            <a:off x="9680204" y="2834640"/>
            <a:ext cx="292608" cy="292608"/>
          </a:xfrm>
          <a:prstGeom prst="rect">
            <a:avLst/>
          </a:prstGeom>
        </p:spPr>
      </p:pic>
      <p:sp>
        <p:nvSpPr>
          <p:cNvPr id="43" name="Text 36"/>
          <p:cNvSpPr/>
          <p:nvPr/>
        </p:nvSpPr>
        <p:spPr>
          <a:xfrm>
            <a:off x="11149279" y="2798064"/>
            <a:ext cx="274320"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5</a:t>
            </a:r>
            <a:endParaRPr lang="en-US" sz="1300" dirty="0"/>
          </a:p>
        </p:txBody>
      </p:sp>
      <p:sp>
        <p:nvSpPr>
          <p:cNvPr id="44" name="Text 37"/>
          <p:cNvSpPr/>
          <p:nvPr/>
        </p:nvSpPr>
        <p:spPr>
          <a:xfrm>
            <a:off x="9680204" y="3182112"/>
            <a:ext cx="1706819" cy="457200"/>
          </a:xfrm>
          <a:prstGeom prst="rect">
            <a:avLst/>
          </a:prstGeom>
          <a:noFill/>
          <a:ln/>
        </p:spPr>
        <p:txBody>
          <a:bodyPr wrap="square" lIns="0" tIns="0" rIns="0" bIns="0" rtlCol="0" anchor="t"/>
          <a:lstStyle/>
          <a:p>
            <a:pPr marL="0" indent="0">
              <a:lnSpc>
                <a:spcPts val="1300"/>
              </a:lnSpc>
              <a:buNone/>
            </a:pPr>
            <a:r>
              <a:rPr lang="en-US" sz="1150" b="1" dirty="0">
                <a:solidFill>
                  <a:srgbClr val="F4F6FF"/>
                </a:solidFill>
                <a:latin typeface="Calibri" pitchFamily="34" charset="0"/>
                <a:ea typeface="Calibri" pitchFamily="34" charset="-122"/>
                <a:cs typeface="Calibri" pitchFamily="34" charset="-120"/>
              </a:rPr>
              <a:t>Execution</a:t>
            </a:r>
            <a:endParaRPr lang="en-US" sz="1150" dirty="0"/>
          </a:p>
        </p:txBody>
      </p:sp>
      <p:sp>
        <p:nvSpPr>
          <p:cNvPr id="45" name="Text 38"/>
          <p:cNvSpPr/>
          <p:nvPr/>
        </p:nvSpPr>
        <p:spPr>
          <a:xfrm>
            <a:off x="9680204" y="3621024"/>
            <a:ext cx="1706819" cy="365760"/>
          </a:xfrm>
          <a:prstGeom prst="rect">
            <a:avLst/>
          </a:prstGeom>
          <a:noFill/>
          <a:ln/>
        </p:spPr>
        <p:txBody>
          <a:bodyPr wrap="square" lIns="0" tIns="0" rIns="0" bIns="0" rtlCol="0" anchor="t"/>
          <a:lstStyle/>
          <a:p>
            <a:pPr marL="0" indent="0">
              <a:lnSpc>
                <a:spcPts val="1050"/>
              </a:lnSpc>
              <a:buNone/>
            </a:pPr>
            <a:r>
              <a:rPr lang="en-US" sz="850" dirty="0">
                <a:solidFill>
                  <a:srgbClr val="A8B4CC"/>
                </a:solidFill>
                <a:latin typeface="Calibri" pitchFamily="34" charset="0"/>
                <a:ea typeface="Calibri" pitchFamily="34" charset="-122"/>
                <a:cs typeface="Calibri" pitchFamily="34" charset="-120"/>
              </a:rPr>
              <a:t>Idempotent push · audit (no LLM)</a:t>
            </a:r>
            <a:endParaRPr lang="en-US" sz="850" dirty="0"/>
          </a:p>
        </p:txBody>
      </p:sp>
      <p:sp>
        <p:nvSpPr>
          <p:cNvPr id="46" name="Text 39"/>
          <p:cNvSpPr/>
          <p:nvPr/>
        </p:nvSpPr>
        <p:spPr>
          <a:xfrm>
            <a:off x="640080" y="4151376"/>
            <a:ext cx="10911535" cy="219456"/>
          </a:xfrm>
          <a:prstGeom prst="rect">
            <a:avLst/>
          </a:prstGeom>
          <a:noFill/>
          <a:ln/>
        </p:spPr>
        <p:txBody>
          <a:bodyPr wrap="square" lIns="0" tIns="0" rIns="0" bIns="0" rtlCol="0" anchor="ctr"/>
          <a:lstStyle/>
          <a:p>
            <a:pPr marL="0" indent="0" algn="ctr">
              <a:buNone/>
            </a:pPr>
            <a:r>
              <a:rPr lang="en-US" sz="900" dirty="0">
                <a:solidFill>
                  <a:srgbClr val="6A7590"/>
                </a:solidFill>
                <a:latin typeface="Calibri" pitchFamily="34" charset="0"/>
                <a:ea typeface="Calibri" pitchFamily="34" charset="-122"/>
                <a:cs typeface="Calibri" pitchFamily="34" charset="-120"/>
              </a:rPr>
              <a:t>LangGraph state machine · checkpointed to SQLite · human approval gate is a true graph interrupt</a:t>
            </a:r>
            <a:endParaRPr lang="en-US" sz="900" dirty="0"/>
          </a:p>
        </p:txBody>
      </p:sp>
      <p:sp>
        <p:nvSpPr>
          <p:cNvPr id="47" name="Shape 40"/>
          <p:cNvSpPr/>
          <p:nvPr/>
        </p:nvSpPr>
        <p:spPr>
          <a:xfrm>
            <a:off x="640080" y="4681728"/>
            <a:ext cx="2286000" cy="640080"/>
          </a:xfrm>
          <a:prstGeom prst="roundRect">
            <a:avLst>
              <a:gd name="adj" fmla="val 11429"/>
            </a:avLst>
          </a:prstGeom>
          <a:solidFill>
            <a:srgbClr val="0D1128"/>
          </a:solidFill>
          <a:ln w="12700">
            <a:solidFill>
              <a:srgbClr val="1A2040"/>
            </a:solidFill>
            <a:prstDash val="solid"/>
          </a:ln>
        </p:spPr>
      </p:sp>
      <p:sp>
        <p:nvSpPr>
          <p:cNvPr id="48" name="Text 41"/>
          <p:cNvSpPr/>
          <p:nvPr/>
        </p:nvSpPr>
        <p:spPr>
          <a:xfrm>
            <a:off x="786384" y="4773168"/>
            <a:ext cx="1993392" cy="256032"/>
          </a:xfrm>
          <a:prstGeom prst="rect">
            <a:avLst/>
          </a:prstGeom>
          <a:noFill/>
          <a:ln/>
        </p:spPr>
        <p:txBody>
          <a:bodyPr wrap="square" lIns="0" tIns="0" rIns="0" bIns="0" rtlCol="0" anchor="ctr"/>
          <a:lstStyle/>
          <a:p>
            <a:pPr marL="0" indent="0">
              <a:buNone/>
            </a:pPr>
            <a:r>
              <a:rPr lang="en-US" sz="1150" b="1" dirty="0">
                <a:solidFill>
                  <a:srgbClr val="4FC3F7"/>
                </a:solidFill>
                <a:latin typeface="Calibri" pitchFamily="34" charset="0"/>
                <a:ea typeface="Calibri" pitchFamily="34" charset="-122"/>
                <a:cs typeface="Calibri" pitchFamily="34" charset="-120"/>
              </a:rPr>
              <a:t>Auto-approve</a:t>
            </a:r>
            <a:endParaRPr lang="en-US" sz="1150" dirty="0"/>
          </a:p>
        </p:txBody>
      </p:sp>
      <p:sp>
        <p:nvSpPr>
          <p:cNvPr id="49" name="Text 42"/>
          <p:cNvSpPr/>
          <p:nvPr/>
        </p:nvSpPr>
        <p:spPr>
          <a:xfrm>
            <a:off x="786384" y="5029200"/>
            <a:ext cx="1993392" cy="219456"/>
          </a:xfrm>
          <a:prstGeom prst="rect">
            <a:avLst/>
          </a:prstGeom>
          <a:noFill/>
          <a:ln/>
        </p:spPr>
        <p:txBody>
          <a:bodyPr wrap="square" lIns="0" tIns="0" rIns="0" bIns="0" rtlCol="0" anchor="ctr"/>
          <a:lstStyle/>
          <a:p>
            <a:pPr marL="0" indent="0">
              <a:buNone/>
            </a:pPr>
            <a:r>
              <a:rPr lang="en-US" sz="900" dirty="0">
                <a:solidFill>
                  <a:srgbClr val="A8B4CC"/>
                </a:solidFill>
                <a:latin typeface="Calibri" pitchFamily="34" charset="0"/>
                <a:ea typeface="Calibri" pitchFamily="34" charset="-122"/>
                <a:cs typeface="Calibri" pitchFamily="34" charset="-120"/>
              </a:rPr>
              <a:t>pushed immediately</a:t>
            </a:r>
            <a:endParaRPr lang="en-US" sz="900" dirty="0"/>
          </a:p>
        </p:txBody>
      </p:sp>
      <p:sp>
        <p:nvSpPr>
          <p:cNvPr id="50" name="Shape 43"/>
          <p:cNvSpPr/>
          <p:nvPr/>
        </p:nvSpPr>
        <p:spPr>
          <a:xfrm>
            <a:off x="3145536" y="4681728"/>
            <a:ext cx="2286000" cy="640080"/>
          </a:xfrm>
          <a:prstGeom prst="roundRect">
            <a:avLst>
              <a:gd name="adj" fmla="val 11429"/>
            </a:avLst>
          </a:prstGeom>
          <a:solidFill>
            <a:srgbClr val="0D1128"/>
          </a:solidFill>
          <a:ln w="12700">
            <a:solidFill>
              <a:srgbClr val="1A2040"/>
            </a:solidFill>
            <a:prstDash val="solid"/>
          </a:ln>
        </p:spPr>
      </p:sp>
      <p:sp>
        <p:nvSpPr>
          <p:cNvPr id="51" name="Text 44"/>
          <p:cNvSpPr/>
          <p:nvPr/>
        </p:nvSpPr>
        <p:spPr>
          <a:xfrm>
            <a:off x="3291840" y="4773168"/>
            <a:ext cx="1993392" cy="256032"/>
          </a:xfrm>
          <a:prstGeom prst="rect">
            <a:avLst/>
          </a:prstGeom>
          <a:noFill/>
          <a:ln/>
        </p:spPr>
        <p:txBody>
          <a:bodyPr wrap="square" lIns="0" tIns="0" rIns="0" bIns="0" rtlCol="0" anchor="ctr"/>
          <a:lstStyle/>
          <a:p>
            <a:pPr marL="0" indent="0">
              <a:buNone/>
            </a:pPr>
            <a:r>
              <a:rPr lang="en-US" sz="1150" b="1" dirty="0">
                <a:solidFill>
                  <a:srgbClr val="4FC3F7"/>
                </a:solidFill>
                <a:latin typeface="Calibri" pitchFamily="34" charset="0"/>
                <a:ea typeface="Calibri" pitchFamily="34" charset="-122"/>
                <a:cs typeface="Calibri" pitchFamily="34" charset="-120"/>
              </a:rPr>
              <a:t>Review queue</a:t>
            </a:r>
            <a:endParaRPr lang="en-US" sz="1150" dirty="0"/>
          </a:p>
        </p:txBody>
      </p:sp>
      <p:sp>
        <p:nvSpPr>
          <p:cNvPr id="52" name="Text 45"/>
          <p:cNvSpPr/>
          <p:nvPr/>
        </p:nvSpPr>
        <p:spPr>
          <a:xfrm>
            <a:off x="3291840" y="5029200"/>
            <a:ext cx="1993392" cy="219456"/>
          </a:xfrm>
          <a:prstGeom prst="rect">
            <a:avLst/>
          </a:prstGeom>
          <a:noFill/>
          <a:ln/>
        </p:spPr>
        <p:txBody>
          <a:bodyPr wrap="square" lIns="0" tIns="0" rIns="0" bIns="0" rtlCol="0" anchor="ctr"/>
          <a:lstStyle/>
          <a:p>
            <a:pPr marL="0" indent="0">
              <a:buNone/>
            </a:pPr>
            <a:r>
              <a:rPr lang="en-US" sz="900" dirty="0">
                <a:solidFill>
                  <a:srgbClr val="A8B4CC"/>
                </a:solidFill>
                <a:latin typeface="Calibri" pitchFamily="34" charset="0"/>
                <a:ea typeface="Calibri" pitchFamily="34" charset="-122"/>
                <a:cs typeface="Calibri" pitchFamily="34" charset="-120"/>
              </a:rPr>
              <a:t>human decision</a:t>
            </a:r>
            <a:endParaRPr lang="en-US" sz="900" dirty="0"/>
          </a:p>
        </p:txBody>
      </p:sp>
      <p:sp>
        <p:nvSpPr>
          <p:cNvPr id="53" name="Shape 46"/>
          <p:cNvSpPr/>
          <p:nvPr/>
        </p:nvSpPr>
        <p:spPr>
          <a:xfrm>
            <a:off x="5650992" y="4681728"/>
            <a:ext cx="2286000" cy="640080"/>
          </a:xfrm>
          <a:prstGeom prst="roundRect">
            <a:avLst>
              <a:gd name="adj" fmla="val 11429"/>
            </a:avLst>
          </a:prstGeom>
          <a:solidFill>
            <a:srgbClr val="0D1128"/>
          </a:solidFill>
          <a:ln w="12700">
            <a:solidFill>
              <a:srgbClr val="F5A623"/>
            </a:solidFill>
            <a:prstDash val="solid"/>
          </a:ln>
        </p:spPr>
      </p:sp>
      <p:sp>
        <p:nvSpPr>
          <p:cNvPr id="54" name="Text 47"/>
          <p:cNvSpPr/>
          <p:nvPr/>
        </p:nvSpPr>
        <p:spPr>
          <a:xfrm>
            <a:off x="5797296" y="4773168"/>
            <a:ext cx="1993392" cy="256032"/>
          </a:xfrm>
          <a:prstGeom prst="rect">
            <a:avLst/>
          </a:prstGeom>
          <a:noFill/>
          <a:ln/>
        </p:spPr>
        <p:txBody>
          <a:bodyPr wrap="square" lIns="0" tIns="0" rIns="0" bIns="0" rtlCol="0" anchor="ctr"/>
          <a:lstStyle/>
          <a:p>
            <a:pPr marL="0" indent="0">
              <a:buNone/>
            </a:pPr>
            <a:r>
              <a:rPr lang="en-US" sz="1150" b="1" dirty="0">
                <a:solidFill>
                  <a:srgbClr val="F5A623"/>
                </a:solidFill>
                <a:latin typeface="Calibri" pitchFamily="34" charset="0"/>
                <a:ea typeface="Calibri" pitchFamily="34" charset="-122"/>
                <a:cs typeface="Calibri" pitchFamily="34" charset="-120"/>
              </a:rPr>
              <a:t>Escalate</a:t>
            </a:r>
            <a:endParaRPr lang="en-US" sz="1150" dirty="0"/>
          </a:p>
        </p:txBody>
      </p:sp>
      <p:sp>
        <p:nvSpPr>
          <p:cNvPr id="55" name="Text 48"/>
          <p:cNvSpPr/>
          <p:nvPr/>
        </p:nvSpPr>
        <p:spPr>
          <a:xfrm>
            <a:off x="5797296" y="5029200"/>
            <a:ext cx="1993392" cy="219456"/>
          </a:xfrm>
          <a:prstGeom prst="rect">
            <a:avLst/>
          </a:prstGeom>
          <a:noFill/>
          <a:ln/>
        </p:spPr>
        <p:txBody>
          <a:bodyPr wrap="square" lIns="0" tIns="0" rIns="0" bIns="0" rtlCol="0" anchor="ctr"/>
          <a:lstStyle/>
          <a:p>
            <a:pPr marL="0" indent="0">
              <a:buNone/>
            </a:pPr>
            <a:r>
              <a:rPr lang="en-US" sz="900" dirty="0">
                <a:solidFill>
                  <a:srgbClr val="A8B4CC"/>
                </a:solidFill>
                <a:latin typeface="Calibri" pitchFamily="34" charset="0"/>
                <a:ea typeface="Calibri" pitchFamily="34" charset="-122"/>
                <a:cs typeface="Calibri" pitchFamily="34" charset="-120"/>
              </a:rPr>
              <a:t>override — compliance never</a:t>
            </a:r>
            <a:endParaRPr lang="en-US" sz="900" dirty="0"/>
          </a:p>
        </p:txBody>
      </p:sp>
      <p:pic>
        <p:nvPicPr>
          <p:cNvPr id="56" name="Image 5" descr="preencoded.png"/>
          <p:cNvPicPr>
            <a:picLocks noChangeAspect="1"/>
          </p:cNvPicPr>
          <p:nvPr/>
        </p:nvPicPr>
        <p:blipFill>
          <a:blip r:embed="rId8"/>
          <a:stretch>
            <a:fillRect/>
          </a:stretch>
        </p:blipFill>
        <p:spPr>
          <a:xfrm>
            <a:off x="8247888" y="4736592"/>
            <a:ext cx="274320" cy="274320"/>
          </a:xfrm>
          <a:prstGeom prst="rect">
            <a:avLst/>
          </a:prstGeom>
        </p:spPr>
      </p:pic>
      <p:sp>
        <p:nvSpPr>
          <p:cNvPr id="57" name="Text 49"/>
          <p:cNvSpPr/>
          <p:nvPr/>
        </p:nvSpPr>
        <p:spPr>
          <a:xfrm>
            <a:off x="8613648" y="4681728"/>
            <a:ext cx="3120847" cy="640080"/>
          </a:xfrm>
          <a:prstGeom prst="rect">
            <a:avLst/>
          </a:prstGeom>
          <a:noFill/>
          <a:ln/>
        </p:spPr>
        <p:txBody>
          <a:bodyPr wrap="square" lIns="0" tIns="0" rIns="0" bIns="0" rtlCol="0" anchor="ctr"/>
          <a:lstStyle/>
          <a:p>
            <a:pPr marL="0" indent="0">
              <a:lnSpc>
                <a:spcPts val="1300"/>
              </a:lnSpc>
              <a:buNone/>
            </a:pPr>
            <a:r>
              <a:rPr lang="en-US" sz="1000" dirty="0">
                <a:solidFill>
                  <a:srgbClr val="A8B4CC"/>
                </a:solidFill>
                <a:latin typeface="Calibri" pitchFamily="34" charset="0"/>
                <a:ea typeface="Calibri" pitchFamily="34" charset="-122"/>
                <a:cs typeface="Calibri" pitchFamily="34" charset="-120"/>
              </a:rPr>
              <a:t>Outcome feedback loop — realized sales refine elasticity &amp; Monte Carlo inputs each run</a:t>
            </a:r>
            <a:endParaRPr lang="en-US" sz="1000" dirty="0"/>
          </a:p>
        </p:txBody>
      </p:sp>
      <p:sp>
        <p:nvSpPr>
          <p:cNvPr id="58" name="Shape 50"/>
          <p:cNvSpPr/>
          <p:nvPr/>
        </p:nvSpPr>
        <p:spPr>
          <a:xfrm>
            <a:off x="640080" y="5650992"/>
            <a:ext cx="10911535" cy="0"/>
          </a:xfrm>
          <a:prstGeom prst="line">
            <a:avLst/>
          </a:prstGeom>
          <a:noFill/>
          <a:ln w="12700">
            <a:solidFill>
              <a:srgbClr val="1A2040"/>
            </a:solidFill>
            <a:prstDash val="solid"/>
          </a:ln>
        </p:spPr>
      </p:sp>
      <p:pic>
        <p:nvPicPr>
          <p:cNvPr id="59" name="Image 6" descr="preencoded.png"/>
          <p:cNvPicPr>
            <a:picLocks noChangeAspect="1"/>
          </p:cNvPicPr>
          <p:nvPr/>
        </p:nvPicPr>
        <p:blipFill>
          <a:blip r:embed="rId9"/>
          <a:stretch>
            <a:fillRect/>
          </a:stretch>
        </p:blipFill>
        <p:spPr>
          <a:xfrm>
            <a:off x="1109116" y="5797296"/>
            <a:ext cx="274320" cy="274320"/>
          </a:xfrm>
          <a:prstGeom prst="rect">
            <a:avLst/>
          </a:prstGeom>
        </p:spPr>
      </p:pic>
      <p:sp>
        <p:nvSpPr>
          <p:cNvPr id="60" name="Text 51"/>
          <p:cNvSpPr/>
          <p:nvPr/>
        </p:nvSpPr>
        <p:spPr>
          <a:xfrm>
            <a:off x="640080" y="6126480"/>
            <a:ext cx="1212393" cy="219456"/>
          </a:xfrm>
          <a:prstGeom prst="rect">
            <a:avLst/>
          </a:prstGeom>
          <a:noFill/>
          <a:ln/>
        </p:spPr>
        <p:txBody>
          <a:bodyPr wrap="square" lIns="0" tIns="0" rIns="0" bIns="0" rtlCol="0" anchor="ctr"/>
          <a:lstStyle/>
          <a:p>
            <a:pPr marL="0" indent="0" algn="ctr">
              <a:buNone/>
            </a:pPr>
            <a:r>
              <a:rPr lang="en-US" sz="850" dirty="0">
                <a:solidFill>
                  <a:srgbClr val="6A7590"/>
                </a:solidFill>
                <a:latin typeface="Calibri" pitchFamily="34" charset="0"/>
                <a:ea typeface="Calibri" pitchFamily="34" charset="-122"/>
                <a:cs typeface="Calibri" pitchFamily="34" charset="-120"/>
              </a:rPr>
              <a:t>React</a:t>
            </a:r>
            <a:endParaRPr lang="en-US" sz="850" dirty="0"/>
          </a:p>
        </p:txBody>
      </p:sp>
      <p:pic>
        <p:nvPicPr>
          <p:cNvPr id="61" name="Image 7" descr="preencoded.png"/>
          <p:cNvPicPr>
            <a:picLocks noChangeAspect="1"/>
          </p:cNvPicPr>
          <p:nvPr/>
        </p:nvPicPr>
        <p:blipFill>
          <a:blip r:embed="rId10"/>
          <a:stretch>
            <a:fillRect/>
          </a:stretch>
        </p:blipFill>
        <p:spPr>
          <a:xfrm>
            <a:off x="2321509" y="5797296"/>
            <a:ext cx="274320" cy="274320"/>
          </a:xfrm>
          <a:prstGeom prst="rect">
            <a:avLst/>
          </a:prstGeom>
        </p:spPr>
      </p:pic>
      <p:sp>
        <p:nvSpPr>
          <p:cNvPr id="62" name="Text 52"/>
          <p:cNvSpPr/>
          <p:nvPr/>
        </p:nvSpPr>
        <p:spPr>
          <a:xfrm>
            <a:off x="1852473" y="6126480"/>
            <a:ext cx="1212393" cy="219456"/>
          </a:xfrm>
          <a:prstGeom prst="rect">
            <a:avLst/>
          </a:prstGeom>
          <a:noFill/>
          <a:ln/>
        </p:spPr>
        <p:txBody>
          <a:bodyPr wrap="square" lIns="0" tIns="0" rIns="0" bIns="0" rtlCol="0" anchor="ctr"/>
          <a:lstStyle/>
          <a:p>
            <a:pPr marL="0" indent="0" algn="ctr">
              <a:buNone/>
            </a:pPr>
            <a:r>
              <a:rPr lang="en-US" sz="850" dirty="0">
                <a:solidFill>
                  <a:srgbClr val="6A7590"/>
                </a:solidFill>
                <a:latin typeface="Calibri" pitchFamily="34" charset="0"/>
                <a:ea typeface="Calibri" pitchFamily="34" charset="-122"/>
                <a:cs typeface="Calibri" pitchFamily="34" charset="-120"/>
              </a:rPr>
              <a:t>Vite</a:t>
            </a:r>
            <a:endParaRPr lang="en-US" sz="850" dirty="0"/>
          </a:p>
        </p:txBody>
      </p:sp>
      <p:pic>
        <p:nvPicPr>
          <p:cNvPr id="63" name="Image 8" descr="preencoded.png"/>
          <p:cNvPicPr>
            <a:picLocks noChangeAspect="1"/>
          </p:cNvPicPr>
          <p:nvPr/>
        </p:nvPicPr>
        <p:blipFill>
          <a:blip r:embed="rId11"/>
          <a:stretch>
            <a:fillRect/>
          </a:stretch>
        </p:blipFill>
        <p:spPr>
          <a:xfrm>
            <a:off x="3533902" y="5797296"/>
            <a:ext cx="274320" cy="274320"/>
          </a:xfrm>
          <a:prstGeom prst="rect">
            <a:avLst/>
          </a:prstGeom>
        </p:spPr>
      </p:pic>
      <p:sp>
        <p:nvSpPr>
          <p:cNvPr id="64" name="Text 53"/>
          <p:cNvSpPr/>
          <p:nvPr/>
        </p:nvSpPr>
        <p:spPr>
          <a:xfrm>
            <a:off x="3064866" y="6126480"/>
            <a:ext cx="1212393" cy="219456"/>
          </a:xfrm>
          <a:prstGeom prst="rect">
            <a:avLst/>
          </a:prstGeom>
          <a:noFill/>
          <a:ln/>
        </p:spPr>
        <p:txBody>
          <a:bodyPr wrap="square" lIns="0" tIns="0" rIns="0" bIns="0" rtlCol="0" anchor="ctr"/>
          <a:lstStyle/>
          <a:p>
            <a:pPr marL="0" indent="0" algn="ctr">
              <a:buNone/>
            </a:pPr>
            <a:r>
              <a:rPr lang="en-US" sz="850" dirty="0">
                <a:solidFill>
                  <a:srgbClr val="6A7590"/>
                </a:solidFill>
                <a:latin typeface="Calibri" pitchFamily="34" charset="0"/>
                <a:ea typeface="Calibri" pitchFamily="34" charset="-122"/>
                <a:cs typeface="Calibri" pitchFamily="34" charset="-120"/>
              </a:rPr>
              <a:t>Tailwind</a:t>
            </a:r>
            <a:endParaRPr lang="en-US" sz="850" dirty="0"/>
          </a:p>
        </p:txBody>
      </p:sp>
      <p:pic>
        <p:nvPicPr>
          <p:cNvPr id="65" name="Image 9" descr="preencoded.png"/>
          <p:cNvPicPr>
            <a:picLocks noChangeAspect="1"/>
          </p:cNvPicPr>
          <p:nvPr/>
        </p:nvPicPr>
        <p:blipFill>
          <a:blip r:embed="rId12"/>
          <a:stretch>
            <a:fillRect/>
          </a:stretch>
        </p:blipFill>
        <p:spPr>
          <a:xfrm>
            <a:off x="4746295" y="5797296"/>
            <a:ext cx="274320" cy="274320"/>
          </a:xfrm>
          <a:prstGeom prst="rect">
            <a:avLst/>
          </a:prstGeom>
        </p:spPr>
      </p:pic>
      <p:sp>
        <p:nvSpPr>
          <p:cNvPr id="66" name="Text 54"/>
          <p:cNvSpPr/>
          <p:nvPr/>
        </p:nvSpPr>
        <p:spPr>
          <a:xfrm>
            <a:off x="4277258" y="6126480"/>
            <a:ext cx="1212393" cy="219456"/>
          </a:xfrm>
          <a:prstGeom prst="rect">
            <a:avLst/>
          </a:prstGeom>
          <a:noFill/>
          <a:ln/>
        </p:spPr>
        <p:txBody>
          <a:bodyPr wrap="square" lIns="0" tIns="0" rIns="0" bIns="0" rtlCol="0" anchor="ctr"/>
          <a:lstStyle/>
          <a:p>
            <a:pPr marL="0" indent="0" algn="ctr">
              <a:buNone/>
            </a:pPr>
            <a:r>
              <a:rPr lang="en-US" sz="850" dirty="0">
                <a:solidFill>
                  <a:srgbClr val="6A7590"/>
                </a:solidFill>
                <a:latin typeface="Calibri" pitchFamily="34" charset="0"/>
                <a:ea typeface="Calibri" pitchFamily="34" charset="-122"/>
                <a:cs typeface="Calibri" pitchFamily="34" charset="-120"/>
              </a:rPr>
              <a:t>FastAPI</a:t>
            </a:r>
            <a:endParaRPr lang="en-US" sz="850" dirty="0"/>
          </a:p>
        </p:txBody>
      </p:sp>
      <p:pic>
        <p:nvPicPr>
          <p:cNvPr id="67" name="Image 10" descr="preencoded.png"/>
          <p:cNvPicPr>
            <a:picLocks noChangeAspect="1"/>
          </p:cNvPicPr>
          <p:nvPr/>
        </p:nvPicPr>
        <p:blipFill>
          <a:blip r:embed="rId13"/>
          <a:stretch>
            <a:fillRect/>
          </a:stretch>
        </p:blipFill>
        <p:spPr>
          <a:xfrm>
            <a:off x="5958688" y="5797296"/>
            <a:ext cx="274320" cy="274320"/>
          </a:xfrm>
          <a:prstGeom prst="rect">
            <a:avLst/>
          </a:prstGeom>
        </p:spPr>
      </p:pic>
      <p:sp>
        <p:nvSpPr>
          <p:cNvPr id="68" name="Text 55"/>
          <p:cNvSpPr/>
          <p:nvPr/>
        </p:nvSpPr>
        <p:spPr>
          <a:xfrm>
            <a:off x="5489651" y="6126480"/>
            <a:ext cx="1212393" cy="219456"/>
          </a:xfrm>
          <a:prstGeom prst="rect">
            <a:avLst/>
          </a:prstGeom>
          <a:noFill/>
          <a:ln/>
        </p:spPr>
        <p:txBody>
          <a:bodyPr wrap="square" lIns="0" tIns="0" rIns="0" bIns="0" rtlCol="0" anchor="ctr"/>
          <a:lstStyle/>
          <a:p>
            <a:pPr marL="0" indent="0" algn="ctr">
              <a:buNone/>
            </a:pPr>
            <a:r>
              <a:rPr lang="en-US" sz="850" dirty="0">
                <a:solidFill>
                  <a:srgbClr val="6A7590"/>
                </a:solidFill>
                <a:latin typeface="Calibri" pitchFamily="34" charset="0"/>
                <a:ea typeface="Calibri" pitchFamily="34" charset="-122"/>
                <a:cs typeface="Calibri" pitchFamily="34" charset="-120"/>
              </a:rPr>
              <a:t>Python</a:t>
            </a:r>
            <a:endParaRPr lang="en-US" sz="850" dirty="0"/>
          </a:p>
        </p:txBody>
      </p:sp>
      <p:pic>
        <p:nvPicPr>
          <p:cNvPr id="69" name="Image 11" descr="preencoded.png"/>
          <p:cNvPicPr>
            <a:picLocks noChangeAspect="1"/>
          </p:cNvPicPr>
          <p:nvPr/>
        </p:nvPicPr>
        <p:blipFill>
          <a:blip r:embed="rId14"/>
          <a:stretch>
            <a:fillRect/>
          </a:stretch>
        </p:blipFill>
        <p:spPr>
          <a:xfrm>
            <a:off x="7171080" y="5797296"/>
            <a:ext cx="274320" cy="274320"/>
          </a:xfrm>
          <a:prstGeom prst="rect">
            <a:avLst/>
          </a:prstGeom>
        </p:spPr>
      </p:pic>
      <p:sp>
        <p:nvSpPr>
          <p:cNvPr id="70" name="Text 56"/>
          <p:cNvSpPr/>
          <p:nvPr/>
        </p:nvSpPr>
        <p:spPr>
          <a:xfrm>
            <a:off x="6702044" y="6126480"/>
            <a:ext cx="1212393" cy="219456"/>
          </a:xfrm>
          <a:prstGeom prst="rect">
            <a:avLst/>
          </a:prstGeom>
          <a:noFill/>
          <a:ln/>
        </p:spPr>
        <p:txBody>
          <a:bodyPr wrap="square" lIns="0" tIns="0" rIns="0" bIns="0" rtlCol="0" anchor="ctr"/>
          <a:lstStyle/>
          <a:p>
            <a:pPr marL="0" indent="0" algn="ctr">
              <a:buNone/>
            </a:pPr>
            <a:r>
              <a:rPr lang="en-US" sz="850" dirty="0">
                <a:solidFill>
                  <a:srgbClr val="6A7590"/>
                </a:solidFill>
                <a:latin typeface="Calibri" pitchFamily="34" charset="0"/>
                <a:ea typeface="Calibri" pitchFamily="34" charset="-122"/>
                <a:cs typeface="Calibri" pitchFamily="34" charset="-120"/>
              </a:rPr>
              <a:t>LangGraph</a:t>
            </a:r>
            <a:endParaRPr lang="en-US" sz="850" dirty="0"/>
          </a:p>
        </p:txBody>
      </p:sp>
      <p:pic>
        <p:nvPicPr>
          <p:cNvPr id="71" name="Image 12" descr="preencoded.png"/>
          <p:cNvPicPr>
            <a:picLocks noChangeAspect="1"/>
          </p:cNvPicPr>
          <p:nvPr/>
        </p:nvPicPr>
        <p:blipFill>
          <a:blip r:embed="rId15"/>
          <a:stretch>
            <a:fillRect/>
          </a:stretch>
        </p:blipFill>
        <p:spPr>
          <a:xfrm>
            <a:off x="8383473" y="5797296"/>
            <a:ext cx="274320" cy="274320"/>
          </a:xfrm>
          <a:prstGeom prst="rect">
            <a:avLst/>
          </a:prstGeom>
        </p:spPr>
      </p:pic>
      <p:sp>
        <p:nvSpPr>
          <p:cNvPr id="72" name="Text 57"/>
          <p:cNvSpPr/>
          <p:nvPr/>
        </p:nvSpPr>
        <p:spPr>
          <a:xfrm>
            <a:off x="7914437" y="6126480"/>
            <a:ext cx="1212393" cy="219456"/>
          </a:xfrm>
          <a:prstGeom prst="rect">
            <a:avLst/>
          </a:prstGeom>
          <a:noFill/>
          <a:ln/>
        </p:spPr>
        <p:txBody>
          <a:bodyPr wrap="square" lIns="0" tIns="0" rIns="0" bIns="0" rtlCol="0" anchor="ctr"/>
          <a:lstStyle/>
          <a:p>
            <a:pPr marL="0" indent="0" algn="ctr">
              <a:buNone/>
            </a:pPr>
            <a:r>
              <a:rPr lang="en-US" sz="850" dirty="0">
                <a:solidFill>
                  <a:srgbClr val="6A7590"/>
                </a:solidFill>
                <a:latin typeface="Calibri" pitchFamily="34" charset="0"/>
                <a:ea typeface="Calibri" pitchFamily="34" charset="-122"/>
                <a:cs typeface="Calibri" pitchFamily="34" charset="-120"/>
              </a:rPr>
              <a:t>ChromaDB</a:t>
            </a:r>
            <a:endParaRPr lang="en-US" sz="850" dirty="0"/>
          </a:p>
        </p:txBody>
      </p:sp>
      <p:pic>
        <p:nvPicPr>
          <p:cNvPr id="73" name="Image 13" descr="preencoded.png"/>
          <p:cNvPicPr>
            <a:picLocks noChangeAspect="1"/>
          </p:cNvPicPr>
          <p:nvPr/>
        </p:nvPicPr>
        <p:blipFill>
          <a:blip r:embed="rId16"/>
          <a:stretch>
            <a:fillRect/>
          </a:stretch>
        </p:blipFill>
        <p:spPr>
          <a:xfrm>
            <a:off x="9595866" y="5797296"/>
            <a:ext cx="274320" cy="274320"/>
          </a:xfrm>
          <a:prstGeom prst="rect">
            <a:avLst/>
          </a:prstGeom>
        </p:spPr>
      </p:pic>
      <p:sp>
        <p:nvSpPr>
          <p:cNvPr id="74" name="Text 58"/>
          <p:cNvSpPr/>
          <p:nvPr/>
        </p:nvSpPr>
        <p:spPr>
          <a:xfrm>
            <a:off x="9126830" y="6126480"/>
            <a:ext cx="1212393" cy="219456"/>
          </a:xfrm>
          <a:prstGeom prst="rect">
            <a:avLst/>
          </a:prstGeom>
          <a:noFill/>
          <a:ln/>
        </p:spPr>
        <p:txBody>
          <a:bodyPr wrap="square" lIns="0" tIns="0" rIns="0" bIns="0" rtlCol="0" anchor="ctr"/>
          <a:lstStyle/>
          <a:p>
            <a:pPr marL="0" indent="0" algn="ctr">
              <a:buNone/>
            </a:pPr>
            <a:r>
              <a:rPr lang="en-US" sz="850" dirty="0">
                <a:solidFill>
                  <a:srgbClr val="6A7590"/>
                </a:solidFill>
                <a:latin typeface="Calibri" pitchFamily="34" charset="0"/>
                <a:ea typeface="Calibri" pitchFamily="34" charset="-122"/>
                <a:cs typeface="Calibri" pitchFamily="34" charset="-120"/>
              </a:rPr>
              <a:t>SQLite</a:t>
            </a:r>
            <a:endParaRPr lang="en-US" sz="850" dirty="0"/>
          </a:p>
        </p:txBody>
      </p:sp>
      <p:pic>
        <p:nvPicPr>
          <p:cNvPr id="75" name="Image 14" descr="preencoded.png"/>
          <p:cNvPicPr>
            <a:picLocks noChangeAspect="1"/>
          </p:cNvPicPr>
          <p:nvPr/>
        </p:nvPicPr>
        <p:blipFill>
          <a:blip r:embed="rId17"/>
          <a:stretch>
            <a:fillRect/>
          </a:stretch>
        </p:blipFill>
        <p:spPr>
          <a:xfrm>
            <a:off x="10808259" y="5797296"/>
            <a:ext cx="274320" cy="274320"/>
          </a:xfrm>
          <a:prstGeom prst="rect">
            <a:avLst/>
          </a:prstGeom>
        </p:spPr>
      </p:pic>
      <p:sp>
        <p:nvSpPr>
          <p:cNvPr id="76" name="Text 59"/>
          <p:cNvSpPr/>
          <p:nvPr/>
        </p:nvSpPr>
        <p:spPr>
          <a:xfrm>
            <a:off x="10339222" y="6126480"/>
            <a:ext cx="1212393" cy="219456"/>
          </a:xfrm>
          <a:prstGeom prst="rect">
            <a:avLst/>
          </a:prstGeom>
          <a:noFill/>
          <a:ln/>
        </p:spPr>
        <p:txBody>
          <a:bodyPr wrap="square" lIns="0" tIns="0" rIns="0" bIns="0" rtlCol="0" anchor="ctr"/>
          <a:lstStyle/>
          <a:p>
            <a:pPr marL="0" indent="0" algn="ctr">
              <a:buNone/>
            </a:pPr>
            <a:r>
              <a:rPr lang="en-US" sz="850" dirty="0">
                <a:solidFill>
                  <a:srgbClr val="6A7590"/>
                </a:solidFill>
                <a:latin typeface="Calibri" pitchFamily="34" charset="0"/>
                <a:ea typeface="Calibri" pitchFamily="34" charset="-122"/>
                <a:cs typeface="Calibri" pitchFamily="34" charset="-120"/>
              </a:rPr>
              <a:t>LiteLLM</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70F"/>
        </a:solidFill>
        <a:effectLst/>
      </p:bgPr>
    </p:bg>
    <p:spTree>
      <p:nvGrpSpPr>
        <p:cNvPr id="1" name="">
          <a:extLst>
            <a:ext uri="{FF2B5EF4-FFF2-40B4-BE49-F238E27FC236}">
              <a16:creationId xmlns:a16="http://schemas.microsoft.com/office/drawing/2014/main" id="{C3F6E56F-3D14-525E-8580-23FA98D753F5}"/>
            </a:ext>
          </a:extLst>
        </p:cNvPr>
        <p:cNvGrpSpPr/>
        <p:nvPr/>
      </p:nvGrpSpPr>
      <p:grpSpPr>
        <a:xfrm>
          <a:off x="0" y="0"/>
          <a:ext cx="0" cy="0"/>
          <a:chOff x="0" y="0"/>
          <a:chExt cx="0" cy="0"/>
        </a:xfrm>
      </p:grpSpPr>
      <p:pic>
        <p:nvPicPr>
          <p:cNvPr id="41" name="Picture 40">
            <a:extLst>
              <a:ext uri="{FF2B5EF4-FFF2-40B4-BE49-F238E27FC236}">
                <a16:creationId xmlns:a16="http://schemas.microsoft.com/office/drawing/2014/main" id="{FE4451F6-4E0A-FDCB-627F-B2AC7FB62F97}"/>
              </a:ext>
            </a:extLst>
          </p:cNvPr>
          <p:cNvPicPr>
            <a:picLocks noChangeAspect="1"/>
          </p:cNvPicPr>
          <p:nvPr/>
        </p:nvPicPr>
        <p:blipFill>
          <a:blip r:embed="rId3"/>
          <a:stretch>
            <a:fillRect/>
          </a:stretch>
        </p:blipFill>
        <p:spPr>
          <a:xfrm>
            <a:off x="1234825" y="704710"/>
            <a:ext cx="9722350" cy="5448580"/>
          </a:xfrm>
          <a:prstGeom prst="rect">
            <a:avLst/>
          </a:prstGeom>
        </p:spPr>
      </p:pic>
      <p:sp>
        <p:nvSpPr>
          <p:cNvPr id="43" name="Text 2">
            <a:extLst>
              <a:ext uri="{FF2B5EF4-FFF2-40B4-BE49-F238E27FC236}">
                <a16:creationId xmlns:a16="http://schemas.microsoft.com/office/drawing/2014/main" id="{8822FE3A-B78F-8AA3-5C65-1E533E5E178F}"/>
              </a:ext>
            </a:extLst>
          </p:cNvPr>
          <p:cNvSpPr/>
          <p:nvPr/>
        </p:nvSpPr>
        <p:spPr>
          <a:xfrm>
            <a:off x="370572" y="64630"/>
            <a:ext cx="10911535" cy="640080"/>
          </a:xfrm>
          <a:prstGeom prst="rect">
            <a:avLst/>
          </a:prstGeom>
          <a:noFill/>
          <a:ln/>
        </p:spPr>
        <p:txBody>
          <a:bodyPr wrap="square" lIns="0" tIns="0" rIns="0" bIns="0" rtlCol="0" anchor="t"/>
          <a:lstStyle/>
          <a:p>
            <a:pPr marL="0" indent="0">
              <a:lnSpc>
                <a:spcPts val="2964"/>
              </a:lnSpc>
              <a:buNone/>
            </a:pPr>
            <a:r>
              <a:rPr lang="en-US" sz="2600" b="1" dirty="0">
                <a:solidFill>
                  <a:srgbClr val="F4F6FF"/>
                </a:solidFill>
                <a:latin typeface="Calibri" pitchFamily="34" charset="0"/>
                <a:ea typeface="Calibri" pitchFamily="34" charset="-122"/>
                <a:cs typeface="Calibri" pitchFamily="34" charset="-120"/>
              </a:rPr>
              <a:t>Detailed System Architecture</a:t>
            </a:r>
            <a:endParaRPr lang="en-US" sz="2600" dirty="0"/>
          </a:p>
        </p:txBody>
      </p:sp>
    </p:spTree>
    <p:extLst>
      <p:ext uri="{BB962C8B-B14F-4D97-AF65-F5344CB8AC3E}">
        <p14:creationId xmlns:p14="http://schemas.microsoft.com/office/powerpoint/2010/main" val="378124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06</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LIVE DEMO · ONE PRICING RUN</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2964"/>
              </a:lnSpc>
              <a:buNone/>
            </a:pPr>
            <a:r>
              <a:rPr lang="en-US" sz="2600" b="1" dirty="0">
                <a:solidFill>
                  <a:srgbClr val="F4F6FF"/>
                </a:solidFill>
                <a:latin typeface="Calibri" pitchFamily="34" charset="0"/>
                <a:ea typeface="Calibri" pitchFamily="34" charset="-122"/>
                <a:cs typeface="Calibri" pitchFamily="34" charset="-120"/>
              </a:rPr>
              <a:t>Watch it run, then interrogate how it works</a:t>
            </a:r>
            <a:endParaRPr lang="en-US" sz="2600" dirty="0"/>
          </a:p>
        </p:txBody>
      </p:sp>
      <p:sp>
        <p:nvSpPr>
          <p:cNvPr id="5" name="Shape 3"/>
          <p:cNvSpPr/>
          <p:nvPr/>
        </p:nvSpPr>
        <p:spPr>
          <a:xfrm>
            <a:off x="640080" y="1847088"/>
            <a:ext cx="3490874" cy="1700784"/>
          </a:xfrm>
          <a:prstGeom prst="roundRect">
            <a:avLst>
              <a:gd name="adj" fmla="val 4301"/>
            </a:avLst>
          </a:prstGeom>
          <a:solidFill>
            <a:srgbClr val="0D1128"/>
          </a:solidFill>
          <a:ln w="12700">
            <a:solidFill>
              <a:srgbClr val="1A2040"/>
            </a:solidFill>
            <a:prstDash val="solid"/>
          </a:ln>
        </p:spPr>
      </p:sp>
      <p:sp>
        <p:nvSpPr>
          <p:cNvPr id="6" name="Text 4"/>
          <p:cNvSpPr/>
          <p:nvPr/>
        </p:nvSpPr>
        <p:spPr>
          <a:xfrm>
            <a:off x="3673754" y="1993392"/>
            <a:ext cx="310896"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1</a:t>
            </a:r>
            <a:endParaRPr lang="en-US" sz="1300" dirty="0"/>
          </a:p>
        </p:txBody>
      </p:sp>
      <p:pic>
        <p:nvPicPr>
          <p:cNvPr id="7" name="Image 0" descr="preencoded.png"/>
          <p:cNvPicPr>
            <a:picLocks noChangeAspect="1"/>
          </p:cNvPicPr>
          <p:nvPr/>
        </p:nvPicPr>
        <p:blipFill>
          <a:blip r:embed="rId3"/>
          <a:stretch>
            <a:fillRect/>
          </a:stretch>
        </p:blipFill>
        <p:spPr>
          <a:xfrm>
            <a:off x="877824" y="2084832"/>
            <a:ext cx="365760" cy="365760"/>
          </a:xfrm>
          <a:prstGeom prst="rect">
            <a:avLst/>
          </a:prstGeom>
        </p:spPr>
      </p:pic>
      <p:sp>
        <p:nvSpPr>
          <p:cNvPr id="8" name="Text 5"/>
          <p:cNvSpPr/>
          <p:nvPr/>
        </p:nvSpPr>
        <p:spPr>
          <a:xfrm>
            <a:off x="877824" y="2560320"/>
            <a:ext cx="3015386" cy="329184"/>
          </a:xfrm>
          <a:prstGeom prst="rect">
            <a:avLst/>
          </a:prstGeom>
          <a:noFill/>
          <a:ln/>
        </p:spPr>
        <p:txBody>
          <a:bodyPr wrap="square" lIns="0" tIns="0" rIns="0" bIns="0" rtlCol="0" anchor="ctr"/>
          <a:lstStyle/>
          <a:p>
            <a:pPr marL="0" indent="0">
              <a:buNone/>
            </a:pPr>
            <a:r>
              <a:rPr lang="en-US" sz="1400" b="1" dirty="0">
                <a:solidFill>
                  <a:srgbClr val="F4F6FF"/>
                </a:solidFill>
                <a:latin typeface="Calibri" pitchFamily="34" charset="0"/>
                <a:ea typeface="Calibri" pitchFamily="34" charset="-122"/>
                <a:cs typeface="Calibri" pitchFamily="34" charset="-120"/>
              </a:rPr>
              <a:t>Trigger a run</a:t>
            </a:r>
            <a:endParaRPr lang="en-US" sz="1400" dirty="0"/>
          </a:p>
        </p:txBody>
      </p:sp>
      <p:sp>
        <p:nvSpPr>
          <p:cNvPr id="9" name="Text 6"/>
          <p:cNvSpPr/>
          <p:nvPr/>
        </p:nvSpPr>
        <p:spPr>
          <a:xfrm>
            <a:off x="877824" y="2907792"/>
            <a:ext cx="3015386" cy="566928"/>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Pick a category, an objective — revenue, margin, or balanced</a:t>
            </a:r>
            <a:endParaRPr lang="en-US" sz="1050" dirty="0"/>
          </a:p>
        </p:txBody>
      </p:sp>
      <p:sp>
        <p:nvSpPr>
          <p:cNvPr id="10" name="Shape 7"/>
          <p:cNvSpPr/>
          <p:nvPr/>
        </p:nvSpPr>
        <p:spPr>
          <a:xfrm>
            <a:off x="4149242" y="2697480"/>
            <a:ext cx="182880" cy="0"/>
          </a:xfrm>
          <a:prstGeom prst="line">
            <a:avLst/>
          </a:prstGeom>
          <a:noFill/>
          <a:ln w="15875">
            <a:solidFill>
              <a:srgbClr val="2A3560"/>
            </a:solidFill>
            <a:prstDash val="solid"/>
            <a:tailEnd type="triangle"/>
          </a:ln>
        </p:spPr>
      </p:sp>
      <p:sp>
        <p:nvSpPr>
          <p:cNvPr id="11" name="Shape 8"/>
          <p:cNvSpPr/>
          <p:nvPr/>
        </p:nvSpPr>
        <p:spPr>
          <a:xfrm>
            <a:off x="4350410" y="1847088"/>
            <a:ext cx="3490874" cy="1700784"/>
          </a:xfrm>
          <a:prstGeom prst="roundRect">
            <a:avLst>
              <a:gd name="adj" fmla="val 4301"/>
            </a:avLst>
          </a:prstGeom>
          <a:solidFill>
            <a:srgbClr val="0D1128"/>
          </a:solidFill>
          <a:ln w="12700">
            <a:solidFill>
              <a:srgbClr val="1A2040"/>
            </a:solidFill>
            <a:prstDash val="solid"/>
          </a:ln>
        </p:spPr>
      </p:sp>
      <p:sp>
        <p:nvSpPr>
          <p:cNvPr id="12" name="Text 9"/>
          <p:cNvSpPr/>
          <p:nvPr/>
        </p:nvSpPr>
        <p:spPr>
          <a:xfrm>
            <a:off x="7384085" y="1993392"/>
            <a:ext cx="310896"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2</a:t>
            </a:r>
            <a:endParaRPr lang="en-US" sz="1300" dirty="0"/>
          </a:p>
        </p:txBody>
      </p:sp>
      <p:pic>
        <p:nvPicPr>
          <p:cNvPr id="13" name="Image 1" descr="preencoded.png"/>
          <p:cNvPicPr>
            <a:picLocks noChangeAspect="1"/>
          </p:cNvPicPr>
          <p:nvPr/>
        </p:nvPicPr>
        <p:blipFill>
          <a:blip r:embed="rId4"/>
          <a:stretch>
            <a:fillRect/>
          </a:stretch>
        </p:blipFill>
        <p:spPr>
          <a:xfrm>
            <a:off x="4588154" y="2084832"/>
            <a:ext cx="365760" cy="365760"/>
          </a:xfrm>
          <a:prstGeom prst="rect">
            <a:avLst/>
          </a:prstGeom>
        </p:spPr>
      </p:pic>
      <p:sp>
        <p:nvSpPr>
          <p:cNvPr id="14" name="Text 10"/>
          <p:cNvSpPr/>
          <p:nvPr/>
        </p:nvSpPr>
        <p:spPr>
          <a:xfrm>
            <a:off x="4588154" y="2560320"/>
            <a:ext cx="3015386" cy="329184"/>
          </a:xfrm>
          <a:prstGeom prst="rect">
            <a:avLst/>
          </a:prstGeom>
          <a:noFill/>
          <a:ln/>
        </p:spPr>
        <p:txBody>
          <a:bodyPr wrap="square" lIns="0" tIns="0" rIns="0" bIns="0" rtlCol="0" anchor="ctr"/>
          <a:lstStyle/>
          <a:p>
            <a:pPr marL="0" indent="0">
              <a:buNone/>
            </a:pPr>
            <a:r>
              <a:rPr lang="en-US" sz="1400" b="1" dirty="0">
                <a:solidFill>
                  <a:srgbClr val="F4F6FF"/>
                </a:solidFill>
                <a:latin typeface="Calibri" pitchFamily="34" charset="0"/>
                <a:ea typeface="Calibri" pitchFamily="34" charset="-122"/>
                <a:cs typeface="Calibri" pitchFamily="34" charset="-120"/>
              </a:rPr>
              <a:t>Data &amp; quality gate</a:t>
            </a:r>
            <a:endParaRPr lang="en-US" sz="1400" dirty="0"/>
          </a:p>
        </p:txBody>
      </p:sp>
      <p:sp>
        <p:nvSpPr>
          <p:cNvPr id="15" name="Text 11"/>
          <p:cNvSpPr/>
          <p:nvPr/>
        </p:nvSpPr>
        <p:spPr>
          <a:xfrm>
            <a:off x="4588154" y="2907792"/>
            <a:ext cx="3015386" cy="566928"/>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Concurrent ingest; a failing verdict halts the run, doesn't price on bad data</a:t>
            </a:r>
            <a:endParaRPr lang="en-US" sz="1050" dirty="0"/>
          </a:p>
        </p:txBody>
      </p:sp>
      <p:sp>
        <p:nvSpPr>
          <p:cNvPr id="16" name="Shape 12"/>
          <p:cNvSpPr/>
          <p:nvPr/>
        </p:nvSpPr>
        <p:spPr>
          <a:xfrm>
            <a:off x="7859573" y="2697480"/>
            <a:ext cx="182880" cy="0"/>
          </a:xfrm>
          <a:prstGeom prst="line">
            <a:avLst/>
          </a:prstGeom>
          <a:noFill/>
          <a:ln w="15875">
            <a:solidFill>
              <a:srgbClr val="2A3560"/>
            </a:solidFill>
            <a:prstDash val="solid"/>
            <a:tailEnd type="triangle"/>
          </a:ln>
        </p:spPr>
      </p:sp>
      <p:sp>
        <p:nvSpPr>
          <p:cNvPr id="17" name="Shape 13"/>
          <p:cNvSpPr/>
          <p:nvPr/>
        </p:nvSpPr>
        <p:spPr>
          <a:xfrm>
            <a:off x="8060741" y="1847088"/>
            <a:ext cx="3490874" cy="1700784"/>
          </a:xfrm>
          <a:prstGeom prst="roundRect">
            <a:avLst>
              <a:gd name="adj" fmla="val 4301"/>
            </a:avLst>
          </a:prstGeom>
          <a:solidFill>
            <a:srgbClr val="0D1128"/>
          </a:solidFill>
          <a:ln w="12700">
            <a:solidFill>
              <a:srgbClr val="1A2040"/>
            </a:solidFill>
            <a:prstDash val="solid"/>
          </a:ln>
        </p:spPr>
      </p:sp>
      <p:sp>
        <p:nvSpPr>
          <p:cNvPr id="18" name="Text 14"/>
          <p:cNvSpPr/>
          <p:nvPr/>
        </p:nvSpPr>
        <p:spPr>
          <a:xfrm>
            <a:off x="11094415" y="1993392"/>
            <a:ext cx="310896"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3</a:t>
            </a:r>
            <a:endParaRPr lang="en-US" sz="1300" dirty="0"/>
          </a:p>
        </p:txBody>
      </p:sp>
      <p:pic>
        <p:nvPicPr>
          <p:cNvPr id="19" name="Image 2" descr="preencoded.png"/>
          <p:cNvPicPr>
            <a:picLocks noChangeAspect="1"/>
          </p:cNvPicPr>
          <p:nvPr/>
        </p:nvPicPr>
        <p:blipFill>
          <a:blip r:embed="rId5"/>
          <a:stretch>
            <a:fillRect/>
          </a:stretch>
        </p:blipFill>
        <p:spPr>
          <a:xfrm>
            <a:off x="8298485" y="2084832"/>
            <a:ext cx="365760" cy="365760"/>
          </a:xfrm>
          <a:prstGeom prst="rect">
            <a:avLst/>
          </a:prstGeom>
        </p:spPr>
      </p:pic>
      <p:sp>
        <p:nvSpPr>
          <p:cNvPr id="20" name="Text 15"/>
          <p:cNvSpPr/>
          <p:nvPr/>
        </p:nvSpPr>
        <p:spPr>
          <a:xfrm>
            <a:off x="8298485" y="2560320"/>
            <a:ext cx="3015386" cy="329184"/>
          </a:xfrm>
          <a:prstGeom prst="rect">
            <a:avLst/>
          </a:prstGeom>
          <a:noFill/>
          <a:ln/>
        </p:spPr>
        <p:txBody>
          <a:bodyPr wrap="square" lIns="0" tIns="0" rIns="0" bIns="0" rtlCol="0" anchor="ctr"/>
          <a:lstStyle/>
          <a:p>
            <a:pPr marL="0" indent="0">
              <a:buNone/>
            </a:pPr>
            <a:r>
              <a:rPr lang="en-US" sz="1400" b="1" dirty="0">
                <a:solidFill>
                  <a:srgbClr val="F4F6FF"/>
                </a:solidFill>
                <a:latin typeface="Calibri" pitchFamily="34" charset="0"/>
                <a:ea typeface="Calibri" pitchFamily="34" charset="-122"/>
                <a:cs typeface="Calibri" pitchFamily="34" charset="-120"/>
              </a:rPr>
              <a:t>Model &amp; simulate</a:t>
            </a:r>
            <a:endParaRPr lang="en-US" sz="1400" dirty="0"/>
          </a:p>
        </p:txBody>
      </p:sp>
      <p:sp>
        <p:nvSpPr>
          <p:cNvPr id="21" name="Text 16"/>
          <p:cNvSpPr/>
          <p:nvPr/>
        </p:nvSpPr>
        <p:spPr>
          <a:xfrm>
            <a:off x="8298485" y="2907792"/>
            <a:ext cx="3015386" cy="566928"/>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Elasticity per SKU, Monte Carlo distributions, optimizer picks the price</a:t>
            </a:r>
            <a:endParaRPr lang="en-US" sz="1050" dirty="0"/>
          </a:p>
        </p:txBody>
      </p:sp>
      <p:sp>
        <p:nvSpPr>
          <p:cNvPr id="22" name="Shape 17"/>
          <p:cNvSpPr/>
          <p:nvPr/>
        </p:nvSpPr>
        <p:spPr>
          <a:xfrm>
            <a:off x="640080" y="3822192"/>
            <a:ext cx="3490874" cy="1700784"/>
          </a:xfrm>
          <a:prstGeom prst="roundRect">
            <a:avLst>
              <a:gd name="adj" fmla="val 4301"/>
            </a:avLst>
          </a:prstGeom>
          <a:solidFill>
            <a:srgbClr val="0D1128"/>
          </a:solidFill>
          <a:ln w="12700">
            <a:solidFill>
              <a:srgbClr val="1A2040"/>
            </a:solidFill>
            <a:prstDash val="solid"/>
          </a:ln>
        </p:spPr>
      </p:sp>
      <p:sp>
        <p:nvSpPr>
          <p:cNvPr id="23" name="Text 18"/>
          <p:cNvSpPr/>
          <p:nvPr/>
        </p:nvSpPr>
        <p:spPr>
          <a:xfrm>
            <a:off x="3673754" y="3968496"/>
            <a:ext cx="310896"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4</a:t>
            </a:r>
            <a:endParaRPr lang="en-US" sz="1300" dirty="0"/>
          </a:p>
        </p:txBody>
      </p:sp>
      <p:pic>
        <p:nvPicPr>
          <p:cNvPr id="24" name="Image 3" descr="preencoded.png"/>
          <p:cNvPicPr>
            <a:picLocks noChangeAspect="1"/>
          </p:cNvPicPr>
          <p:nvPr/>
        </p:nvPicPr>
        <p:blipFill>
          <a:blip r:embed="rId6"/>
          <a:stretch>
            <a:fillRect/>
          </a:stretch>
        </p:blipFill>
        <p:spPr>
          <a:xfrm>
            <a:off x="877824" y="4059936"/>
            <a:ext cx="365760" cy="365760"/>
          </a:xfrm>
          <a:prstGeom prst="rect">
            <a:avLst/>
          </a:prstGeom>
        </p:spPr>
      </p:pic>
      <p:sp>
        <p:nvSpPr>
          <p:cNvPr id="25" name="Text 19"/>
          <p:cNvSpPr/>
          <p:nvPr/>
        </p:nvSpPr>
        <p:spPr>
          <a:xfrm>
            <a:off x="877824" y="4535424"/>
            <a:ext cx="3015386" cy="329184"/>
          </a:xfrm>
          <a:prstGeom prst="rect">
            <a:avLst/>
          </a:prstGeom>
          <a:noFill/>
          <a:ln/>
        </p:spPr>
        <p:txBody>
          <a:bodyPr wrap="square" lIns="0" tIns="0" rIns="0" bIns="0" rtlCol="0" anchor="ctr"/>
          <a:lstStyle/>
          <a:p>
            <a:pPr marL="0" indent="0">
              <a:buNone/>
            </a:pPr>
            <a:r>
              <a:rPr lang="en-US" sz="1400" b="1" dirty="0">
                <a:solidFill>
                  <a:srgbClr val="F4F6FF"/>
                </a:solidFill>
                <a:latin typeface="Calibri" pitchFamily="34" charset="0"/>
                <a:ea typeface="Calibri" pitchFamily="34" charset="-122"/>
                <a:cs typeface="Calibri" pitchFamily="34" charset="-120"/>
              </a:rPr>
              <a:t>Validate &amp; band</a:t>
            </a:r>
            <a:endParaRPr lang="en-US" sz="1400" dirty="0"/>
          </a:p>
        </p:txBody>
      </p:sp>
      <p:sp>
        <p:nvSpPr>
          <p:cNvPr id="26" name="Text 20"/>
          <p:cNvSpPr/>
          <p:nvPr/>
        </p:nvSpPr>
        <p:spPr>
          <a:xfrm>
            <a:off x="877824" y="4882896"/>
            <a:ext cx="3015386" cy="566928"/>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Rule engine vetoes; each rec tagged Auto / Review / Escalate with a reason</a:t>
            </a:r>
            <a:endParaRPr lang="en-US" sz="1050" dirty="0"/>
          </a:p>
        </p:txBody>
      </p:sp>
      <p:sp>
        <p:nvSpPr>
          <p:cNvPr id="27" name="Shape 21"/>
          <p:cNvSpPr/>
          <p:nvPr/>
        </p:nvSpPr>
        <p:spPr>
          <a:xfrm>
            <a:off x="4149242" y="4672584"/>
            <a:ext cx="182880" cy="0"/>
          </a:xfrm>
          <a:prstGeom prst="line">
            <a:avLst/>
          </a:prstGeom>
          <a:noFill/>
          <a:ln w="15875">
            <a:solidFill>
              <a:srgbClr val="2A3560"/>
            </a:solidFill>
            <a:prstDash val="solid"/>
            <a:tailEnd type="triangle"/>
          </a:ln>
        </p:spPr>
      </p:sp>
      <p:sp>
        <p:nvSpPr>
          <p:cNvPr id="28" name="Shape 22"/>
          <p:cNvSpPr/>
          <p:nvPr/>
        </p:nvSpPr>
        <p:spPr>
          <a:xfrm>
            <a:off x="4350410" y="3822192"/>
            <a:ext cx="3490874" cy="1700784"/>
          </a:xfrm>
          <a:prstGeom prst="roundRect">
            <a:avLst>
              <a:gd name="adj" fmla="val 4301"/>
            </a:avLst>
          </a:prstGeom>
          <a:solidFill>
            <a:srgbClr val="0D1128"/>
          </a:solidFill>
          <a:ln w="12700">
            <a:solidFill>
              <a:srgbClr val="1A2040"/>
            </a:solidFill>
            <a:prstDash val="solid"/>
          </a:ln>
        </p:spPr>
      </p:sp>
      <p:sp>
        <p:nvSpPr>
          <p:cNvPr id="29" name="Text 23"/>
          <p:cNvSpPr/>
          <p:nvPr/>
        </p:nvSpPr>
        <p:spPr>
          <a:xfrm>
            <a:off x="7384085" y="3968496"/>
            <a:ext cx="310896"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5</a:t>
            </a:r>
            <a:endParaRPr lang="en-US" sz="1300" dirty="0"/>
          </a:p>
        </p:txBody>
      </p:sp>
      <p:pic>
        <p:nvPicPr>
          <p:cNvPr id="30" name="Image 4" descr="preencoded.png"/>
          <p:cNvPicPr>
            <a:picLocks noChangeAspect="1"/>
          </p:cNvPicPr>
          <p:nvPr/>
        </p:nvPicPr>
        <p:blipFill>
          <a:blip r:embed="rId7"/>
          <a:stretch>
            <a:fillRect/>
          </a:stretch>
        </p:blipFill>
        <p:spPr>
          <a:xfrm>
            <a:off x="4588154" y="4059936"/>
            <a:ext cx="365760" cy="365760"/>
          </a:xfrm>
          <a:prstGeom prst="rect">
            <a:avLst/>
          </a:prstGeom>
        </p:spPr>
      </p:pic>
      <p:sp>
        <p:nvSpPr>
          <p:cNvPr id="31" name="Text 24"/>
          <p:cNvSpPr/>
          <p:nvPr/>
        </p:nvSpPr>
        <p:spPr>
          <a:xfrm>
            <a:off x="4588154" y="4535424"/>
            <a:ext cx="3015386" cy="329184"/>
          </a:xfrm>
          <a:prstGeom prst="rect">
            <a:avLst/>
          </a:prstGeom>
          <a:noFill/>
          <a:ln/>
        </p:spPr>
        <p:txBody>
          <a:bodyPr wrap="square" lIns="0" tIns="0" rIns="0" bIns="0" rtlCol="0" anchor="ctr"/>
          <a:lstStyle/>
          <a:p>
            <a:pPr marL="0" indent="0">
              <a:buNone/>
            </a:pPr>
            <a:r>
              <a:rPr lang="en-US" sz="1400" b="1" dirty="0">
                <a:solidFill>
                  <a:srgbClr val="F4F6FF"/>
                </a:solidFill>
                <a:latin typeface="Calibri" pitchFamily="34" charset="0"/>
                <a:ea typeface="Calibri" pitchFamily="34" charset="-122"/>
                <a:cs typeface="Calibri" pitchFamily="34" charset="-120"/>
              </a:rPr>
              <a:t>Review the exceptions</a:t>
            </a:r>
            <a:endParaRPr lang="en-US" sz="1400" dirty="0"/>
          </a:p>
        </p:txBody>
      </p:sp>
      <p:sp>
        <p:nvSpPr>
          <p:cNvPr id="32" name="Text 25"/>
          <p:cNvSpPr/>
          <p:nvPr/>
        </p:nvSpPr>
        <p:spPr>
          <a:xfrm>
            <a:off x="4588154" y="4882896"/>
            <a:ext cx="3015386" cy="566928"/>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Queue shows only what needs judgment — not all 500 SKUs</a:t>
            </a:r>
            <a:endParaRPr lang="en-US" sz="1050" dirty="0"/>
          </a:p>
        </p:txBody>
      </p:sp>
      <p:sp>
        <p:nvSpPr>
          <p:cNvPr id="33" name="Shape 26"/>
          <p:cNvSpPr/>
          <p:nvPr/>
        </p:nvSpPr>
        <p:spPr>
          <a:xfrm>
            <a:off x="7859573" y="4672584"/>
            <a:ext cx="182880" cy="0"/>
          </a:xfrm>
          <a:prstGeom prst="line">
            <a:avLst/>
          </a:prstGeom>
          <a:noFill/>
          <a:ln w="15875">
            <a:solidFill>
              <a:srgbClr val="2A3560"/>
            </a:solidFill>
            <a:prstDash val="solid"/>
            <a:tailEnd type="triangle"/>
          </a:ln>
        </p:spPr>
      </p:sp>
      <p:sp>
        <p:nvSpPr>
          <p:cNvPr id="34" name="Shape 27"/>
          <p:cNvSpPr/>
          <p:nvPr/>
        </p:nvSpPr>
        <p:spPr>
          <a:xfrm>
            <a:off x="8060741" y="3822192"/>
            <a:ext cx="3490874" cy="1700784"/>
          </a:xfrm>
          <a:prstGeom prst="roundRect">
            <a:avLst>
              <a:gd name="adj" fmla="val 4301"/>
            </a:avLst>
          </a:prstGeom>
          <a:solidFill>
            <a:srgbClr val="0D1128"/>
          </a:solidFill>
          <a:ln w="12700">
            <a:solidFill>
              <a:srgbClr val="F5A623"/>
            </a:solidFill>
            <a:prstDash val="solid"/>
          </a:ln>
        </p:spPr>
      </p:sp>
      <p:sp>
        <p:nvSpPr>
          <p:cNvPr id="35" name="Text 28"/>
          <p:cNvSpPr/>
          <p:nvPr/>
        </p:nvSpPr>
        <p:spPr>
          <a:xfrm>
            <a:off x="11094415" y="3968496"/>
            <a:ext cx="310896" cy="274320"/>
          </a:xfrm>
          <a:prstGeom prst="rect">
            <a:avLst/>
          </a:prstGeom>
          <a:noFill/>
          <a:ln/>
        </p:spPr>
        <p:txBody>
          <a:bodyPr wrap="square" lIns="0" tIns="0" rIns="0" bIns="0" rtlCol="0" anchor="ctr"/>
          <a:lstStyle/>
          <a:p>
            <a:pPr marL="0" indent="0" algn="r">
              <a:buNone/>
            </a:pPr>
            <a:r>
              <a:rPr lang="en-US" sz="1300" b="1" dirty="0">
                <a:solidFill>
                  <a:srgbClr val="6A7590"/>
                </a:solidFill>
                <a:latin typeface="Courier New" pitchFamily="34" charset="0"/>
                <a:ea typeface="Courier New" pitchFamily="34" charset="-122"/>
                <a:cs typeface="Courier New" pitchFamily="34" charset="-120"/>
              </a:rPr>
              <a:t>6</a:t>
            </a:r>
            <a:endParaRPr lang="en-US" sz="1300" dirty="0"/>
          </a:p>
        </p:txBody>
      </p:sp>
      <p:pic>
        <p:nvPicPr>
          <p:cNvPr id="36" name="Image 5" descr="preencoded.png"/>
          <p:cNvPicPr>
            <a:picLocks noChangeAspect="1"/>
          </p:cNvPicPr>
          <p:nvPr/>
        </p:nvPicPr>
        <p:blipFill>
          <a:blip r:embed="rId8"/>
          <a:stretch>
            <a:fillRect/>
          </a:stretch>
        </p:blipFill>
        <p:spPr>
          <a:xfrm>
            <a:off x="8298485" y="4059936"/>
            <a:ext cx="365760" cy="365760"/>
          </a:xfrm>
          <a:prstGeom prst="rect">
            <a:avLst/>
          </a:prstGeom>
        </p:spPr>
      </p:pic>
      <p:sp>
        <p:nvSpPr>
          <p:cNvPr id="37" name="Text 29"/>
          <p:cNvSpPr/>
          <p:nvPr/>
        </p:nvSpPr>
        <p:spPr>
          <a:xfrm>
            <a:off x="8298485" y="4535424"/>
            <a:ext cx="3015386" cy="329184"/>
          </a:xfrm>
          <a:prstGeom prst="rect">
            <a:avLst/>
          </a:prstGeom>
          <a:noFill/>
          <a:ln/>
        </p:spPr>
        <p:txBody>
          <a:bodyPr wrap="square" lIns="0" tIns="0" rIns="0" bIns="0" rtlCol="0" anchor="ctr"/>
          <a:lstStyle/>
          <a:p>
            <a:pPr marL="0" indent="0">
              <a:buNone/>
            </a:pPr>
            <a:r>
              <a:rPr lang="en-US" sz="1400" b="1" dirty="0">
                <a:solidFill>
                  <a:srgbClr val="F5A623"/>
                </a:solidFill>
                <a:latin typeface="Calibri" pitchFamily="34" charset="0"/>
                <a:ea typeface="Calibri" pitchFamily="34" charset="-122"/>
                <a:cs typeface="Calibri" pitchFamily="34" charset="-120"/>
              </a:rPr>
              <a:t>Push &amp; close the loop</a:t>
            </a:r>
            <a:endParaRPr lang="en-US" sz="1400" dirty="0"/>
          </a:p>
        </p:txBody>
      </p:sp>
      <p:sp>
        <p:nvSpPr>
          <p:cNvPr id="38" name="Text 30"/>
          <p:cNvSpPr/>
          <p:nvPr/>
        </p:nvSpPr>
        <p:spPr>
          <a:xfrm>
            <a:off x="8298485" y="4882896"/>
            <a:ext cx="3015386" cy="566928"/>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Idempotent push; realized sales read back to sharpen the next run</a:t>
            </a:r>
            <a:endParaRPr lang="en-US" sz="1050" dirty="0"/>
          </a:p>
        </p:txBody>
      </p:sp>
      <p:sp>
        <p:nvSpPr>
          <p:cNvPr id="39" name="Text 31"/>
          <p:cNvSpPr/>
          <p:nvPr/>
        </p:nvSpPr>
        <p:spPr>
          <a:xfrm>
            <a:off x="640080" y="5870448"/>
            <a:ext cx="10911535" cy="310896"/>
          </a:xfrm>
          <a:prstGeom prst="rect">
            <a:avLst/>
          </a:prstGeom>
          <a:noFill/>
          <a:ln/>
        </p:spPr>
        <p:txBody>
          <a:bodyPr wrap="square" lIns="0" tIns="0" rIns="0" bIns="0" rtlCol="0" anchor="ctr"/>
          <a:lstStyle/>
          <a:p>
            <a:pPr marL="0" indent="0" algn="ctr">
              <a:buNone/>
            </a:pPr>
            <a:r>
              <a:rPr lang="en-US" sz="1300" i="1" dirty="0">
                <a:solidFill>
                  <a:srgbClr val="A8B4CC"/>
                </a:solidFill>
                <a:latin typeface="Calibri" pitchFamily="34" charset="0"/>
                <a:ea typeface="Calibri" pitchFamily="34" charset="-122"/>
                <a:cs typeface="Calibri" pitchFamily="34" charset="-120"/>
              </a:rPr>
              <a:t>Supervised mode is the demo posture — nothing pushes automatically until we choose to show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07</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THE MODELLING STACK</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3078"/>
              </a:lnSpc>
              <a:buNone/>
            </a:pPr>
            <a:r>
              <a:rPr lang="en-US" sz="2700" b="1" dirty="0">
                <a:solidFill>
                  <a:srgbClr val="F4F6FF"/>
                </a:solidFill>
                <a:latin typeface="Calibri" pitchFamily="34" charset="0"/>
                <a:ea typeface="Calibri" pitchFamily="34" charset="-122"/>
                <a:cs typeface="Calibri" pitchFamily="34" charset="-120"/>
              </a:rPr>
              <a:t>Causal first, then uncertainty, then decision</a:t>
            </a:r>
            <a:endParaRPr lang="en-US" sz="2700" dirty="0"/>
          </a:p>
        </p:txBody>
      </p:sp>
      <p:sp>
        <p:nvSpPr>
          <p:cNvPr id="5" name="Shape 3"/>
          <p:cNvSpPr/>
          <p:nvPr/>
        </p:nvSpPr>
        <p:spPr>
          <a:xfrm>
            <a:off x="640080" y="1536192"/>
            <a:ext cx="10911535" cy="786384"/>
          </a:xfrm>
          <a:prstGeom prst="roundRect">
            <a:avLst>
              <a:gd name="adj" fmla="val 9302"/>
            </a:avLst>
          </a:prstGeom>
          <a:solidFill>
            <a:srgbClr val="0D1128"/>
          </a:solidFill>
          <a:ln w="12700">
            <a:solidFill>
              <a:srgbClr val="F5A623"/>
            </a:solidFill>
            <a:prstDash val="solid"/>
          </a:ln>
        </p:spPr>
      </p:sp>
      <p:pic>
        <p:nvPicPr>
          <p:cNvPr id="6" name="Image 0" descr="preencoded.png"/>
          <p:cNvPicPr>
            <a:picLocks noChangeAspect="1"/>
          </p:cNvPicPr>
          <p:nvPr/>
        </p:nvPicPr>
        <p:blipFill>
          <a:blip r:embed="rId3"/>
          <a:stretch>
            <a:fillRect/>
          </a:stretch>
        </p:blipFill>
        <p:spPr>
          <a:xfrm>
            <a:off x="896112" y="1737360"/>
            <a:ext cx="365760" cy="365760"/>
          </a:xfrm>
          <a:prstGeom prst="rect">
            <a:avLst/>
          </a:prstGeom>
        </p:spPr>
      </p:pic>
      <p:sp>
        <p:nvSpPr>
          <p:cNvPr id="7" name="Text 4"/>
          <p:cNvSpPr/>
          <p:nvPr/>
        </p:nvSpPr>
        <p:spPr>
          <a:xfrm>
            <a:off x="1463040" y="1572768"/>
            <a:ext cx="9814255" cy="713232"/>
          </a:xfrm>
          <a:prstGeom prst="rect">
            <a:avLst/>
          </a:prstGeom>
          <a:noFill/>
          <a:ln/>
        </p:spPr>
        <p:txBody>
          <a:bodyPr wrap="square" lIns="0" tIns="0" rIns="0" bIns="0" rtlCol="0" anchor="ctr"/>
          <a:lstStyle/>
          <a:p>
            <a:pPr marL="0" indent="0">
              <a:lnSpc>
                <a:spcPts val="1600"/>
              </a:lnSpc>
              <a:buNone/>
            </a:pPr>
            <a:r>
              <a:rPr lang="en-US" sz="1200" b="1" dirty="0">
                <a:solidFill>
                  <a:srgbClr val="F5A623"/>
                </a:solidFill>
                <a:latin typeface="Calibri" pitchFamily="34" charset="0"/>
                <a:ea typeface="Calibri" pitchFamily="34" charset="-122"/>
                <a:cs typeface="Calibri" pitchFamily="34" charset="-120"/>
              </a:rPr>
              <a:t>The trap:  </a:t>
            </a:r>
            <a:r>
              <a:rPr lang="en-US" sz="1200" dirty="0">
                <a:solidFill>
                  <a:srgbClr val="A8B4CC"/>
                </a:solidFill>
                <a:latin typeface="Calibri" pitchFamily="34" charset="0"/>
                <a:ea typeface="Calibri" pitchFamily="34" charset="-122"/>
                <a:cs typeface="Calibri" pitchFamily="34" charset="-120"/>
              </a:rPr>
              <a:t>sampling historical sales variance gives a tight, confident distribution — of the wrong thing. How demand </a:t>
            </a:r>
            <a:r>
              <a:rPr lang="en-US" sz="1200" i="1" dirty="0">
                <a:solidFill>
                  <a:srgbClr val="F4F6FF"/>
                </a:solidFill>
                <a:latin typeface="Calibri" pitchFamily="34" charset="0"/>
                <a:ea typeface="Calibri" pitchFamily="34" charset="-122"/>
                <a:cs typeface="Calibri" pitchFamily="34" charset="-120"/>
              </a:rPr>
              <a:t>has fluctuated</a:t>
            </a:r>
            <a:r>
              <a:rPr lang="en-US" sz="1200" dirty="0">
                <a:solidFill>
                  <a:srgbClr val="A8B4CC"/>
                </a:solidFill>
                <a:latin typeface="Calibri" pitchFamily="34" charset="0"/>
                <a:ea typeface="Calibri" pitchFamily="34" charset="-122"/>
                <a:cs typeface="Calibri" pitchFamily="34" charset="-120"/>
              </a:rPr>
              <a:t> is not how it </a:t>
            </a:r>
            <a:r>
              <a:rPr lang="en-US" sz="1200" i="1" dirty="0">
                <a:solidFill>
                  <a:srgbClr val="F4F6FF"/>
                </a:solidFill>
                <a:latin typeface="Calibri" pitchFamily="34" charset="0"/>
                <a:ea typeface="Calibri" pitchFamily="34" charset="-122"/>
                <a:cs typeface="Calibri" pitchFamily="34" charset="-120"/>
              </a:rPr>
              <a:t>responds to a price you've never set.</a:t>
            </a:r>
            <a:endParaRPr lang="en-US" sz="1200" dirty="0"/>
          </a:p>
        </p:txBody>
      </p:sp>
      <p:sp>
        <p:nvSpPr>
          <p:cNvPr id="8" name="Shape 5"/>
          <p:cNvSpPr/>
          <p:nvPr/>
        </p:nvSpPr>
        <p:spPr>
          <a:xfrm>
            <a:off x="640080" y="2542032"/>
            <a:ext cx="3429914" cy="2743200"/>
          </a:xfrm>
          <a:prstGeom prst="roundRect">
            <a:avLst>
              <a:gd name="adj" fmla="val 2667"/>
            </a:avLst>
          </a:prstGeom>
          <a:solidFill>
            <a:srgbClr val="0D1128"/>
          </a:solidFill>
          <a:ln w="12700">
            <a:solidFill>
              <a:srgbClr val="1A2040"/>
            </a:solidFill>
            <a:prstDash val="solid"/>
          </a:ln>
        </p:spPr>
      </p:sp>
      <p:pic>
        <p:nvPicPr>
          <p:cNvPr id="9" name="Image 1" descr="preencoded.png"/>
          <p:cNvPicPr>
            <a:picLocks noChangeAspect="1"/>
          </p:cNvPicPr>
          <p:nvPr/>
        </p:nvPicPr>
        <p:blipFill>
          <a:blip r:embed="rId4"/>
          <a:stretch>
            <a:fillRect/>
          </a:stretch>
        </p:blipFill>
        <p:spPr>
          <a:xfrm>
            <a:off x="914400" y="2834640"/>
            <a:ext cx="365760" cy="365760"/>
          </a:xfrm>
          <a:prstGeom prst="rect">
            <a:avLst/>
          </a:prstGeom>
        </p:spPr>
      </p:pic>
      <p:sp>
        <p:nvSpPr>
          <p:cNvPr id="10" name="Text 6"/>
          <p:cNvSpPr/>
          <p:nvPr/>
        </p:nvSpPr>
        <p:spPr>
          <a:xfrm>
            <a:off x="3521354" y="2779776"/>
            <a:ext cx="365760" cy="457200"/>
          </a:xfrm>
          <a:prstGeom prst="rect">
            <a:avLst/>
          </a:prstGeom>
          <a:noFill/>
          <a:ln/>
        </p:spPr>
        <p:txBody>
          <a:bodyPr wrap="square" lIns="0" tIns="0" rIns="0" bIns="0" rtlCol="0" anchor="ctr"/>
          <a:lstStyle/>
          <a:p>
            <a:pPr marL="0" indent="0" algn="r">
              <a:buNone/>
            </a:pPr>
            <a:r>
              <a:rPr lang="en-US" sz="2200" b="1" dirty="0">
                <a:solidFill>
                  <a:srgbClr val="1A2040"/>
                </a:solidFill>
                <a:latin typeface="Courier New" pitchFamily="34" charset="0"/>
                <a:ea typeface="Courier New" pitchFamily="34" charset="-122"/>
                <a:cs typeface="Courier New" pitchFamily="34" charset="-120"/>
              </a:rPr>
              <a:t>1</a:t>
            </a:r>
            <a:endParaRPr lang="en-US" sz="2200" dirty="0"/>
          </a:p>
        </p:txBody>
      </p:sp>
      <p:sp>
        <p:nvSpPr>
          <p:cNvPr id="11" name="Text 7"/>
          <p:cNvSpPr/>
          <p:nvPr/>
        </p:nvSpPr>
        <p:spPr>
          <a:xfrm>
            <a:off x="914400" y="3310128"/>
            <a:ext cx="2881274" cy="310896"/>
          </a:xfrm>
          <a:prstGeom prst="rect">
            <a:avLst/>
          </a:prstGeom>
          <a:noFill/>
          <a:ln/>
        </p:spPr>
        <p:txBody>
          <a:bodyPr wrap="square" lIns="0" tIns="0" rIns="0" bIns="0" rtlCol="0" anchor="ctr"/>
          <a:lstStyle/>
          <a:p>
            <a:pPr marL="0" indent="0">
              <a:buNone/>
            </a:pPr>
            <a:r>
              <a:rPr lang="en-US" sz="1600" b="1" dirty="0">
                <a:solidFill>
                  <a:srgbClr val="F4F6FF"/>
                </a:solidFill>
                <a:latin typeface="Calibri" pitchFamily="34" charset="0"/>
                <a:ea typeface="Calibri" pitchFamily="34" charset="-122"/>
                <a:cs typeface="Calibri" pitchFamily="34" charset="-120"/>
              </a:rPr>
              <a:t>Causal layer</a:t>
            </a:r>
            <a:endParaRPr lang="en-US" sz="1600" dirty="0"/>
          </a:p>
        </p:txBody>
      </p:sp>
      <p:sp>
        <p:nvSpPr>
          <p:cNvPr id="12" name="Text 8"/>
          <p:cNvSpPr/>
          <p:nvPr/>
        </p:nvSpPr>
        <p:spPr>
          <a:xfrm>
            <a:off x="914400" y="3621024"/>
            <a:ext cx="2881274" cy="256032"/>
          </a:xfrm>
          <a:prstGeom prst="rect">
            <a:avLst/>
          </a:prstGeom>
          <a:noFill/>
          <a:ln/>
        </p:spPr>
        <p:txBody>
          <a:bodyPr wrap="square" lIns="0" tIns="0" rIns="0" bIns="0" rtlCol="0" anchor="ctr"/>
          <a:lstStyle/>
          <a:p>
            <a:pPr marL="0" indent="0">
              <a:buNone/>
            </a:pPr>
            <a:r>
              <a:rPr lang="en-US" sz="1050" dirty="0">
                <a:solidFill>
                  <a:srgbClr val="4FC3F7"/>
                </a:solidFill>
                <a:latin typeface="Courier New" pitchFamily="34" charset="0"/>
                <a:ea typeface="Courier New" pitchFamily="34" charset="-122"/>
                <a:cs typeface="Courier New" pitchFamily="34" charset="-120"/>
              </a:rPr>
              <a:t>Elasticity regression</a:t>
            </a:r>
            <a:endParaRPr lang="en-US" sz="1050" dirty="0"/>
          </a:p>
        </p:txBody>
      </p:sp>
      <p:sp>
        <p:nvSpPr>
          <p:cNvPr id="13" name="Text 9"/>
          <p:cNvSpPr/>
          <p:nvPr/>
        </p:nvSpPr>
        <p:spPr>
          <a:xfrm>
            <a:off x="914400" y="3950208"/>
            <a:ext cx="2881274" cy="914400"/>
          </a:xfrm>
          <a:prstGeom prst="rect">
            <a:avLst/>
          </a:prstGeom>
          <a:noFill/>
          <a:ln/>
        </p:spPr>
        <p:txBody>
          <a:bodyPr wrap="square" lIns="0" tIns="0" rIns="0" bIns="0" rtlCol="0" anchor="t"/>
          <a:lstStyle/>
          <a:p>
            <a:pPr marL="0" indent="0">
              <a:lnSpc>
                <a:spcPts val="1350"/>
              </a:lnSpc>
              <a:buNone/>
            </a:pPr>
            <a:r>
              <a:rPr lang="en-US" sz="1050" dirty="0">
                <a:solidFill>
                  <a:srgbClr val="A8B4CC"/>
                </a:solidFill>
                <a:latin typeface="Calibri" pitchFamily="34" charset="0"/>
                <a:ea typeface="Calibri" pitchFamily="34" charset="-122"/>
                <a:cs typeface="Calibri" pitchFamily="34" charset="-120"/>
              </a:rPr>
              <a:t>Estimates price → demand response per SKU. Output: an elasticity coefficient with a confidence interval — never a point estimate.</a:t>
            </a:r>
            <a:endParaRPr lang="en-US" sz="1050" dirty="0"/>
          </a:p>
        </p:txBody>
      </p:sp>
      <p:sp>
        <p:nvSpPr>
          <p:cNvPr id="14" name="Shape 10"/>
          <p:cNvSpPr/>
          <p:nvPr/>
        </p:nvSpPr>
        <p:spPr>
          <a:xfrm>
            <a:off x="914400" y="4828032"/>
            <a:ext cx="2881274" cy="0"/>
          </a:xfrm>
          <a:prstGeom prst="line">
            <a:avLst/>
          </a:prstGeom>
          <a:noFill/>
          <a:ln w="12700">
            <a:solidFill>
              <a:srgbClr val="1A2040"/>
            </a:solidFill>
            <a:prstDash val="solid"/>
          </a:ln>
        </p:spPr>
      </p:sp>
      <p:sp>
        <p:nvSpPr>
          <p:cNvPr id="15" name="Text 11"/>
          <p:cNvSpPr/>
          <p:nvPr/>
        </p:nvSpPr>
        <p:spPr>
          <a:xfrm>
            <a:off x="914400" y="4901184"/>
            <a:ext cx="2881274" cy="274320"/>
          </a:xfrm>
          <a:prstGeom prst="rect">
            <a:avLst/>
          </a:prstGeom>
          <a:noFill/>
          <a:ln/>
        </p:spPr>
        <p:txBody>
          <a:bodyPr wrap="square" lIns="0" tIns="0" rIns="0" bIns="0" rtlCol="0" anchor="ctr"/>
          <a:lstStyle/>
          <a:p>
            <a:pPr marL="0" indent="0">
              <a:buNone/>
            </a:pPr>
            <a:r>
              <a:rPr lang="en-US" sz="1200" b="1" dirty="0">
                <a:solidFill>
                  <a:srgbClr val="4FC3F7"/>
                </a:solidFill>
                <a:latin typeface="Calibri" pitchFamily="34" charset="0"/>
                <a:ea typeface="Calibri" pitchFamily="34" charset="-122"/>
                <a:cs typeface="Calibri" pitchFamily="34" charset="-120"/>
              </a:rPr>
              <a:t>Makes it correct</a:t>
            </a:r>
            <a:endParaRPr lang="en-US" sz="1200" dirty="0"/>
          </a:p>
        </p:txBody>
      </p:sp>
      <p:sp>
        <p:nvSpPr>
          <p:cNvPr id="16" name="Shape 12"/>
          <p:cNvSpPr/>
          <p:nvPr/>
        </p:nvSpPr>
        <p:spPr>
          <a:xfrm>
            <a:off x="4106570" y="3913632"/>
            <a:ext cx="237744" cy="0"/>
          </a:xfrm>
          <a:prstGeom prst="line">
            <a:avLst/>
          </a:prstGeom>
          <a:noFill/>
          <a:ln w="15875">
            <a:solidFill>
              <a:srgbClr val="2A3560"/>
            </a:solidFill>
            <a:prstDash val="solid"/>
            <a:tailEnd type="triangle"/>
          </a:ln>
        </p:spPr>
      </p:sp>
      <p:sp>
        <p:nvSpPr>
          <p:cNvPr id="17" name="Shape 13"/>
          <p:cNvSpPr/>
          <p:nvPr/>
        </p:nvSpPr>
        <p:spPr>
          <a:xfrm>
            <a:off x="4380890" y="2542032"/>
            <a:ext cx="3429914" cy="2743200"/>
          </a:xfrm>
          <a:prstGeom prst="roundRect">
            <a:avLst>
              <a:gd name="adj" fmla="val 2667"/>
            </a:avLst>
          </a:prstGeom>
          <a:solidFill>
            <a:srgbClr val="0D1128"/>
          </a:solidFill>
          <a:ln w="12700">
            <a:solidFill>
              <a:srgbClr val="F5A623"/>
            </a:solidFill>
            <a:prstDash val="solid"/>
          </a:ln>
        </p:spPr>
      </p:sp>
      <p:pic>
        <p:nvPicPr>
          <p:cNvPr id="18" name="Image 2" descr="preencoded.png"/>
          <p:cNvPicPr>
            <a:picLocks noChangeAspect="1"/>
          </p:cNvPicPr>
          <p:nvPr/>
        </p:nvPicPr>
        <p:blipFill>
          <a:blip r:embed="rId5"/>
          <a:stretch>
            <a:fillRect/>
          </a:stretch>
        </p:blipFill>
        <p:spPr>
          <a:xfrm>
            <a:off x="4655210" y="2834640"/>
            <a:ext cx="365760" cy="365760"/>
          </a:xfrm>
          <a:prstGeom prst="rect">
            <a:avLst/>
          </a:prstGeom>
        </p:spPr>
      </p:pic>
      <p:sp>
        <p:nvSpPr>
          <p:cNvPr id="19" name="Text 14"/>
          <p:cNvSpPr/>
          <p:nvPr/>
        </p:nvSpPr>
        <p:spPr>
          <a:xfrm>
            <a:off x="7262165" y="2779776"/>
            <a:ext cx="365760" cy="457200"/>
          </a:xfrm>
          <a:prstGeom prst="rect">
            <a:avLst/>
          </a:prstGeom>
          <a:noFill/>
          <a:ln/>
        </p:spPr>
        <p:txBody>
          <a:bodyPr wrap="square" lIns="0" tIns="0" rIns="0" bIns="0" rtlCol="0" anchor="ctr"/>
          <a:lstStyle/>
          <a:p>
            <a:pPr marL="0" indent="0" algn="r">
              <a:buNone/>
            </a:pPr>
            <a:r>
              <a:rPr lang="en-US" sz="2200" b="1" dirty="0">
                <a:solidFill>
                  <a:srgbClr val="1A2040"/>
                </a:solidFill>
                <a:latin typeface="Courier New" pitchFamily="34" charset="0"/>
                <a:ea typeface="Courier New" pitchFamily="34" charset="-122"/>
                <a:cs typeface="Courier New" pitchFamily="34" charset="-120"/>
              </a:rPr>
              <a:t>2</a:t>
            </a:r>
            <a:endParaRPr lang="en-US" sz="2200" dirty="0"/>
          </a:p>
        </p:txBody>
      </p:sp>
      <p:sp>
        <p:nvSpPr>
          <p:cNvPr id="20" name="Text 15"/>
          <p:cNvSpPr/>
          <p:nvPr/>
        </p:nvSpPr>
        <p:spPr>
          <a:xfrm>
            <a:off x="4655210" y="3310128"/>
            <a:ext cx="2881274" cy="310896"/>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Uncertainty layer</a:t>
            </a:r>
            <a:endParaRPr lang="en-US" sz="1600" dirty="0"/>
          </a:p>
        </p:txBody>
      </p:sp>
      <p:sp>
        <p:nvSpPr>
          <p:cNvPr id="21" name="Text 16"/>
          <p:cNvSpPr/>
          <p:nvPr/>
        </p:nvSpPr>
        <p:spPr>
          <a:xfrm>
            <a:off x="4655210" y="3621024"/>
            <a:ext cx="2881274" cy="256032"/>
          </a:xfrm>
          <a:prstGeom prst="rect">
            <a:avLst/>
          </a:prstGeom>
          <a:noFill/>
          <a:ln/>
        </p:spPr>
        <p:txBody>
          <a:bodyPr wrap="square" lIns="0" tIns="0" rIns="0" bIns="0" rtlCol="0" anchor="ctr"/>
          <a:lstStyle/>
          <a:p>
            <a:pPr marL="0" indent="0">
              <a:buNone/>
            </a:pPr>
            <a:r>
              <a:rPr lang="en-US" sz="1050" dirty="0">
                <a:solidFill>
                  <a:srgbClr val="F5A623"/>
                </a:solidFill>
                <a:latin typeface="Courier New" pitchFamily="34" charset="0"/>
                <a:ea typeface="Courier New" pitchFamily="34" charset="-122"/>
                <a:cs typeface="Courier New" pitchFamily="34" charset="-120"/>
              </a:rPr>
              <a:t>Monte Carlo</a:t>
            </a:r>
            <a:endParaRPr lang="en-US" sz="1050" dirty="0"/>
          </a:p>
        </p:txBody>
      </p:sp>
      <p:sp>
        <p:nvSpPr>
          <p:cNvPr id="22" name="Text 17"/>
          <p:cNvSpPr/>
          <p:nvPr/>
        </p:nvSpPr>
        <p:spPr>
          <a:xfrm>
            <a:off x="4655210" y="3950208"/>
            <a:ext cx="2881274" cy="914400"/>
          </a:xfrm>
          <a:prstGeom prst="rect">
            <a:avLst/>
          </a:prstGeom>
          <a:noFill/>
          <a:ln/>
        </p:spPr>
        <p:txBody>
          <a:bodyPr wrap="square" lIns="0" tIns="0" rIns="0" bIns="0" rtlCol="0" anchor="t"/>
          <a:lstStyle/>
          <a:p>
            <a:pPr marL="0" indent="0">
              <a:lnSpc>
                <a:spcPts val="1350"/>
              </a:lnSpc>
              <a:buNone/>
            </a:pPr>
            <a:r>
              <a:rPr lang="en-US" sz="1050" dirty="0">
                <a:solidFill>
                  <a:srgbClr val="A8B4CC"/>
                </a:solidFill>
                <a:latin typeface="Calibri" pitchFamily="34" charset="0"/>
                <a:ea typeface="Calibri" pitchFamily="34" charset="-122"/>
                <a:cs typeface="Calibri" pitchFamily="34" charset="-120"/>
              </a:rPr>
              <a:t>Samples over the elasticity interval, competitor response, cost drift, seasonality. Output: a revenue/margin distribution per candidate price.</a:t>
            </a:r>
            <a:endParaRPr lang="en-US" sz="1050" dirty="0"/>
          </a:p>
        </p:txBody>
      </p:sp>
      <p:sp>
        <p:nvSpPr>
          <p:cNvPr id="23" name="Shape 18"/>
          <p:cNvSpPr/>
          <p:nvPr/>
        </p:nvSpPr>
        <p:spPr>
          <a:xfrm>
            <a:off x="4655210" y="4828032"/>
            <a:ext cx="2881274" cy="0"/>
          </a:xfrm>
          <a:prstGeom prst="line">
            <a:avLst/>
          </a:prstGeom>
          <a:noFill/>
          <a:ln w="12700">
            <a:solidFill>
              <a:srgbClr val="1A2040"/>
            </a:solidFill>
            <a:prstDash val="solid"/>
          </a:ln>
        </p:spPr>
      </p:sp>
      <p:sp>
        <p:nvSpPr>
          <p:cNvPr id="24" name="Text 19"/>
          <p:cNvSpPr/>
          <p:nvPr/>
        </p:nvSpPr>
        <p:spPr>
          <a:xfrm>
            <a:off x="4655210" y="4901184"/>
            <a:ext cx="2881274" cy="274320"/>
          </a:xfrm>
          <a:prstGeom prst="rect">
            <a:avLst/>
          </a:prstGeom>
          <a:noFill/>
          <a:ln/>
        </p:spPr>
        <p:txBody>
          <a:bodyPr wrap="square" lIns="0" tIns="0" rIns="0" bIns="0"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Makes it honest</a:t>
            </a:r>
            <a:endParaRPr lang="en-US" sz="1200" dirty="0"/>
          </a:p>
        </p:txBody>
      </p:sp>
      <p:sp>
        <p:nvSpPr>
          <p:cNvPr id="25" name="Shape 20"/>
          <p:cNvSpPr/>
          <p:nvPr/>
        </p:nvSpPr>
        <p:spPr>
          <a:xfrm>
            <a:off x="7847381" y="3913632"/>
            <a:ext cx="237744" cy="0"/>
          </a:xfrm>
          <a:prstGeom prst="line">
            <a:avLst/>
          </a:prstGeom>
          <a:noFill/>
          <a:ln w="15875">
            <a:solidFill>
              <a:srgbClr val="2A3560"/>
            </a:solidFill>
            <a:prstDash val="solid"/>
            <a:tailEnd type="triangle"/>
          </a:ln>
        </p:spPr>
      </p:sp>
      <p:sp>
        <p:nvSpPr>
          <p:cNvPr id="26" name="Shape 21"/>
          <p:cNvSpPr/>
          <p:nvPr/>
        </p:nvSpPr>
        <p:spPr>
          <a:xfrm>
            <a:off x="8121701" y="2542032"/>
            <a:ext cx="3429914" cy="2743200"/>
          </a:xfrm>
          <a:prstGeom prst="roundRect">
            <a:avLst>
              <a:gd name="adj" fmla="val 2667"/>
            </a:avLst>
          </a:prstGeom>
          <a:solidFill>
            <a:srgbClr val="0D1128"/>
          </a:solidFill>
          <a:ln w="12700">
            <a:solidFill>
              <a:srgbClr val="1A2040"/>
            </a:solidFill>
            <a:prstDash val="solid"/>
          </a:ln>
        </p:spPr>
      </p:sp>
      <p:pic>
        <p:nvPicPr>
          <p:cNvPr id="27" name="Image 3" descr="preencoded.png"/>
          <p:cNvPicPr>
            <a:picLocks noChangeAspect="1"/>
          </p:cNvPicPr>
          <p:nvPr/>
        </p:nvPicPr>
        <p:blipFill>
          <a:blip r:embed="rId6"/>
          <a:stretch>
            <a:fillRect/>
          </a:stretch>
        </p:blipFill>
        <p:spPr>
          <a:xfrm>
            <a:off x="8396021" y="2834640"/>
            <a:ext cx="365760" cy="365760"/>
          </a:xfrm>
          <a:prstGeom prst="rect">
            <a:avLst/>
          </a:prstGeom>
        </p:spPr>
      </p:pic>
      <p:sp>
        <p:nvSpPr>
          <p:cNvPr id="28" name="Text 22"/>
          <p:cNvSpPr/>
          <p:nvPr/>
        </p:nvSpPr>
        <p:spPr>
          <a:xfrm>
            <a:off x="11002975" y="2779776"/>
            <a:ext cx="365760" cy="457200"/>
          </a:xfrm>
          <a:prstGeom prst="rect">
            <a:avLst/>
          </a:prstGeom>
          <a:noFill/>
          <a:ln/>
        </p:spPr>
        <p:txBody>
          <a:bodyPr wrap="square" lIns="0" tIns="0" rIns="0" bIns="0" rtlCol="0" anchor="ctr"/>
          <a:lstStyle/>
          <a:p>
            <a:pPr marL="0" indent="0" algn="r">
              <a:buNone/>
            </a:pPr>
            <a:r>
              <a:rPr lang="en-US" sz="2200" b="1" dirty="0">
                <a:solidFill>
                  <a:srgbClr val="1A2040"/>
                </a:solidFill>
                <a:latin typeface="Courier New" pitchFamily="34" charset="0"/>
                <a:ea typeface="Courier New" pitchFamily="34" charset="-122"/>
                <a:cs typeface="Courier New" pitchFamily="34" charset="-120"/>
              </a:rPr>
              <a:t>3</a:t>
            </a:r>
            <a:endParaRPr lang="en-US" sz="2200" dirty="0"/>
          </a:p>
        </p:txBody>
      </p:sp>
      <p:sp>
        <p:nvSpPr>
          <p:cNvPr id="29" name="Text 23"/>
          <p:cNvSpPr/>
          <p:nvPr/>
        </p:nvSpPr>
        <p:spPr>
          <a:xfrm>
            <a:off x="8396021" y="3310128"/>
            <a:ext cx="2881274" cy="310896"/>
          </a:xfrm>
          <a:prstGeom prst="rect">
            <a:avLst/>
          </a:prstGeom>
          <a:noFill/>
          <a:ln/>
        </p:spPr>
        <p:txBody>
          <a:bodyPr wrap="square" lIns="0" tIns="0" rIns="0" bIns="0" rtlCol="0" anchor="ctr"/>
          <a:lstStyle/>
          <a:p>
            <a:pPr marL="0" indent="0">
              <a:buNone/>
            </a:pPr>
            <a:r>
              <a:rPr lang="en-US" sz="1600" b="1" dirty="0">
                <a:solidFill>
                  <a:srgbClr val="F4F6FF"/>
                </a:solidFill>
                <a:latin typeface="Calibri" pitchFamily="34" charset="0"/>
                <a:ea typeface="Calibri" pitchFamily="34" charset="-122"/>
                <a:cs typeface="Calibri" pitchFamily="34" charset="-120"/>
              </a:rPr>
              <a:t>Decision layer</a:t>
            </a:r>
            <a:endParaRPr lang="en-US" sz="1600" dirty="0"/>
          </a:p>
        </p:txBody>
      </p:sp>
      <p:sp>
        <p:nvSpPr>
          <p:cNvPr id="30" name="Text 24"/>
          <p:cNvSpPr/>
          <p:nvPr/>
        </p:nvSpPr>
        <p:spPr>
          <a:xfrm>
            <a:off x="8396021" y="3621024"/>
            <a:ext cx="2881274" cy="256032"/>
          </a:xfrm>
          <a:prstGeom prst="rect">
            <a:avLst/>
          </a:prstGeom>
          <a:noFill/>
          <a:ln/>
        </p:spPr>
        <p:txBody>
          <a:bodyPr wrap="square" lIns="0" tIns="0" rIns="0" bIns="0" rtlCol="0" anchor="ctr"/>
          <a:lstStyle/>
          <a:p>
            <a:pPr marL="0" indent="0">
              <a:buNone/>
            </a:pPr>
            <a:r>
              <a:rPr lang="en-US" sz="1050" dirty="0">
                <a:solidFill>
                  <a:srgbClr val="4FC3F7"/>
                </a:solidFill>
                <a:latin typeface="Courier New" pitchFamily="34" charset="0"/>
                <a:ea typeface="Courier New" pitchFamily="34" charset="-122"/>
                <a:cs typeface="Courier New" pitchFamily="34" charset="-120"/>
              </a:rPr>
              <a:t>Constrained optimizer</a:t>
            </a:r>
            <a:endParaRPr lang="en-US" sz="1050" dirty="0"/>
          </a:p>
        </p:txBody>
      </p:sp>
      <p:sp>
        <p:nvSpPr>
          <p:cNvPr id="31" name="Text 25"/>
          <p:cNvSpPr/>
          <p:nvPr/>
        </p:nvSpPr>
        <p:spPr>
          <a:xfrm>
            <a:off x="8396021" y="3950208"/>
            <a:ext cx="2881274" cy="914400"/>
          </a:xfrm>
          <a:prstGeom prst="rect">
            <a:avLst/>
          </a:prstGeom>
          <a:noFill/>
          <a:ln/>
        </p:spPr>
        <p:txBody>
          <a:bodyPr wrap="square" lIns="0" tIns="0" rIns="0" bIns="0" rtlCol="0" anchor="t"/>
          <a:lstStyle/>
          <a:p>
            <a:pPr marL="0" indent="0">
              <a:lnSpc>
                <a:spcPts val="1350"/>
              </a:lnSpc>
              <a:buNone/>
            </a:pPr>
            <a:r>
              <a:rPr lang="en-US" sz="1050" dirty="0">
                <a:solidFill>
                  <a:srgbClr val="A8B4CC"/>
                </a:solidFill>
                <a:latin typeface="Calibri" pitchFamily="34" charset="0"/>
                <a:ea typeface="Calibri" pitchFamily="34" charset="-122"/>
                <a:cs typeface="Calibri" pitchFamily="34" charset="-120"/>
              </a:rPr>
              <a:t>Selects the price maximizing the objective, subject to margin floor, bounds, and damping. Output: recommended price + impact with CI.</a:t>
            </a:r>
            <a:endParaRPr lang="en-US" sz="1050" dirty="0"/>
          </a:p>
        </p:txBody>
      </p:sp>
      <p:sp>
        <p:nvSpPr>
          <p:cNvPr id="32" name="Shape 26"/>
          <p:cNvSpPr/>
          <p:nvPr/>
        </p:nvSpPr>
        <p:spPr>
          <a:xfrm>
            <a:off x="8396021" y="4828032"/>
            <a:ext cx="2881274" cy="0"/>
          </a:xfrm>
          <a:prstGeom prst="line">
            <a:avLst/>
          </a:prstGeom>
          <a:noFill/>
          <a:ln w="12700">
            <a:solidFill>
              <a:srgbClr val="1A2040"/>
            </a:solidFill>
            <a:prstDash val="solid"/>
          </a:ln>
        </p:spPr>
      </p:sp>
      <p:sp>
        <p:nvSpPr>
          <p:cNvPr id="33" name="Text 27"/>
          <p:cNvSpPr/>
          <p:nvPr/>
        </p:nvSpPr>
        <p:spPr>
          <a:xfrm>
            <a:off x="8396021" y="4901184"/>
            <a:ext cx="2881274" cy="274320"/>
          </a:xfrm>
          <a:prstGeom prst="rect">
            <a:avLst/>
          </a:prstGeom>
          <a:noFill/>
          <a:ln/>
        </p:spPr>
        <p:txBody>
          <a:bodyPr wrap="square" lIns="0" tIns="0" rIns="0" bIns="0" rtlCol="0" anchor="ctr"/>
          <a:lstStyle/>
          <a:p>
            <a:pPr marL="0" indent="0">
              <a:buNone/>
            </a:pPr>
            <a:r>
              <a:rPr lang="en-US" sz="1200" b="1" dirty="0">
                <a:solidFill>
                  <a:srgbClr val="4FC3F7"/>
                </a:solidFill>
                <a:latin typeface="Calibri" pitchFamily="34" charset="0"/>
                <a:ea typeface="Calibri" pitchFamily="34" charset="-122"/>
                <a:cs typeface="Calibri" pitchFamily="34" charset="-120"/>
              </a:rPr>
              <a:t>Makes it actionable</a:t>
            </a:r>
            <a:endParaRPr lang="en-US" sz="1200" dirty="0"/>
          </a:p>
        </p:txBody>
      </p:sp>
      <p:sp>
        <p:nvSpPr>
          <p:cNvPr id="34" name="Text 28"/>
          <p:cNvSpPr/>
          <p:nvPr/>
        </p:nvSpPr>
        <p:spPr>
          <a:xfrm>
            <a:off x="640080" y="5468112"/>
            <a:ext cx="10911535" cy="310896"/>
          </a:xfrm>
          <a:prstGeom prst="rect">
            <a:avLst/>
          </a:prstGeom>
          <a:noFill/>
          <a:ln/>
        </p:spPr>
        <p:txBody>
          <a:bodyPr wrap="square" lIns="0" tIns="0" rIns="0" bIns="0" rtlCol="0" anchor="ctr"/>
          <a:lstStyle/>
          <a:p>
            <a:pPr marL="0" indent="0" algn="ctr">
              <a:buNone/>
            </a:pPr>
            <a:r>
              <a:rPr lang="en-US" sz="1300" dirty="0">
                <a:solidFill>
                  <a:srgbClr val="F5A623"/>
                </a:solidFill>
                <a:latin typeface="Calibri" pitchFamily="34" charset="0"/>
                <a:ea typeface="Calibri" pitchFamily="34" charset="-122"/>
                <a:cs typeface="Calibri" pitchFamily="34" charset="-120"/>
              </a:rPr>
              <a:t>No layer may be skipped. A Monte Carlo that never consumes an upstream elasticity estimate does not count.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08</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CONTEXT ENGINEERING &amp; RAG</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2964"/>
              </a:lnSpc>
              <a:buNone/>
            </a:pPr>
            <a:r>
              <a:rPr lang="en-US" sz="2600" b="1" dirty="0">
                <a:solidFill>
                  <a:srgbClr val="F4F6FF"/>
                </a:solidFill>
                <a:latin typeface="Calibri" pitchFamily="34" charset="0"/>
                <a:ea typeface="Calibri" pitchFamily="34" charset="-122"/>
                <a:cs typeface="Calibri" pitchFamily="34" charset="-120"/>
              </a:rPr>
              <a:t>Grounding is enforced structurally, not hoped for</a:t>
            </a:r>
            <a:endParaRPr lang="en-US" sz="2600" dirty="0"/>
          </a:p>
        </p:txBody>
      </p:sp>
      <p:sp>
        <p:nvSpPr>
          <p:cNvPr id="5" name="Shape 3"/>
          <p:cNvSpPr/>
          <p:nvPr/>
        </p:nvSpPr>
        <p:spPr>
          <a:xfrm>
            <a:off x="640080" y="1664208"/>
            <a:ext cx="5486400" cy="1965960"/>
          </a:xfrm>
          <a:prstGeom prst="roundRect">
            <a:avLst>
              <a:gd name="adj" fmla="val 3721"/>
            </a:avLst>
          </a:prstGeom>
          <a:solidFill>
            <a:srgbClr val="0D1128"/>
          </a:solidFill>
          <a:ln w="12700">
            <a:solidFill>
              <a:srgbClr val="1A2040"/>
            </a:solidFill>
            <a:prstDash val="solid"/>
          </a:ln>
        </p:spPr>
      </p:sp>
      <p:pic>
        <p:nvPicPr>
          <p:cNvPr id="6" name="Image 0" descr="preencoded.png"/>
          <p:cNvPicPr>
            <a:picLocks noChangeAspect="1"/>
          </p:cNvPicPr>
          <p:nvPr/>
        </p:nvPicPr>
        <p:blipFill>
          <a:blip r:embed="rId3"/>
          <a:stretch>
            <a:fillRect/>
          </a:stretch>
        </p:blipFill>
        <p:spPr>
          <a:xfrm>
            <a:off x="914400" y="1901952"/>
            <a:ext cx="365760" cy="365760"/>
          </a:xfrm>
          <a:prstGeom prst="rect">
            <a:avLst/>
          </a:prstGeom>
        </p:spPr>
      </p:pic>
      <p:sp>
        <p:nvSpPr>
          <p:cNvPr id="7" name="Text 4"/>
          <p:cNvSpPr/>
          <p:nvPr/>
        </p:nvSpPr>
        <p:spPr>
          <a:xfrm>
            <a:off x="1426464" y="1920240"/>
            <a:ext cx="4480560" cy="329184"/>
          </a:xfrm>
          <a:prstGeom prst="rect">
            <a:avLst/>
          </a:prstGeom>
          <a:noFill/>
          <a:ln/>
        </p:spPr>
        <p:txBody>
          <a:bodyPr wrap="square" lIns="0" tIns="0" rIns="0" bIns="0" rtlCol="0" anchor="ctr"/>
          <a:lstStyle/>
          <a:p>
            <a:pPr marL="0" indent="0">
              <a:buNone/>
            </a:pPr>
            <a:r>
              <a:rPr lang="en-US" sz="1450" b="1" dirty="0">
                <a:solidFill>
                  <a:srgbClr val="F5A623"/>
                </a:solidFill>
                <a:latin typeface="Calibri" pitchFamily="34" charset="0"/>
                <a:ea typeface="Calibri" pitchFamily="34" charset="-122"/>
                <a:cs typeface="Calibri" pitchFamily="34" charset="-120"/>
              </a:rPr>
              <a:t>One LLM entry point:  GroundedLLM</a:t>
            </a:r>
            <a:endParaRPr lang="en-US" sz="1450" dirty="0"/>
          </a:p>
        </p:txBody>
      </p:sp>
      <p:sp>
        <p:nvSpPr>
          <p:cNvPr id="8" name="Text 5"/>
          <p:cNvSpPr/>
          <p:nvPr/>
        </p:nvSpPr>
        <p:spPr>
          <a:xfrm>
            <a:off x="914400" y="2377440"/>
            <a:ext cx="4937760" cy="1188720"/>
          </a:xfrm>
          <a:prstGeom prst="rect">
            <a:avLst/>
          </a:prstGeom>
          <a:noFill/>
          <a:ln/>
        </p:spPr>
        <p:txBody>
          <a:bodyPr wrap="square" lIns="0" tIns="0" rIns="0" bIns="0" rtlCol="0" anchor="t"/>
          <a:lstStyle/>
          <a:p>
            <a:pPr marL="0" indent="0">
              <a:lnSpc>
                <a:spcPts val="1600"/>
              </a:lnSpc>
              <a:buNone/>
            </a:pPr>
            <a:r>
              <a:rPr lang="en-US" sz="1200" dirty="0">
                <a:solidFill>
                  <a:srgbClr val="A8B4CC"/>
                </a:solidFill>
                <a:latin typeface="Calibri" pitchFamily="34" charset="0"/>
                <a:ea typeface="Calibri" pitchFamily="34" charset="-122"/>
                <a:cs typeface="Calibri" pitchFamily="34" charset="-120"/>
              </a:rPr>
              <a:t>Every agent that calls a model goes through a single wrapper. It injects retrieved context with source IDs, and any recommendation-class output must carry a non-empty </a:t>
            </a:r>
            <a:r>
              <a:rPr lang="en-US" sz="1200" dirty="0">
                <a:solidFill>
                  <a:srgbClr val="4FC3F7"/>
                </a:solidFill>
                <a:latin typeface="Courier New" pitchFamily="34" charset="0"/>
                <a:ea typeface="Courier New" pitchFamily="34" charset="-122"/>
                <a:cs typeface="Courier New" pitchFamily="34" charset="-120"/>
              </a:rPr>
              <a:t>citations</a:t>
            </a:r>
            <a:r>
              <a:rPr lang="en-US" sz="1200" dirty="0">
                <a:solidFill>
                  <a:srgbClr val="A8B4CC"/>
                </a:solidFill>
                <a:latin typeface="Calibri" pitchFamily="34" charset="0"/>
                <a:ea typeface="Calibri" pitchFamily="34" charset="-122"/>
                <a:cs typeface="Calibri" pitchFamily="34" charset="-120"/>
              </a:rPr>
              <a:t> field, validated after generation. Ungrounded rationale is rejected — it can't reach the user.</a:t>
            </a:r>
            <a:endParaRPr lang="en-US" sz="1200" dirty="0"/>
          </a:p>
        </p:txBody>
      </p:sp>
      <p:sp>
        <p:nvSpPr>
          <p:cNvPr id="9" name="Text 6"/>
          <p:cNvSpPr/>
          <p:nvPr/>
        </p:nvSpPr>
        <p:spPr>
          <a:xfrm>
            <a:off x="6492240" y="1664208"/>
            <a:ext cx="5059375" cy="219456"/>
          </a:xfrm>
          <a:prstGeom prst="rect">
            <a:avLst/>
          </a:prstGeom>
          <a:noFill/>
          <a:ln/>
        </p:spPr>
        <p:txBody>
          <a:bodyPr wrap="square" lIns="0" tIns="0" rIns="0" bIns="0" rtlCol="0" anchor="ctr"/>
          <a:lstStyle/>
          <a:p>
            <a:pPr marL="0" indent="0">
              <a:buNone/>
            </a:pPr>
            <a:r>
              <a:rPr lang="en-US" sz="900" b="1" kern="0" spc="120" dirty="0">
                <a:solidFill>
                  <a:srgbClr val="6A7590"/>
                </a:solidFill>
                <a:latin typeface="Calibri" pitchFamily="34" charset="0"/>
                <a:ea typeface="Calibri" pitchFamily="34" charset="-122"/>
                <a:cs typeface="Calibri" pitchFamily="34" charset="-120"/>
              </a:rPr>
              <a:t>FOUR CHROMADB COLLECTIONS · LOCAL, IN-PROCESS</a:t>
            </a:r>
            <a:endParaRPr lang="en-US" sz="900" dirty="0"/>
          </a:p>
        </p:txBody>
      </p:sp>
      <p:sp>
        <p:nvSpPr>
          <p:cNvPr id="10" name="Shape 7"/>
          <p:cNvSpPr/>
          <p:nvPr/>
        </p:nvSpPr>
        <p:spPr>
          <a:xfrm>
            <a:off x="6492240" y="1975104"/>
            <a:ext cx="2438248" cy="786384"/>
          </a:xfrm>
          <a:prstGeom prst="roundRect">
            <a:avLst>
              <a:gd name="adj" fmla="val 9302"/>
            </a:avLst>
          </a:prstGeom>
          <a:solidFill>
            <a:srgbClr val="0D1128"/>
          </a:solidFill>
          <a:ln w="12700">
            <a:solidFill>
              <a:srgbClr val="1A2040"/>
            </a:solidFill>
            <a:prstDash val="solid"/>
          </a:ln>
        </p:spPr>
      </p:sp>
      <p:pic>
        <p:nvPicPr>
          <p:cNvPr id="11" name="Image 1" descr="preencoded.png"/>
          <p:cNvPicPr>
            <a:picLocks noChangeAspect="1"/>
          </p:cNvPicPr>
          <p:nvPr/>
        </p:nvPicPr>
        <p:blipFill>
          <a:blip r:embed="rId4"/>
          <a:stretch>
            <a:fillRect/>
          </a:stretch>
        </p:blipFill>
        <p:spPr>
          <a:xfrm>
            <a:off x="6656832" y="2121408"/>
            <a:ext cx="274320" cy="274320"/>
          </a:xfrm>
          <a:prstGeom prst="rect">
            <a:avLst/>
          </a:prstGeom>
        </p:spPr>
      </p:pic>
      <p:sp>
        <p:nvSpPr>
          <p:cNvPr id="12" name="Text 8"/>
          <p:cNvSpPr/>
          <p:nvPr/>
        </p:nvSpPr>
        <p:spPr>
          <a:xfrm>
            <a:off x="7004304" y="2093976"/>
            <a:ext cx="1798168" cy="256032"/>
          </a:xfrm>
          <a:prstGeom prst="rect">
            <a:avLst/>
          </a:prstGeom>
          <a:noFill/>
          <a:ln/>
        </p:spPr>
        <p:txBody>
          <a:bodyPr wrap="square" lIns="0" tIns="0" rIns="0" bIns="0" rtlCol="0" anchor="ctr"/>
          <a:lstStyle/>
          <a:p>
            <a:pPr marL="0" indent="0">
              <a:buNone/>
            </a:pPr>
            <a:r>
              <a:rPr lang="en-US" sz="1050" b="1" dirty="0">
                <a:solidFill>
                  <a:srgbClr val="F4F6FF"/>
                </a:solidFill>
                <a:latin typeface="Courier New" pitchFamily="34" charset="0"/>
                <a:ea typeface="Courier New" pitchFamily="34" charset="-122"/>
                <a:cs typeface="Courier New" pitchFamily="34" charset="-120"/>
              </a:rPr>
              <a:t>pricing_policy</a:t>
            </a:r>
            <a:endParaRPr lang="en-US" sz="1050" dirty="0"/>
          </a:p>
        </p:txBody>
      </p:sp>
      <p:sp>
        <p:nvSpPr>
          <p:cNvPr id="13" name="Text 9"/>
          <p:cNvSpPr/>
          <p:nvPr/>
        </p:nvSpPr>
        <p:spPr>
          <a:xfrm>
            <a:off x="7004304" y="2359152"/>
            <a:ext cx="1798168" cy="310896"/>
          </a:xfrm>
          <a:prstGeom prst="rect">
            <a:avLst/>
          </a:prstGeom>
          <a:noFill/>
          <a:ln/>
        </p:spPr>
        <p:txBody>
          <a:bodyPr wrap="square" lIns="0" tIns="0" rIns="0" bIns="0" rtlCol="0" anchor="t"/>
          <a:lstStyle/>
          <a:p>
            <a:pPr marL="0" indent="0">
              <a:lnSpc>
                <a:spcPts val="1100"/>
              </a:lnSpc>
              <a:buNone/>
            </a:pPr>
            <a:r>
              <a:rPr lang="en-US" sz="900" dirty="0">
                <a:solidFill>
                  <a:srgbClr val="A8B4CC"/>
                </a:solidFill>
                <a:latin typeface="Calibri" pitchFamily="34" charset="0"/>
                <a:ea typeface="Calibri" pitchFamily="34" charset="-122"/>
                <a:cs typeface="Calibri" pitchFamily="34" charset="-120"/>
              </a:rPr>
              <a:t>MAP agreements, brand guidelines</a:t>
            </a:r>
            <a:endParaRPr lang="en-US" sz="900" dirty="0"/>
          </a:p>
        </p:txBody>
      </p:sp>
      <p:sp>
        <p:nvSpPr>
          <p:cNvPr id="14" name="Shape 10"/>
          <p:cNvSpPr/>
          <p:nvPr/>
        </p:nvSpPr>
        <p:spPr>
          <a:xfrm>
            <a:off x="9113368" y="1975104"/>
            <a:ext cx="2438248" cy="786384"/>
          </a:xfrm>
          <a:prstGeom prst="roundRect">
            <a:avLst>
              <a:gd name="adj" fmla="val 9302"/>
            </a:avLst>
          </a:prstGeom>
          <a:solidFill>
            <a:srgbClr val="0D1128"/>
          </a:solidFill>
          <a:ln w="12700">
            <a:solidFill>
              <a:srgbClr val="1A2040"/>
            </a:solidFill>
            <a:prstDash val="solid"/>
          </a:ln>
        </p:spPr>
      </p:sp>
      <p:pic>
        <p:nvPicPr>
          <p:cNvPr id="15" name="Image 2" descr="preencoded.png"/>
          <p:cNvPicPr>
            <a:picLocks noChangeAspect="1"/>
          </p:cNvPicPr>
          <p:nvPr/>
        </p:nvPicPr>
        <p:blipFill>
          <a:blip r:embed="rId5"/>
          <a:stretch>
            <a:fillRect/>
          </a:stretch>
        </p:blipFill>
        <p:spPr>
          <a:xfrm>
            <a:off x="9277960" y="2121408"/>
            <a:ext cx="274320" cy="274320"/>
          </a:xfrm>
          <a:prstGeom prst="rect">
            <a:avLst/>
          </a:prstGeom>
        </p:spPr>
      </p:pic>
      <p:sp>
        <p:nvSpPr>
          <p:cNvPr id="16" name="Text 11"/>
          <p:cNvSpPr/>
          <p:nvPr/>
        </p:nvSpPr>
        <p:spPr>
          <a:xfrm>
            <a:off x="9625432" y="2093976"/>
            <a:ext cx="1798168" cy="256032"/>
          </a:xfrm>
          <a:prstGeom prst="rect">
            <a:avLst/>
          </a:prstGeom>
          <a:noFill/>
          <a:ln/>
        </p:spPr>
        <p:txBody>
          <a:bodyPr wrap="square" lIns="0" tIns="0" rIns="0" bIns="0" rtlCol="0" anchor="ctr"/>
          <a:lstStyle/>
          <a:p>
            <a:pPr marL="0" indent="0">
              <a:buNone/>
            </a:pPr>
            <a:r>
              <a:rPr lang="en-US" sz="1050" b="1" dirty="0">
                <a:solidFill>
                  <a:srgbClr val="F4F6FF"/>
                </a:solidFill>
                <a:latin typeface="Courier New" pitchFamily="34" charset="0"/>
                <a:ea typeface="Courier New" pitchFamily="34" charset="-122"/>
                <a:cs typeface="Courier New" pitchFamily="34" charset="-120"/>
              </a:rPr>
              <a:t>market_intel</a:t>
            </a:r>
            <a:endParaRPr lang="en-US" sz="1050" dirty="0"/>
          </a:p>
        </p:txBody>
      </p:sp>
      <p:sp>
        <p:nvSpPr>
          <p:cNvPr id="17" name="Text 12"/>
          <p:cNvSpPr/>
          <p:nvPr/>
        </p:nvSpPr>
        <p:spPr>
          <a:xfrm>
            <a:off x="9625432" y="2359152"/>
            <a:ext cx="1798168" cy="310896"/>
          </a:xfrm>
          <a:prstGeom prst="rect">
            <a:avLst/>
          </a:prstGeom>
          <a:noFill/>
          <a:ln/>
        </p:spPr>
        <p:txBody>
          <a:bodyPr wrap="square" lIns="0" tIns="0" rIns="0" bIns="0" rtlCol="0" anchor="t"/>
          <a:lstStyle/>
          <a:p>
            <a:pPr marL="0" indent="0">
              <a:lnSpc>
                <a:spcPts val="1100"/>
              </a:lnSpc>
              <a:buNone/>
            </a:pPr>
            <a:r>
              <a:rPr lang="en-US" sz="900" dirty="0">
                <a:solidFill>
                  <a:srgbClr val="A8B4CC"/>
                </a:solidFill>
                <a:latin typeface="Calibri" pitchFamily="34" charset="0"/>
                <a:ea typeface="Calibri" pitchFamily="34" charset="-122"/>
                <a:cs typeface="Calibri" pitchFamily="34" charset="-120"/>
              </a:rPr>
              <a:t>Trend reports, competitor intel</a:t>
            </a:r>
            <a:endParaRPr lang="en-US" sz="900" dirty="0"/>
          </a:p>
        </p:txBody>
      </p:sp>
      <p:sp>
        <p:nvSpPr>
          <p:cNvPr id="18" name="Shape 13"/>
          <p:cNvSpPr/>
          <p:nvPr/>
        </p:nvSpPr>
        <p:spPr>
          <a:xfrm>
            <a:off x="6492240" y="2926080"/>
            <a:ext cx="2438248" cy="786384"/>
          </a:xfrm>
          <a:prstGeom prst="roundRect">
            <a:avLst>
              <a:gd name="adj" fmla="val 9302"/>
            </a:avLst>
          </a:prstGeom>
          <a:solidFill>
            <a:srgbClr val="0D1128"/>
          </a:solidFill>
          <a:ln w="12700">
            <a:solidFill>
              <a:srgbClr val="1A2040"/>
            </a:solidFill>
            <a:prstDash val="solid"/>
          </a:ln>
        </p:spPr>
      </p:sp>
      <p:pic>
        <p:nvPicPr>
          <p:cNvPr id="19" name="Image 3" descr="preencoded.png"/>
          <p:cNvPicPr>
            <a:picLocks noChangeAspect="1"/>
          </p:cNvPicPr>
          <p:nvPr/>
        </p:nvPicPr>
        <p:blipFill>
          <a:blip r:embed="rId6"/>
          <a:stretch>
            <a:fillRect/>
          </a:stretch>
        </p:blipFill>
        <p:spPr>
          <a:xfrm>
            <a:off x="6656832" y="3072384"/>
            <a:ext cx="274320" cy="274320"/>
          </a:xfrm>
          <a:prstGeom prst="rect">
            <a:avLst/>
          </a:prstGeom>
        </p:spPr>
      </p:pic>
      <p:sp>
        <p:nvSpPr>
          <p:cNvPr id="20" name="Text 14"/>
          <p:cNvSpPr/>
          <p:nvPr/>
        </p:nvSpPr>
        <p:spPr>
          <a:xfrm>
            <a:off x="7004304" y="3044952"/>
            <a:ext cx="1798168" cy="256032"/>
          </a:xfrm>
          <a:prstGeom prst="rect">
            <a:avLst/>
          </a:prstGeom>
          <a:noFill/>
          <a:ln/>
        </p:spPr>
        <p:txBody>
          <a:bodyPr wrap="square" lIns="0" tIns="0" rIns="0" bIns="0" rtlCol="0" anchor="ctr"/>
          <a:lstStyle/>
          <a:p>
            <a:pPr marL="0" indent="0">
              <a:buNone/>
            </a:pPr>
            <a:r>
              <a:rPr lang="en-US" sz="1050" b="1" dirty="0">
                <a:solidFill>
                  <a:srgbClr val="F4F6FF"/>
                </a:solidFill>
                <a:latin typeface="Courier New" pitchFamily="34" charset="0"/>
                <a:ea typeface="Courier New" pitchFamily="34" charset="-122"/>
                <a:cs typeface="Courier New" pitchFamily="34" charset="-120"/>
              </a:rPr>
              <a:t>product_kb</a:t>
            </a:r>
            <a:endParaRPr lang="en-US" sz="1050" dirty="0"/>
          </a:p>
        </p:txBody>
      </p:sp>
      <p:sp>
        <p:nvSpPr>
          <p:cNvPr id="21" name="Text 15"/>
          <p:cNvSpPr/>
          <p:nvPr/>
        </p:nvSpPr>
        <p:spPr>
          <a:xfrm>
            <a:off x="7004304" y="3310128"/>
            <a:ext cx="1798168" cy="310896"/>
          </a:xfrm>
          <a:prstGeom prst="rect">
            <a:avLst/>
          </a:prstGeom>
          <a:noFill/>
          <a:ln/>
        </p:spPr>
        <p:txBody>
          <a:bodyPr wrap="square" lIns="0" tIns="0" rIns="0" bIns="0" rtlCol="0" anchor="t"/>
          <a:lstStyle/>
          <a:p>
            <a:pPr marL="0" indent="0">
              <a:lnSpc>
                <a:spcPts val="1100"/>
              </a:lnSpc>
              <a:buNone/>
            </a:pPr>
            <a:r>
              <a:rPr lang="en-US" sz="900" dirty="0">
                <a:solidFill>
                  <a:srgbClr val="A8B4CC"/>
                </a:solidFill>
                <a:latin typeface="Calibri" pitchFamily="34" charset="0"/>
                <a:ea typeface="Calibri" pitchFamily="34" charset="-122"/>
                <a:cs typeface="Calibri" pitchFamily="34" charset="-120"/>
              </a:rPr>
              <a:t>SKU descriptions &amp; attributes</a:t>
            </a:r>
            <a:endParaRPr lang="en-US" sz="900" dirty="0"/>
          </a:p>
        </p:txBody>
      </p:sp>
      <p:sp>
        <p:nvSpPr>
          <p:cNvPr id="22" name="Shape 16"/>
          <p:cNvSpPr/>
          <p:nvPr/>
        </p:nvSpPr>
        <p:spPr>
          <a:xfrm>
            <a:off x="9113368" y="2926080"/>
            <a:ext cx="2438248" cy="786384"/>
          </a:xfrm>
          <a:prstGeom prst="roundRect">
            <a:avLst>
              <a:gd name="adj" fmla="val 9302"/>
            </a:avLst>
          </a:prstGeom>
          <a:solidFill>
            <a:srgbClr val="0D1128"/>
          </a:solidFill>
          <a:ln w="12700">
            <a:solidFill>
              <a:srgbClr val="1A2040"/>
            </a:solidFill>
            <a:prstDash val="solid"/>
          </a:ln>
        </p:spPr>
      </p:sp>
      <p:pic>
        <p:nvPicPr>
          <p:cNvPr id="23" name="Image 4" descr="preencoded.png"/>
          <p:cNvPicPr>
            <a:picLocks noChangeAspect="1"/>
          </p:cNvPicPr>
          <p:nvPr/>
        </p:nvPicPr>
        <p:blipFill>
          <a:blip r:embed="rId7"/>
          <a:stretch>
            <a:fillRect/>
          </a:stretch>
        </p:blipFill>
        <p:spPr>
          <a:xfrm>
            <a:off x="9277960" y="3072384"/>
            <a:ext cx="274320" cy="274320"/>
          </a:xfrm>
          <a:prstGeom prst="rect">
            <a:avLst/>
          </a:prstGeom>
        </p:spPr>
      </p:pic>
      <p:sp>
        <p:nvSpPr>
          <p:cNvPr id="24" name="Text 17"/>
          <p:cNvSpPr/>
          <p:nvPr/>
        </p:nvSpPr>
        <p:spPr>
          <a:xfrm>
            <a:off x="9625432" y="3044952"/>
            <a:ext cx="1798168" cy="256032"/>
          </a:xfrm>
          <a:prstGeom prst="rect">
            <a:avLst/>
          </a:prstGeom>
          <a:noFill/>
          <a:ln/>
        </p:spPr>
        <p:txBody>
          <a:bodyPr wrap="square" lIns="0" tIns="0" rIns="0" bIns="0" rtlCol="0" anchor="ctr"/>
          <a:lstStyle/>
          <a:p>
            <a:pPr marL="0" indent="0">
              <a:buNone/>
            </a:pPr>
            <a:r>
              <a:rPr lang="en-US" sz="1050" b="1" dirty="0">
                <a:solidFill>
                  <a:srgbClr val="F4F6FF"/>
                </a:solidFill>
                <a:latin typeface="Courier New" pitchFamily="34" charset="0"/>
                <a:ea typeface="Courier New" pitchFamily="34" charset="-122"/>
                <a:cs typeface="Courier New" pitchFamily="34" charset="-120"/>
              </a:rPr>
              <a:t>user_uploads</a:t>
            </a:r>
            <a:endParaRPr lang="en-US" sz="1050" dirty="0"/>
          </a:p>
        </p:txBody>
      </p:sp>
      <p:sp>
        <p:nvSpPr>
          <p:cNvPr id="25" name="Text 18"/>
          <p:cNvSpPr/>
          <p:nvPr/>
        </p:nvSpPr>
        <p:spPr>
          <a:xfrm>
            <a:off x="9625432" y="3310128"/>
            <a:ext cx="1798168" cy="310896"/>
          </a:xfrm>
          <a:prstGeom prst="rect">
            <a:avLst/>
          </a:prstGeom>
          <a:noFill/>
          <a:ln/>
        </p:spPr>
        <p:txBody>
          <a:bodyPr wrap="square" lIns="0" tIns="0" rIns="0" bIns="0" rtlCol="0" anchor="t"/>
          <a:lstStyle/>
          <a:p>
            <a:pPr marL="0" indent="0">
              <a:lnSpc>
                <a:spcPts val="1100"/>
              </a:lnSpc>
              <a:buNone/>
            </a:pPr>
            <a:r>
              <a:rPr lang="en-US" sz="900" dirty="0">
                <a:solidFill>
                  <a:srgbClr val="A8B4CC"/>
                </a:solidFill>
                <a:latin typeface="Calibri" pitchFamily="34" charset="0"/>
                <a:ea typeface="Calibri" pitchFamily="34" charset="-122"/>
                <a:cs typeface="Calibri" pitchFamily="34" charset="-120"/>
              </a:rPr>
              <a:t>Runtime documents from the UI</a:t>
            </a:r>
            <a:endParaRPr lang="en-US" sz="900" dirty="0"/>
          </a:p>
        </p:txBody>
      </p:sp>
      <p:sp>
        <p:nvSpPr>
          <p:cNvPr id="26" name="Shape 19"/>
          <p:cNvSpPr/>
          <p:nvPr/>
        </p:nvSpPr>
        <p:spPr>
          <a:xfrm>
            <a:off x="640080" y="3858768"/>
            <a:ext cx="10911535" cy="859536"/>
          </a:xfrm>
          <a:prstGeom prst="roundRect">
            <a:avLst>
              <a:gd name="adj" fmla="val 8511"/>
            </a:avLst>
          </a:prstGeom>
          <a:solidFill>
            <a:srgbClr val="0D1128"/>
          </a:solidFill>
          <a:ln w="12700">
            <a:solidFill>
              <a:srgbClr val="1A2040"/>
            </a:solidFill>
            <a:prstDash val="solid"/>
          </a:ln>
        </p:spPr>
      </p:sp>
      <p:pic>
        <p:nvPicPr>
          <p:cNvPr id="27" name="Image 5" descr="preencoded.png"/>
          <p:cNvPicPr>
            <a:picLocks noChangeAspect="1"/>
          </p:cNvPicPr>
          <p:nvPr/>
        </p:nvPicPr>
        <p:blipFill>
          <a:blip r:embed="rId8"/>
          <a:stretch>
            <a:fillRect/>
          </a:stretch>
        </p:blipFill>
        <p:spPr>
          <a:xfrm>
            <a:off x="914400" y="4096512"/>
            <a:ext cx="329184" cy="329184"/>
          </a:xfrm>
          <a:prstGeom prst="rect">
            <a:avLst/>
          </a:prstGeom>
        </p:spPr>
      </p:pic>
      <p:sp>
        <p:nvSpPr>
          <p:cNvPr id="28" name="Text 20"/>
          <p:cNvSpPr/>
          <p:nvPr/>
        </p:nvSpPr>
        <p:spPr>
          <a:xfrm>
            <a:off x="1426464" y="3931920"/>
            <a:ext cx="9905695" cy="713232"/>
          </a:xfrm>
          <a:prstGeom prst="rect">
            <a:avLst/>
          </a:prstGeom>
          <a:noFill/>
          <a:ln/>
        </p:spPr>
        <p:txBody>
          <a:bodyPr wrap="square" lIns="0" tIns="0" rIns="0" bIns="0" rtlCol="0" anchor="ctr"/>
          <a:lstStyle/>
          <a:p>
            <a:pPr marL="0" indent="0">
              <a:lnSpc>
                <a:spcPts val="1600"/>
              </a:lnSpc>
              <a:buNone/>
            </a:pPr>
            <a:r>
              <a:rPr lang="en-US" sz="1200" b="1" dirty="0">
                <a:solidFill>
                  <a:srgbClr val="4FC3F7"/>
                </a:solidFill>
                <a:latin typeface="Calibri" pitchFamily="34" charset="0"/>
                <a:ea typeface="Calibri" pitchFamily="34" charset="-122"/>
                <a:cs typeface="Calibri" pitchFamily="34" charset="-120"/>
              </a:rPr>
              <a:t>Why one entry point is the clever part:  </a:t>
            </a:r>
            <a:r>
              <a:rPr lang="en-US" sz="1200" dirty="0">
                <a:solidFill>
                  <a:srgbClr val="A8B4CC"/>
                </a:solidFill>
                <a:latin typeface="Calibri" pitchFamily="34" charset="0"/>
                <a:ea typeface="Calibri" pitchFamily="34" charset="-122"/>
                <a:cs typeface="Calibri" pitchFamily="34" charset="-120"/>
              </a:rPr>
              <a:t>grounding reaches every agent automatically — it's cross-cutting, not one agent's job to remember. That's how seven agents collapsed to five without losing any retrieval capability.</a:t>
            </a:r>
            <a:endParaRPr lang="en-US" sz="1200" dirty="0"/>
          </a:p>
        </p:txBody>
      </p:sp>
      <p:sp>
        <p:nvSpPr>
          <p:cNvPr id="29" name="Shape 21"/>
          <p:cNvSpPr/>
          <p:nvPr/>
        </p:nvSpPr>
        <p:spPr>
          <a:xfrm>
            <a:off x="640080" y="4974336"/>
            <a:ext cx="10911535" cy="0"/>
          </a:xfrm>
          <a:prstGeom prst="line">
            <a:avLst/>
          </a:prstGeom>
          <a:noFill/>
          <a:ln w="12700">
            <a:solidFill>
              <a:srgbClr val="1A2040"/>
            </a:solidFill>
            <a:prstDash val="solid"/>
          </a:ln>
        </p:spPr>
      </p:sp>
      <p:sp>
        <p:nvSpPr>
          <p:cNvPr id="30" name="Text 22"/>
          <p:cNvSpPr/>
          <p:nvPr/>
        </p:nvSpPr>
        <p:spPr>
          <a:xfrm>
            <a:off x="640080" y="5102352"/>
            <a:ext cx="10911535" cy="822960"/>
          </a:xfrm>
          <a:prstGeom prst="rect">
            <a:avLst/>
          </a:prstGeom>
          <a:noFill/>
          <a:ln/>
        </p:spPr>
        <p:txBody>
          <a:bodyPr wrap="square" lIns="0" tIns="0" rIns="0" bIns="0" rtlCol="0" anchor="t"/>
          <a:lstStyle/>
          <a:p>
            <a:pPr marL="0" indent="0">
              <a:lnSpc>
                <a:spcPts val="1500"/>
              </a:lnSpc>
              <a:buNone/>
            </a:pPr>
            <a:r>
              <a:rPr lang="en-US" sz="1150" b="1" dirty="0">
                <a:solidFill>
                  <a:srgbClr val="F5A623"/>
                </a:solidFill>
                <a:latin typeface="Calibri" pitchFamily="34" charset="0"/>
                <a:ea typeface="Calibri" pitchFamily="34" charset="-122"/>
                <a:cs typeface="Calibri" pitchFamily="34" charset="-120"/>
              </a:rPr>
              <a:t>Honest trade-off:  </a:t>
            </a:r>
            <a:r>
              <a:rPr lang="en-US" sz="1150" dirty="0">
                <a:solidFill>
                  <a:srgbClr val="A8B4CC"/>
                </a:solidFill>
                <a:latin typeface="Calibri" pitchFamily="34" charset="0"/>
                <a:ea typeface="Calibri" pitchFamily="34" charset="-122"/>
                <a:cs typeface="Calibri" pitchFamily="34" charset="-120"/>
              </a:rPr>
              <a:t>injecting grounding into every call inflates tokens and shifts cache keys — so retrieval breadth is tuned per role rather than blanket-injected at full width. A deliberate, documented softening of "every call" in favour of token efficiency.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09</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MODEL SELECTION &amp; GOVERNANCE</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3078"/>
              </a:lnSpc>
              <a:buNone/>
            </a:pPr>
            <a:r>
              <a:rPr lang="en-US" sz="2700" b="1" dirty="0">
                <a:solidFill>
                  <a:srgbClr val="F4F6FF"/>
                </a:solidFill>
                <a:latin typeface="Calibri" pitchFamily="34" charset="0"/>
                <a:ea typeface="Calibri" pitchFamily="34" charset="-122"/>
                <a:cs typeface="Calibri" pitchFamily="34" charset="-120"/>
              </a:rPr>
              <a:t>Right-sized models, never hardcoded</a:t>
            </a:r>
            <a:endParaRPr lang="en-US" sz="2700" dirty="0"/>
          </a:p>
        </p:txBody>
      </p:sp>
      <p:sp>
        <p:nvSpPr>
          <p:cNvPr id="5" name="Text 3"/>
          <p:cNvSpPr/>
          <p:nvPr/>
        </p:nvSpPr>
        <p:spPr>
          <a:xfrm>
            <a:off x="640080" y="1371600"/>
            <a:ext cx="10911535" cy="237744"/>
          </a:xfrm>
          <a:prstGeom prst="rect">
            <a:avLst/>
          </a:prstGeom>
          <a:noFill/>
          <a:ln/>
        </p:spPr>
        <p:txBody>
          <a:bodyPr wrap="square" lIns="0" tIns="0" rIns="0" bIns="0" rtlCol="0" anchor="ctr"/>
          <a:lstStyle/>
          <a:p>
            <a:pPr marL="0" indent="0">
              <a:buNone/>
            </a:pPr>
            <a:r>
              <a:rPr lang="en-US" sz="1100" i="1" dirty="0">
                <a:solidFill>
                  <a:srgbClr val="A8B4CC"/>
                </a:solidFill>
                <a:latin typeface="Calibri" pitchFamily="34" charset="0"/>
                <a:ea typeface="Calibri" pitchFamily="34" charset="-122"/>
                <a:cs typeface="Calibri" pitchFamily="34" charset="-120"/>
              </a:rPr>
              <a:t>Agent 5 (Execution) appears in no row — it makes no LLM calls at all.</a:t>
            </a:r>
            <a:endParaRPr lang="en-US" sz="1100" dirty="0"/>
          </a:p>
        </p:txBody>
      </p:sp>
      <p:sp>
        <p:nvSpPr>
          <p:cNvPr id="6" name="Text 4"/>
          <p:cNvSpPr/>
          <p:nvPr/>
        </p:nvSpPr>
        <p:spPr>
          <a:xfrm>
            <a:off x="640080" y="1773936"/>
            <a:ext cx="2011680" cy="219456"/>
          </a:xfrm>
          <a:prstGeom prst="rect">
            <a:avLst/>
          </a:prstGeom>
          <a:noFill/>
          <a:ln/>
        </p:spPr>
        <p:txBody>
          <a:bodyPr wrap="square" lIns="0" tIns="0" rIns="0" bIns="0" rtlCol="0" anchor="ctr"/>
          <a:lstStyle/>
          <a:p>
            <a:pPr marL="0" indent="0">
              <a:buNone/>
            </a:pPr>
            <a:r>
              <a:rPr lang="en-US" sz="900" b="1" kern="0" spc="120" dirty="0">
                <a:solidFill>
                  <a:srgbClr val="6A7590"/>
                </a:solidFill>
                <a:latin typeface="Calibri" pitchFamily="34" charset="0"/>
                <a:ea typeface="Calibri" pitchFamily="34" charset="-122"/>
                <a:cs typeface="Calibri" pitchFamily="34" charset="-120"/>
              </a:rPr>
              <a:t>ROLE</a:t>
            </a:r>
            <a:endParaRPr lang="en-US" sz="900" dirty="0"/>
          </a:p>
        </p:txBody>
      </p:sp>
      <p:sp>
        <p:nvSpPr>
          <p:cNvPr id="7" name="Text 5"/>
          <p:cNvSpPr/>
          <p:nvPr/>
        </p:nvSpPr>
        <p:spPr>
          <a:xfrm>
            <a:off x="2743200" y="1773936"/>
            <a:ext cx="2743200" cy="219456"/>
          </a:xfrm>
          <a:prstGeom prst="rect">
            <a:avLst/>
          </a:prstGeom>
          <a:noFill/>
          <a:ln/>
        </p:spPr>
        <p:txBody>
          <a:bodyPr wrap="square" lIns="0" tIns="0" rIns="0" bIns="0" rtlCol="0" anchor="ctr"/>
          <a:lstStyle/>
          <a:p>
            <a:pPr marL="0" indent="0">
              <a:buNone/>
            </a:pPr>
            <a:r>
              <a:rPr lang="en-US" sz="900" b="1" kern="0" spc="120" dirty="0">
                <a:solidFill>
                  <a:srgbClr val="6A7590"/>
                </a:solidFill>
                <a:latin typeface="Calibri" pitchFamily="34" charset="0"/>
                <a:ea typeface="Calibri" pitchFamily="34" charset="-122"/>
                <a:cs typeface="Calibri" pitchFamily="34" charset="-120"/>
              </a:rPr>
              <a:t>MODEL TIER</a:t>
            </a:r>
            <a:endParaRPr lang="en-US" sz="900" dirty="0"/>
          </a:p>
        </p:txBody>
      </p:sp>
      <p:sp>
        <p:nvSpPr>
          <p:cNvPr id="8" name="Text 6"/>
          <p:cNvSpPr/>
          <p:nvPr/>
        </p:nvSpPr>
        <p:spPr>
          <a:xfrm>
            <a:off x="5669280" y="1773936"/>
            <a:ext cx="5882335" cy="219456"/>
          </a:xfrm>
          <a:prstGeom prst="rect">
            <a:avLst/>
          </a:prstGeom>
          <a:noFill/>
          <a:ln/>
        </p:spPr>
        <p:txBody>
          <a:bodyPr wrap="square" lIns="0" tIns="0" rIns="0" bIns="0" rtlCol="0" anchor="ctr"/>
          <a:lstStyle/>
          <a:p>
            <a:pPr marL="0" indent="0">
              <a:buNone/>
            </a:pPr>
            <a:r>
              <a:rPr lang="en-US" sz="900" b="1" kern="0" spc="120" dirty="0">
                <a:solidFill>
                  <a:srgbClr val="6A7590"/>
                </a:solidFill>
                <a:latin typeface="Calibri" pitchFamily="34" charset="0"/>
                <a:ea typeface="Calibri" pitchFamily="34" charset="-122"/>
                <a:cs typeface="Calibri" pitchFamily="34" charset="-120"/>
              </a:rPr>
              <a:t>USED BY</a:t>
            </a:r>
            <a:endParaRPr lang="en-US" sz="900" dirty="0"/>
          </a:p>
        </p:txBody>
      </p:sp>
      <p:sp>
        <p:nvSpPr>
          <p:cNvPr id="9" name="Text 7"/>
          <p:cNvSpPr/>
          <p:nvPr/>
        </p:nvSpPr>
        <p:spPr>
          <a:xfrm>
            <a:off x="640080" y="2048256"/>
            <a:ext cx="2011680" cy="420624"/>
          </a:xfrm>
          <a:prstGeom prst="rect">
            <a:avLst/>
          </a:prstGeom>
          <a:noFill/>
          <a:ln/>
        </p:spPr>
        <p:txBody>
          <a:bodyPr wrap="square" lIns="0" tIns="0" rIns="0" bIns="0" rtlCol="0" anchor="ctr"/>
          <a:lstStyle/>
          <a:p>
            <a:pPr marL="0" indent="0">
              <a:buNone/>
            </a:pPr>
            <a:r>
              <a:rPr lang="en-US" sz="1200" b="1" dirty="0">
                <a:solidFill>
                  <a:srgbClr val="4FC3F7"/>
                </a:solidFill>
                <a:latin typeface="Courier New" pitchFamily="34" charset="0"/>
                <a:ea typeface="Courier New" pitchFamily="34" charset="-122"/>
                <a:cs typeface="Courier New" pitchFamily="34" charset="-120"/>
              </a:rPr>
              <a:t>router</a:t>
            </a:r>
            <a:endParaRPr lang="en-US" sz="1200" dirty="0"/>
          </a:p>
        </p:txBody>
      </p:sp>
      <p:sp>
        <p:nvSpPr>
          <p:cNvPr id="10" name="Text 8"/>
          <p:cNvSpPr/>
          <p:nvPr/>
        </p:nvSpPr>
        <p:spPr>
          <a:xfrm>
            <a:off x="2743200" y="2048256"/>
            <a:ext cx="2743200" cy="420624"/>
          </a:xfrm>
          <a:prstGeom prst="rect">
            <a:avLst/>
          </a:prstGeom>
          <a:noFill/>
          <a:ln/>
        </p:spPr>
        <p:txBody>
          <a:bodyPr wrap="square" lIns="0" tIns="0" rIns="0" bIns="0" rtlCol="0" anchor="ctr"/>
          <a:lstStyle/>
          <a:p>
            <a:pPr marL="0" indent="0">
              <a:buNone/>
            </a:pPr>
            <a:r>
              <a:rPr lang="en-US" sz="1150" dirty="0">
                <a:solidFill>
                  <a:srgbClr val="F4F6FF"/>
                </a:solidFill>
                <a:latin typeface="Calibri" pitchFamily="34" charset="0"/>
                <a:ea typeface="Calibri" pitchFamily="34" charset="-122"/>
                <a:cs typeface="Calibri" pitchFamily="34" charset="-120"/>
              </a:rPr>
              <a:t>Cheapest flash-lite</a:t>
            </a:r>
            <a:endParaRPr lang="en-US" sz="1150" dirty="0"/>
          </a:p>
        </p:txBody>
      </p:sp>
      <p:sp>
        <p:nvSpPr>
          <p:cNvPr id="11" name="Text 9"/>
          <p:cNvSpPr/>
          <p:nvPr/>
        </p:nvSpPr>
        <p:spPr>
          <a:xfrm>
            <a:off x="5669280" y="2048256"/>
            <a:ext cx="5882335" cy="420624"/>
          </a:xfrm>
          <a:prstGeom prst="rect">
            <a:avLst/>
          </a:prstGeom>
          <a:noFill/>
          <a:ln/>
        </p:spPr>
        <p:txBody>
          <a:bodyPr wrap="square" lIns="0" tIns="0" rIns="0" bIns="0" rtlCol="0" anchor="ctr"/>
          <a:lstStyle/>
          <a:p>
            <a:pPr marL="0" indent="0">
              <a:lnSpc>
                <a:spcPts val="1300"/>
              </a:lnSpc>
              <a:buNone/>
            </a:pPr>
            <a:r>
              <a:rPr lang="en-US" sz="1100" dirty="0">
                <a:solidFill>
                  <a:srgbClr val="A8B4CC"/>
                </a:solidFill>
                <a:latin typeface="Calibri" pitchFamily="34" charset="0"/>
                <a:ea typeface="Calibri" pitchFamily="34" charset="-122"/>
                <a:cs typeface="Calibri" pitchFamily="34" charset="-120"/>
              </a:rPr>
              <a:t>Conversational routing, classification</a:t>
            </a:r>
            <a:endParaRPr lang="en-US" sz="1100" dirty="0"/>
          </a:p>
        </p:txBody>
      </p:sp>
      <p:sp>
        <p:nvSpPr>
          <p:cNvPr id="12" name="Shape 10"/>
          <p:cNvSpPr/>
          <p:nvPr/>
        </p:nvSpPr>
        <p:spPr>
          <a:xfrm>
            <a:off x="640080" y="2523744"/>
            <a:ext cx="10911535" cy="0"/>
          </a:xfrm>
          <a:prstGeom prst="line">
            <a:avLst/>
          </a:prstGeom>
          <a:noFill/>
          <a:ln w="12700">
            <a:solidFill>
              <a:srgbClr val="1A2040"/>
            </a:solidFill>
            <a:prstDash val="solid"/>
          </a:ln>
        </p:spPr>
      </p:sp>
      <p:sp>
        <p:nvSpPr>
          <p:cNvPr id="13" name="Text 11"/>
          <p:cNvSpPr/>
          <p:nvPr/>
        </p:nvSpPr>
        <p:spPr>
          <a:xfrm>
            <a:off x="640080" y="2578608"/>
            <a:ext cx="2011680" cy="420624"/>
          </a:xfrm>
          <a:prstGeom prst="rect">
            <a:avLst/>
          </a:prstGeom>
          <a:noFill/>
          <a:ln/>
        </p:spPr>
        <p:txBody>
          <a:bodyPr wrap="square" lIns="0" tIns="0" rIns="0" bIns="0" rtlCol="0" anchor="ctr"/>
          <a:lstStyle/>
          <a:p>
            <a:pPr marL="0" indent="0">
              <a:buNone/>
            </a:pPr>
            <a:r>
              <a:rPr lang="en-US" sz="1200" b="1" dirty="0">
                <a:solidFill>
                  <a:srgbClr val="4FC3F7"/>
                </a:solidFill>
                <a:latin typeface="Courier New" pitchFamily="34" charset="0"/>
                <a:ea typeface="Courier New" pitchFamily="34" charset="-122"/>
                <a:cs typeface="Courier New" pitchFamily="34" charset="-120"/>
              </a:rPr>
              <a:t>narrator</a:t>
            </a:r>
            <a:endParaRPr lang="en-US" sz="1200" dirty="0"/>
          </a:p>
        </p:txBody>
      </p:sp>
      <p:sp>
        <p:nvSpPr>
          <p:cNvPr id="14" name="Text 12"/>
          <p:cNvSpPr/>
          <p:nvPr/>
        </p:nvSpPr>
        <p:spPr>
          <a:xfrm>
            <a:off x="2743200" y="2578608"/>
            <a:ext cx="2743200" cy="420624"/>
          </a:xfrm>
          <a:prstGeom prst="rect">
            <a:avLst/>
          </a:prstGeom>
          <a:noFill/>
          <a:ln/>
        </p:spPr>
        <p:txBody>
          <a:bodyPr wrap="square" lIns="0" tIns="0" rIns="0" bIns="0" rtlCol="0" anchor="ctr"/>
          <a:lstStyle/>
          <a:p>
            <a:pPr marL="0" indent="0">
              <a:buNone/>
            </a:pPr>
            <a:r>
              <a:rPr lang="en-US" sz="1150" dirty="0">
                <a:solidFill>
                  <a:srgbClr val="F4F6FF"/>
                </a:solidFill>
                <a:latin typeface="Calibri" pitchFamily="34" charset="0"/>
                <a:ea typeface="Calibri" pitchFamily="34" charset="-122"/>
                <a:cs typeface="Calibri" pitchFamily="34" charset="-120"/>
              </a:rPr>
              <a:t>Cheapest flash-lite</a:t>
            </a:r>
            <a:endParaRPr lang="en-US" sz="1150" dirty="0"/>
          </a:p>
        </p:txBody>
      </p:sp>
      <p:sp>
        <p:nvSpPr>
          <p:cNvPr id="15" name="Text 13"/>
          <p:cNvSpPr/>
          <p:nvPr/>
        </p:nvSpPr>
        <p:spPr>
          <a:xfrm>
            <a:off x="5669280" y="2578608"/>
            <a:ext cx="5882335" cy="420624"/>
          </a:xfrm>
          <a:prstGeom prst="rect">
            <a:avLst/>
          </a:prstGeom>
          <a:noFill/>
          <a:ln/>
        </p:spPr>
        <p:txBody>
          <a:bodyPr wrap="square" lIns="0" tIns="0" rIns="0" bIns="0" rtlCol="0" anchor="ctr"/>
          <a:lstStyle/>
          <a:p>
            <a:pPr marL="0" indent="0">
              <a:lnSpc>
                <a:spcPts val="1300"/>
              </a:lnSpc>
              <a:buNone/>
            </a:pPr>
            <a:r>
              <a:rPr lang="en-US" sz="1100" dirty="0">
                <a:solidFill>
                  <a:srgbClr val="A8B4CC"/>
                </a:solidFill>
                <a:latin typeface="Calibri" pitchFamily="34" charset="0"/>
                <a:ea typeface="Calibri" pitchFamily="34" charset="-122"/>
                <a:cs typeface="Calibri" pitchFamily="34" charset="-120"/>
              </a:rPr>
              <a:t>Agent 1 — anomaly narration, quality commentary</a:t>
            </a:r>
            <a:endParaRPr lang="en-US" sz="1100" dirty="0"/>
          </a:p>
        </p:txBody>
      </p:sp>
      <p:sp>
        <p:nvSpPr>
          <p:cNvPr id="16" name="Shape 14"/>
          <p:cNvSpPr/>
          <p:nvPr/>
        </p:nvSpPr>
        <p:spPr>
          <a:xfrm>
            <a:off x="640080" y="3054096"/>
            <a:ext cx="10911535" cy="0"/>
          </a:xfrm>
          <a:prstGeom prst="line">
            <a:avLst/>
          </a:prstGeom>
          <a:noFill/>
          <a:ln w="12700">
            <a:solidFill>
              <a:srgbClr val="1A2040"/>
            </a:solidFill>
            <a:prstDash val="solid"/>
          </a:ln>
        </p:spPr>
      </p:sp>
      <p:sp>
        <p:nvSpPr>
          <p:cNvPr id="17" name="Text 15"/>
          <p:cNvSpPr/>
          <p:nvPr/>
        </p:nvSpPr>
        <p:spPr>
          <a:xfrm>
            <a:off x="640080" y="3108960"/>
            <a:ext cx="2011680" cy="420624"/>
          </a:xfrm>
          <a:prstGeom prst="rect">
            <a:avLst/>
          </a:prstGeom>
          <a:noFill/>
          <a:ln/>
        </p:spPr>
        <p:txBody>
          <a:bodyPr wrap="square" lIns="0" tIns="0" rIns="0" bIns="0" rtlCol="0" anchor="ctr"/>
          <a:lstStyle/>
          <a:p>
            <a:pPr marL="0" indent="0">
              <a:buNone/>
            </a:pPr>
            <a:r>
              <a:rPr lang="en-US" sz="1200" b="1" dirty="0">
                <a:solidFill>
                  <a:srgbClr val="4FC3F7"/>
                </a:solidFill>
                <a:latin typeface="Courier New" pitchFamily="34" charset="0"/>
                <a:ea typeface="Courier New" pitchFamily="34" charset="-122"/>
                <a:cs typeface="Courier New" pitchFamily="34" charset="-120"/>
              </a:rPr>
              <a:t>analyst</a:t>
            </a:r>
            <a:endParaRPr lang="en-US" sz="1200" dirty="0"/>
          </a:p>
        </p:txBody>
      </p:sp>
      <p:sp>
        <p:nvSpPr>
          <p:cNvPr id="18" name="Text 16"/>
          <p:cNvSpPr/>
          <p:nvPr/>
        </p:nvSpPr>
        <p:spPr>
          <a:xfrm>
            <a:off x="2743200" y="3108960"/>
            <a:ext cx="2743200" cy="420624"/>
          </a:xfrm>
          <a:prstGeom prst="rect">
            <a:avLst/>
          </a:prstGeom>
          <a:noFill/>
          <a:ln/>
        </p:spPr>
        <p:txBody>
          <a:bodyPr wrap="square" lIns="0" tIns="0" rIns="0" bIns="0" rtlCol="0" anchor="ctr"/>
          <a:lstStyle/>
          <a:p>
            <a:pPr marL="0" indent="0">
              <a:buNone/>
            </a:pPr>
            <a:r>
              <a:rPr lang="en-US" sz="1150" dirty="0">
                <a:solidFill>
                  <a:srgbClr val="F4F6FF"/>
                </a:solidFill>
                <a:latin typeface="Calibri" pitchFamily="34" charset="0"/>
                <a:ea typeface="Calibri" pitchFamily="34" charset="-122"/>
                <a:cs typeface="Calibri" pitchFamily="34" charset="-120"/>
              </a:rPr>
              <a:t>Flash</a:t>
            </a:r>
            <a:endParaRPr lang="en-US" sz="1150" dirty="0"/>
          </a:p>
        </p:txBody>
      </p:sp>
      <p:sp>
        <p:nvSpPr>
          <p:cNvPr id="19" name="Text 17"/>
          <p:cNvSpPr/>
          <p:nvPr/>
        </p:nvSpPr>
        <p:spPr>
          <a:xfrm>
            <a:off x="5669280" y="3108960"/>
            <a:ext cx="5882335" cy="420624"/>
          </a:xfrm>
          <a:prstGeom prst="rect">
            <a:avLst/>
          </a:prstGeom>
          <a:noFill/>
          <a:ln/>
        </p:spPr>
        <p:txBody>
          <a:bodyPr wrap="square" lIns="0" tIns="0" rIns="0" bIns="0" rtlCol="0" anchor="ctr"/>
          <a:lstStyle/>
          <a:p>
            <a:pPr marL="0" indent="0">
              <a:lnSpc>
                <a:spcPts val="1300"/>
              </a:lnSpc>
              <a:buNone/>
            </a:pPr>
            <a:r>
              <a:rPr lang="en-US" sz="1100" dirty="0">
                <a:solidFill>
                  <a:srgbClr val="A8B4CC"/>
                </a:solidFill>
                <a:latin typeface="Calibri" pitchFamily="34" charset="0"/>
                <a:ea typeface="Calibri" pitchFamily="34" charset="-122"/>
                <a:cs typeface="Calibri" pitchFamily="34" charset="-120"/>
              </a:rPr>
              <a:t>Competitive synthesis; elasticity &amp; variance interpretation</a:t>
            </a:r>
            <a:endParaRPr lang="en-US" sz="1100" dirty="0"/>
          </a:p>
        </p:txBody>
      </p:sp>
      <p:sp>
        <p:nvSpPr>
          <p:cNvPr id="20" name="Shape 18"/>
          <p:cNvSpPr/>
          <p:nvPr/>
        </p:nvSpPr>
        <p:spPr>
          <a:xfrm>
            <a:off x="640080" y="3584448"/>
            <a:ext cx="10911535" cy="0"/>
          </a:xfrm>
          <a:prstGeom prst="line">
            <a:avLst/>
          </a:prstGeom>
          <a:noFill/>
          <a:ln w="12700">
            <a:solidFill>
              <a:srgbClr val="1A2040"/>
            </a:solidFill>
            <a:prstDash val="solid"/>
          </a:ln>
        </p:spPr>
      </p:sp>
      <p:sp>
        <p:nvSpPr>
          <p:cNvPr id="21" name="Text 19"/>
          <p:cNvSpPr/>
          <p:nvPr/>
        </p:nvSpPr>
        <p:spPr>
          <a:xfrm>
            <a:off x="640080" y="3639312"/>
            <a:ext cx="2011680" cy="420624"/>
          </a:xfrm>
          <a:prstGeom prst="rect">
            <a:avLst/>
          </a:prstGeom>
          <a:noFill/>
          <a:ln/>
        </p:spPr>
        <p:txBody>
          <a:bodyPr wrap="square" lIns="0" tIns="0" rIns="0" bIns="0" rtlCol="0" anchor="ctr"/>
          <a:lstStyle/>
          <a:p>
            <a:pPr marL="0" indent="0">
              <a:buNone/>
            </a:pPr>
            <a:r>
              <a:rPr lang="en-US" sz="1200" b="1" dirty="0">
                <a:solidFill>
                  <a:srgbClr val="F5A623"/>
                </a:solidFill>
                <a:latin typeface="Courier New" pitchFamily="34" charset="0"/>
                <a:ea typeface="Courier New" pitchFamily="34" charset="-122"/>
                <a:cs typeface="Courier New" pitchFamily="34" charset="-120"/>
              </a:rPr>
              <a:t>strategist</a:t>
            </a:r>
            <a:endParaRPr lang="en-US" sz="1200" dirty="0"/>
          </a:p>
        </p:txBody>
      </p:sp>
      <p:sp>
        <p:nvSpPr>
          <p:cNvPr id="22" name="Text 20"/>
          <p:cNvSpPr/>
          <p:nvPr/>
        </p:nvSpPr>
        <p:spPr>
          <a:xfrm>
            <a:off x="2743200" y="3639312"/>
            <a:ext cx="2743200" cy="420624"/>
          </a:xfrm>
          <a:prstGeom prst="rect">
            <a:avLst/>
          </a:prstGeom>
          <a:noFill/>
          <a:ln/>
        </p:spPr>
        <p:txBody>
          <a:bodyPr wrap="square" lIns="0" tIns="0" rIns="0" bIns="0" rtlCol="0" anchor="ctr"/>
          <a:lstStyle/>
          <a:p>
            <a:pPr marL="0" indent="0">
              <a:buNone/>
            </a:pPr>
            <a:r>
              <a:rPr lang="en-US" sz="1150" dirty="0">
                <a:solidFill>
                  <a:srgbClr val="F5A623"/>
                </a:solidFill>
                <a:latin typeface="Calibri" pitchFamily="34" charset="0"/>
                <a:ea typeface="Calibri" pitchFamily="34" charset="-122"/>
                <a:cs typeface="Calibri" pitchFamily="34" charset="-120"/>
              </a:rPr>
              <a:t>Pro</a:t>
            </a:r>
            <a:endParaRPr lang="en-US" sz="1150" dirty="0"/>
          </a:p>
        </p:txBody>
      </p:sp>
      <p:sp>
        <p:nvSpPr>
          <p:cNvPr id="23" name="Text 21"/>
          <p:cNvSpPr/>
          <p:nvPr/>
        </p:nvSpPr>
        <p:spPr>
          <a:xfrm>
            <a:off x="5669280" y="3639312"/>
            <a:ext cx="5882335" cy="420624"/>
          </a:xfrm>
          <a:prstGeom prst="rect">
            <a:avLst/>
          </a:prstGeom>
          <a:noFill/>
          <a:ln/>
        </p:spPr>
        <p:txBody>
          <a:bodyPr wrap="square" lIns="0" tIns="0" rIns="0" bIns="0" rtlCol="0" anchor="ctr"/>
          <a:lstStyle/>
          <a:p>
            <a:pPr marL="0" indent="0">
              <a:lnSpc>
                <a:spcPts val="1300"/>
              </a:lnSpc>
              <a:buNone/>
            </a:pPr>
            <a:r>
              <a:rPr lang="en-US" sz="1100" dirty="0">
                <a:solidFill>
                  <a:srgbClr val="A8B4CC"/>
                </a:solidFill>
                <a:latin typeface="Calibri" pitchFamily="34" charset="0"/>
                <a:ea typeface="Calibri" pitchFamily="34" charset="-122"/>
                <a:cs typeface="Calibri" pitchFamily="34" charset="-120"/>
              </a:rPr>
              <a:t>Recommendation &amp; rationale; violation explanation</a:t>
            </a:r>
            <a:endParaRPr lang="en-US" sz="1100" dirty="0"/>
          </a:p>
        </p:txBody>
      </p:sp>
      <p:sp>
        <p:nvSpPr>
          <p:cNvPr id="24" name="Shape 22"/>
          <p:cNvSpPr/>
          <p:nvPr/>
        </p:nvSpPr>
        <p:spPr>
          <a:xfrm>
            <a:off x="640080" y="4114800"/>
            <a:ext cx="10911535" cy="0"/>
          </a:xfrm>
          <a:prstGeom prst="line">
            <a:avLst/>
          </a:prstGeom>
          <a:noFill/>
          <a:ln w="12700">
            <a:solidFill>
              <a:srgbClr val="1A2040"/>
            </a:solidFill>
            <a:prstDash val="solid"/>
          </a:ln>
        </p:spPr>
      </p:sp>
      <p:sp>
        <p:nvSpPr>
          <p:cNvPr id="25" name="Text 23"/>
          <p:cNvSpPr/>
          <p:nvPr/>
        </p:nvSpPr>
        <p:spPr>
          <a:xfrm>
            <a:off x="640080" y="4169664"/>
            <a:ext cx="2011680" cy="420624"/>
          </a:xfrm>
          <a:prstGeom prst="rect">
            <a:avLst/>
          </a:prstGeom>
          <a:noFill/>
          <a:ln/>
        </p:spPr>
        <p:txBody>
          <a:bodyPr wrap="square" lIns="0" tIns="0" rIns="0" bIns="0" rtlCol="0" anchor="ctr"/>
          <a:lstStyle/>
          <a:p>
            <a:pPr marL="0" indent="0">
              <a:buNone/>
            </a:pPr>
            <a:r>
              <a:rPr lang="en-US" sz="1200" b="1" dirty="0">
                <a:solidFill>
                  <a:srgbClr val="4FC3F7"/>
                </a:solidFill>
                <a:latin typeface="Courier New" pitchFamily="34" charset="0"/>
                <a:ea typeface="Courier New" pitchFamily="34" charset="-122"/>
                <a:cs typeface="Courier New" pitchFamily="34" charset="-120"/>
              </a:rPr>
              <a:t>embeddings</a:t>
            </a:r>
            <a:endParaRPr lang="en-US" sz="1200" dirty="0"/>
          </a:p>
        </p:txBody>
      </p:sp>
      <p:sp>
        <p:nvSpPr>
          <p:cNvPr id="26" name="Text 24"/>
          <p:cNvSpPr/>
          <p:nvPr/>
        </p:nvSpPr>
        <p:spPr>
          <a:xfrm>
            <a:off x="2743200" y="4169664"/>
            <a:ext cx="2743200" cy="420624"/>
          </a:xfrm>
          <a:prstGeom prst="rect">
            <a:avLst/>
          </a:prstGeom>
          <a:noFill/>
          <a:ln/>
        </p:spPr>
        <p:txBody>
          <a:bodyPr wrap="square" lIns="0" tIns="0" rIns="0" bIns="0" rtlCol="0" anchor="ctr"/>
          <a:lstStyle/>
          <a:p>
            <a:pPr marL="0" indent="0">
              <a:buNone/>
            </a:pPr>
            <a:r>
              <a:rPr lang="en-US" sz="1150" dirty="0">
                <a:solidFill>
                  <a:srgbClr val="F4F6FF"/>
                </a:solidFill>
                <a:latin typeface="Calibri" pitchFamily="34" charset="0"/>
                <a:ea typeface="Calibri" pitchFamily="34" charset="-122"/>
                <a:cs typeface="Calibri" pitchFamily="34" charset="-120"/>
              </a:rPr>
              <a:t>Local all-MiniLM-L6-v2</a:t>
            </a:r>
            <a:endParaRPr lang="en-US" sz="1150" dirty="0"/>
          </a:p>
        </p:txBody>
      </p:sp>
      <p:sp>
        <p:nvSpPr>
          <p:cNvPr id="27" name="Text 25"/>
          <p:cNvSpPr/>
          <p:nvPr/>
        </p:nvSpPr>
        <p:spPr>
          <a:xfrm>
            <a:off x="5669280" y="4169664"/>
            <a:ext cx="5882335" cy="420624"/>
          </a:xfrm>
          <a:prstGeom prst="rect">
            <a:avLst/>
          </a:prstGeom>
          <a:noFill/>
          <a:ln/>
        </p:spPr>
        <p:txBody>
          <a:bodyPr wrap="square" lIns="0" tIns="0" rIns="0" bIns="0" rtlCol="0" anchor="ctr"/>
          <a:lstStyle/>
          <a:p>
            <a:pPr marL="0" indent="0">
              <a:lnSpc>
                <a:spcPts val="1300"/>
              </a:lnSpc>
              <a:buNone/>
            </a:pPr>
            <a:r>
              <a:rPr lang="en-US" sz="1100" dirty="0">
                <a:solidFill>
                  <a:srgbClr val="A8B4CC"/>
                </a:solidFill>
                <a:latin typeface="Calibri" pitchFamily="34" charset="0"/>
                <a:ea typeface="Calibri" pitchFamily="34" charset="-122"/>
                <a:cs typeface="Calibri" pitchFamily="34" charset="-120"/>
              </a:rPr>
              <a:t>RAG ingestion &amp; query — no per-call cost</a:t>
            </a:r>
            <a:endParaRPr lang="en-US" sz="1100" dirty="0"/>
          </a:p>
        </p:txBody>
      </p:sp>
      <p:sp>
        <p:nvSpPr>
          <p:cNvPr id="28" name="Shape 26"/>
          <p:cNvSpPr/>
          <p:nvPr/>
        </p:nvSpPr>
        <p:spPr>
          <a:xfrm>
            <a:off x="640080" y="5029200"/>
            <a:ext cx="5300320" cy="1298448"/>
          </a:xfrm>
          <a:prstGeom prst="roundRect">
            <a:avLst>
              <a:gd name="adj" fmla="val 5634"/>
            </a:avLst>
          </a:prstGeom>
          <a:solidFill>
            <a:srgbClr val="0D1128"/>
          </a:solidFill>
          <a:ln w="12700">
            <a:solidFill>
              <a:srgbClr val="F5A623"/>
            </a:solidFill>
            <a:prstDash val="solid"/>
          </a:ln>
        </p:spPr>
      </p:sp>
      <p:pic>
        <p:nvPicPr>
          <p:cNvPr id="29" name="Image 0" descr="preencoded.png"/>
          <p:cNvPicPr>
            <a:picLocks noChangeAspect="1"/>
          </p:cNvPicPr>
          <p:nvPr/>
        </p:nvPicPr>
        <p:blipFill>
          <a:blip r:embed="rId3"/>
          <a:stretch>
            <a:fillRect/>
          </a:stretch>
        </p:blipFill>
        <p:spPr>
          <a:xfrm>
            <a:off x="877824" y="5248656"/>
            <a:ext cx="310896" cy="310896"/>
          </a:xfrm>
          <a:prstGeom prst="rect">
            <a:avLst/>
          </a:prstGeom>
        </p:spPr>
      </p:pic>
      <p:sp>
        <p:nvSpPr>
          <p:cNvPr id="30" name="Text 27"/>
          <p:cNvSpPr/>
          <p:nvPr/>
        </p:nvSpPr>
        <p:spPr>
          <a:xfrm>
            <a:off x="1298448" y="5248656"/>
            <a:ext cx="4477360" cy="274320"/>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Deprecation-safe by design</a:t>
            </a:r>
            <a:endParaRPr lang="en-US" sz="1300" dirty="0"/>
          </a:p>
        </p:txBody>
      </p:sp>
      <p:sp>
        <p:nvSpPr>
          <p:cNvPr id="31" name="Text 28"/>
          <p:cNvSpPr/>
          <p:nvPr/>
        </p:nvSpPr>
        <p:spPr>
          <a:xfrm>
            <a:off x="877824" y="5577840"/>
            <a:ext cx="4824832" cy="731520"/>
          </a:xfrm>
          <a:prstGeom prst="rect">
            <a:avLst/>
          </a:prstGeom>
          <a:noFill/>
          <a:ln/>
        </p:spPr>
        <p:txBody>
          <a:bodyPr wrap="square" lIns="0" tIns="0" rIns="0" bIns="0" rtlCol="0" anchor="t"/>
          <a:lstStyle/>
          <a:p>
            <a:pPr marL="0" indent="0">
              <a:lnSpc>
                <a:spcPts val="1350"/>
              </a:lnSpc>
              <a:buNone/>
            </a:pPr>
            <a:r>
              <a:rPr lang="en-US" sz="1050" dirty="0">
                <a:solidFill>
                  <a:srgbClr val="A8B4CC"/>
                </a:solidFill>
                <a:latin typeface="Calibri" pitchFamily="34" charset="0"/>
                <a:ea typeface="Calibri" pitchFamily="34" charset="-122"/>
                <a:cs typeface="Calibri" pitchFamily="34" charset="-120"/>
              </a:rPr>
              <a:t>Roles map to aliases resolved from config and validated against the gateway at boot. A missing model fails loudly with the real list — never degrades silently. Swapping models is a config change, not code.</a:t>
            </a:r>
            <a:endParaRPr lang="en-US" sz="1050" dirty="0"/>
          </a:p>
        </p:txBody>
      </p:sp>
      <p:sp>
        <p:nvSpPr>
          <p:cNvPr id="32" name="Shape 29"/>
          <p:cNvSpPr/>
          <p:nvPr/>
        </p:nvSpPr>
        <p:spPr>
          <a:xfrm>
            <a:off x="6251296" y="5029200"/>
            <a:ext cx="5300320" cy="1298448"/>
          </a:xfrm>
          <a:prstGeom prst="roundRect">
            <a:avLst>
              <a:gd name="adj" fmla="val 5634"/>
            </a:avLst>
          </a:prstGeom>
          <a:solidFill>
            <a:srgbClr val="0D1128"/>
          </a:solidFill>
          <a:ln w="12700">
            <a:solidFill>
              <a:srgbClr val="1A2040"/>
            </a:solidFill>
            <a:prstDash val="solid"/>
          </a:ln>
        </p:spPr>
      </p:sp>
      <p:pic>
        <p:nvPicPr>
          <p:cNvPr id="33" name="Image 1" descr="preencoded.png"/>
          <p:cNvPicPr>
            <a:picLocks noChangeAspect="1"/>
          </p:cNvPicPr>
          <p:nvPr/>
        </p:nvPicPr>
        <p:blipFill>
          <a:blip r:embed="rId4"/>
          <a:stretch>
            <a:fillRect/>
          </a:stretch>
        </p:blipFill>
        <p:spPr>
          <a:xfrm>
            <a:off x="6489040" y="5248656"/>
            <a:ext cx="310896" cy="310896"/>
          </a:xfrm>
          <a:prstGeom prst="rect">
            <a:avLst/>
          </a:prstGeom>
        </p:spPr>
      </p:pic>
      <p:sp>
        <p:nvSpPr>
          <p:cNvPr id="34" name="Text 30"/>
          <p:cNvSpPr/>
          <p:nvPr/>
        </p:nvSpPr>
        <p:spPr>
          <a:xfrm>
            <a:off x="6909664" y="5248656"/>
            <a:ext cx="4477360" cy="274320"/>
          </a:xfrm>
          <a:prstGeom prst="rect">
            <a:avLst/>
          </a:prstGeom>
          <a:noFill/>
          <a:ln/>
        </p:spPr>
        <p:txBody>
          <a:bodyPr wrap="square" lIns="0" tIns="0" rIns="0" bIns="0" rtlCol="0" anchor="ctr"/>
          <a:lstStyle/>
          <a:p>
            <a:pPr marL="0" indent="0">
              <a:buNone/>
            </a:pPr>
            <a:r>
              <a:rPr lang="en-US" sz="1300" b="1" dirty="0">
                <a:solidFill>
                  <a:srgbClr val="F4F6FF"/>
                </a:solidFill>
                <a:latin typeface="Calibri" pitchFamily="34" charset="0"/>
                <a:ea typeface="Calibri" pitchFamily="34" charset="-122"/>
                <a:cs typeface="Calibri" pitchFamily="34" charset="-120"/>
              </a:rPr>
              <a:t>Structured output, always</a:t>
            </a:r>
            <a:endParaRPr lang="en-US" sz="1300" dirty="0"/>
          </a:p>
        </p:txBody>
      </p:sp>
      <p:sp>
        <p:nvSpPr>
          <p:cNvPr id="35" name="Text 31"/>
          <p:cNvSpPr/>
          <p:nvPr/>
        </p:nvSpPr>
        <p:spPr>
          <a:xfrm>
            <a:off x="6489040" y="5577840"/>
            <a:ext cx="4824832" cy="731520"/>
          </a:xfrm>
          <a:prstGeom prst="rect">
            <a:avLst/>
          </a:prstGeom>
          <a:noFill/>
          <a:ln/>
        </p:spPr>
        <p:txBody>
          <a:bodyPr wrap="square" lIns="0" tIns="0" rIns="0" bIns="0" rtlCol="0" anchor="t"/>
          <a:lstStyle/>
          <a:p>
            <a:pPr marL="0" indent="0">
              <a:lnSpc>
                <a:spcPts val="1350"/>
              </a:lnSpc>
              <a:buNone/>
            </a:pPr>
            <a:r>
              <a:rPr lang="en-US" sz="1050" dirty="0">
                <a:solidFill>
                  <a:srgbClr val="A8B4CC"/>
                </a:solidFill>
                <a:latin typeface="Calibri" pitchFamily="34" charset="0"/>
                <a:ea typeface="Calibri" pitchFamily="34" charset="-122"/>
                <a:cs typeface="Calibri" pitchFamily="34" charset="-120"/>
              </a:rPr>
              <a:t>Every call uses a JSON schema with one repair-retry feeding the validation error back, then a typed error state. No raw json.loads on model output anywhere — that's how you reach 99%+ valid output.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10</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GUARDRAILS &amp; RESPONSIBLE AI</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2964"/>
              </a:lnSpc>
              <a:buNone/>
            </a:pPr>
            <a:r>
              <a:rPr lang="en-US" sz="2600" b="1" dirty="0">
                <a:solidFill>
                  <a:srgbClr val="F4F6FF"/>
                </a:solidFill>
                <a:latin typeface="Calibri" pitchFamily="34" charset="0"/>
                <a:ea typeface="Calibri" pitchFamily="34" charset="-122"/>
                <a:cs typeface="Calibri" pitchFamily="34" charset="-120"/>
              </a:rPr>
              <a:t>Enforcement is absolute. Approval is graduated.</a:t>
            </a:r>
            <a:endParaRPr lang="en-US" sz="2600" dirty="0"/>
          </a:p>
        </p:txBody>
      </p:sp>
      <p:sp>
        <p:nvSpPr>
          <p:cNvPr id="5" name="Text 3"/>
          <p:cNvSpPr/>
          <p:nvPr/>
        </p:nvSpPr>
        <p:spPr>
          <a:xfrm>
            <a:off x="640080" y="1481328"/>
            <a:ext cx="10911535" cy="457200"/>
          </a:xfrm>
          <a:prstGeom prst="rect">
            <a:avLst/>
          </a:prstGeom>
          <a:noFill/>
          <a:ln/>
        </p:spPr>
        <p:txBody>
          <a:bodyPr wrap="square" lIns="0" tIns="0" rIns="0" bIns="0" rtlCol="0" anchor="t"/>
          <a:lstStyle/>
          <a:p>
            <a:pPr marL="0" indent="0">
              <a:lnSpc>
                <a:spcPts val="1700"/>
              </a:lnSpc>
              <a:buNone/>
            </a:pPr>
            <a:r>
              <a:rPr lang="en-US" sz="1300" dirty="0">
                <a:solidFill>
                  <a:srgbClr val="A8B4CC"/>
                </a:solidFill>
                <a:latin typeface="Calibri" pitchFamily="34" charset="0"/>
                <a:ea typeface="Calibri" pitchFamily="34" charset="-122"/>
                <a:cs typeface="Calibri" pitchFamily="34" charset="-120"/>
              </a:rPr>
              <a:t>The key move: separate two things people conflate. Whether rules apply is never relaxed. Who signs off is graduated by risk.</a:t>
            </a:r>
            <a:endParaRPr lang="en-US" sz="1300" dirty="0"/>
          </a:p>
        </p:txBody>
      </p:sp>
      <p:sp>
        <p:nvSpPr>
          <p:cNvPr id="6" name="Shape 4"/>
          <p:cNvSpPr/>
          <p:nvPr/>
        </p:nvSpPr>
        <p:spPr>
          <a:xfrm>
            <a:off x="640080" y="2139696"/>
            <a:ext cx="3454298" cy="2103120"/>
          </a:xfrm>
          <a:prstGeom prst="roundRect">
            <a:avLst>
              <a:gd name="adj" fmla="val 3478"/>
            </a:avLst>
          </a:prstGeom>
          <a:solidFill>
            <a:srgbClr val="0D1128"/>
          </a:solidFill>
          <a:ln w="12700">
            <a:solidFill>
              <a:srgbClr val="1A2040"/>
            </a:solidFill>
            <a:prstDash val="solid"/>
          </a:ln>
        </p:spPr>
      </p:sp>
      <p:pic>
        <p:nvPicPr>
          <p:cNvPr id="7" name="Image 0" descr="preencoded.png"/>
          <p:cNvPicPr>
            <a:picLocks noChangeAspect="1"/>
          </p:cNvPicPr>
          <p:nvPr/>
        </p:nvPicPr>
        <p:blipFill>
          <a:blip r:embed="rId3"/>
          <a:stretch>
            <a:fillRect/>
          </a:stretch>
        </p:blipFill>
        <p:spPr>
          <a:xfrm>
            <a:off x="896112" y="2395728"/>
            <a:ext cx="365760" cy="365760"/>
          </a:xfrm>
          <a:prstGeom prst="rect">
            <a:avLst/>
          </a:prstGeom>
        </p:spPr>
      </p:pic>
      <p:sp>
        <p:nvSpPr>
          <p:cNvPr id="8" name="Text 5"/>
          <p:cNvSpPr/>
          <p:nvPr/>
        </p:nvSpPr>
        <p:spPr>
          <a:xfrm>
            <a:off x="896112" y="2889504"/>
            <a:ext cx="2942234" cy="310896"/>
          </a:xfrm>
          <a:prstGeom prst="rect">
            <a:avLst/>
          </a:prstGeom>
          <a:noFill/>
          <a:ln/>
        </p:spPr>
        <p:txBody>
          <a:bodyPr wrap="square" lIns="0" tIns="0" rIns="0" bIns="0" rtlCol="0" anchor="ctr"/>
          <a:lstStyle/>
          <a:p>
            <a:pPr marL="0" indent="0">
              <a:buNone/>
            </a:pPr>
            <a:r>
              <a:rPr lang="en-US" sz="1600" b="1" dirty="0">
                <a:solidFill>
                  <a:srgbClr val="F4F6FF"/>
                </a:solidFill>
                <a:latin typeface="Calibri" pitchFamily="34" charset="0"/>
                <a:ea typeface="Calibri" pitchFamily="34" charset="-122"/>
                <a:cs typeface="Calibri" pitchFamily="34" charset="-120"/>
              </a:rPr>
              <a:t>Auto-approve</a:t>
            </a:r>
            <a:endParaRPr lang="en-US" sz="1600" dirty="0"/>
          </a:p>
        </p:txBody>
      </p:sp>
      <p:sp>
        <p:nvSpPr>
          <p:cNvPr id="9" name="Text 6"/>
          <p:cNvSpPr/>
          <p:nvPr/>
        </p:nvSpPr>
        <p:spPr>
          <a:xfrm>
            <a:off x="896112" y="3236976"/>
            <a:ext cx="2942234" cy="658368"/>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Confident, low-impact, stable, clean compliance. Pushed automatically — fully logged and reversible.</a:t>
            </a:r>
            <a:endParaRPr lang="en-US" sz="1050" dirty="0"/>
          </a:p>
        </p:txBody>
      </p:sp>
      <p:sp>
        <p:nvSpPr>
          <p:cNvPr id="10" name="Shape 7"/>
          <p:cNvSpPr/>
          <p:nvPr/>
        </p:nvSpPr>
        <p:spPr>
          <a:xfrm>
            <a:off x="896112" y="3840480"/>
            <a:ext cx="2942234" cy="0"/>
          </a:xfrm>
          <a:prstGeom prst="line">
            <a:avLst/>
          </a:prstGeom>
          <a:noFill/>
          <a:ln w="12700">
            <a:solidFill>
              <a:srgbClr val="1A2040"/>
            </a:solidFill>
            <a:prstDash val="solid"/>
          </a:ln>
        </p:spPr>
      </p:sp>
      <p:sp>
        <p:nvSpPr>
          <p:cNvPr id="11" name="Text 8"/>
          <p:cNvSpPr/>
          <p:nvPr/>
        </p:nvSpPr>
        <p:spPr>
          <a:xfrm>
            <a:off x="896112" y="3913632"/>
            <a:ext cx="2942234" cy="274320"/>
          </a:xfrm>
          <a:prstGeom prst="rect">
            <a:avLst/>
          </a:prstGeom>
          <a:noFill/>
          <a:ln/>
        </p:spPr>
        <p:txBody>
          <a:bodyPr wrap="square" lIns="0" tIns="0" rIns="0" bIns="0" rtlCol="0" anchor="ctr"/>
          <a:lstStyle/>
          <a:p>
            <a:pPr marL="0" indent="0">
              <a:buNone/>
            </a:pPr>
            <a:r>
              <a:rPr lang="en-US" sz="950" b="1" kern="0" spc="50" dirty="0">
                <a:solidFill>
                  <a:srgbClr val="4FC3F7"/>
                </a:solidFill>
                <a:latin typeface="Calibri" pitchFamily="34" charset="0"/>
                <a:ea typeface="Calibri" pitchFamily="34" charset="-122"/>
                <a:cs typeface="Calibri" pitchFamily="34" charset="-120"/>
              </a:rPr>
              <a:t>no human needed</a:t>
            </a:r>
            <a:endParaRPr lang="en-US" sz="950" dirty="0"/>
          </a:p>
        </p:txBody>
      </p:sp>
      <p:sp>
        <p:nvSpPr>
          <p:cNvPr id="12" name="Shape 9"/>
          <p:cNvSpPr/>
          <p:nvPr/>
        </p:nvSpPr>
        <p:spPr>
          <a:xfrm>
            <a:off x="4368698" y="2139696"/>
            <a:ext cx="3454298" cy="2103120"/>
          </a:xfrm>
          <a:prstGeom prst="roundRect">
            <a:avLst>
              <a:gd name="adj" fmla="val 3478"/>
            </a:avLst>
          </a:prstGeom>
          <a:solidFill>
            <a:srgbClr val="0D1128"/>
          </a:solidFill>
          <a:ln w="12700">
            <a:solidFill>
              <a:srgbClr val="1A2040"/>
            </a:solidFill>
            <a:prstDash val="solid"/>
          </a:ln>
        </p:spPr>
      </p:sp>
      <p:pic>
        <p:nvPicPr>
          <p:cNvPr id="13" name="Image 1" descr="preencoded.png"/>
          <p:cNvPicPr>
            <a:picLocks noChangeAspect="1"/>
          </p:cNvPicPr>
          <p:nvPr/>
        </p:nvPicPr>
        <p:blipFill>
          <a:blip r:embed="rId4"/>
          <a:stretch>
            <a:fillRect/>
          </a:stretch>
        </p:blipFill>
        <p:spPr>
          <a:xfrm>
            <a:off x="4624730" y="2395728"/>
            <a:ext cx="365760" cy="365760"/>
          </a:xfrm>
          <a:prstGeom prst="rect">
            <a:avLst/>
          </a:prstGeom>
        </p:spPr>
      </p:pic>
      <p:sp>
        <p:nvSpPr>
          <p:cNvPr id="14" name="Text 10"/>
          <p:cNvSpPr/>
          <p:nvPr/>
        </p:nvSpPr>
        <p:spPr>
          <a:xfrm>
            <a:off x="4624730" y="2889504"/>
            <a:ext cx="2942234" cy="310896"/>
          </a:xfrm>
          <a:prstGeom prst="rect">
            <a:avLst/>
          </a:prstGeom>
          <a:noFill/>
          <a:ln/>
        </p:spPr>
        <p:txBody>
          <a:bodyPr wrap="square" lIns="0" tIns="0" rIns="0" bIns="0" rtlCol="0" anchor="ctr"/>
          <a:lstStyle/>
          <a:p>
            <a:pPr marL="0" indent="0">
              <a:buNone/>
            </a:pPr>
            <a:r>
              <a:rPr lang="en-US" sz="1600" b="1" dirty="0">
                <a:solidFill>
                  <a:srgbClr val="F4F6FF"/>
                </a:solidFill>
                <a:latin typeface="Calibri" pitchFamily="34" charset="0"/>
                <a:ea typeface="Calibri" pitchFamily="34" charset="-122"/>
                <a:cs typeface="Calibri" pitchFamily="34" charset="-120"/>
              </a:rPr>
              <a:t>Review</a:t>
            </a:r>
            <a:endParaRPr lang="en-US" sz="1600" dirty="0"/>
          </a:p>
        </p:txBody>
      </p:sp>
      <p:sp>
        <p:nvSpPr>
          <p:cNvPr id="15" name="Text 11"/>
          <p:cNvSpPr/>
          <p:nvPr/>
        </p:nvSpPr>
        <p:spPr>
          <a:xfrm>
            <a:off x="4624730" y="3236976"/>
            <a:ext cx="2942234" cy="658368"/>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An auto condition wasn't met, but no escalation trigger fired. Queued with the exact failed condition shown.</a:t>
            </a:r>
            <a:endParaRPr lang="en-US" sz="1050" dirty="0"/>
          </a:p>
        </p:txBody>
      </p:sp>
      <p:sp>
        <p:nvSpPr>
          <p:cNvPr id="16" name="Shape 12"/>
          <p:cNvSpPr/>
          <p:nvPr/>
        </p:nvSpPr>
        <p:spPr>
          <a:xfrm>
            <a:off x="4624730" y="3840480"/>
            <a:ext cx="2942234" cy="0"/>
          </a:xfrm>
          <a:prstGeom prst="line">
            <a:avLst/>
          </a:prstGeom>
          <a:noFill/>
          <a:ln w="12700">
            <a:solidFill>
              <a:srgbClr val="1A2040"/>
            </a:solidFill>
            <a:prstDash val="solid"/>
          </a:ln>
        </p:spPr>
      </p:sp>
      <p:sp>
        <p:nvSpPr>
          <p:cNvPr id="17" name="Text 13"/>
          <p:cNvSpPr/>
          <p:nvPr/>
        </p:nvSpPr>
        <p:spPr>
          <a:xfrm>
            <a:off x="4624730" y="3913632"/>
            <a:ext cx="2942234" cy="274320"/>
          </a:xfrm>
          <a:prstGeom prst="rect">
            <a:avLst/>
          </a:prstGeom>
          <a:noFill/>
          <a:ln/>
        </p:spPr>
        <p:txBody>
          <a:bodyPr wrap="square" lIns="0" tIns="0" rIns="0" bIns="0" rtlCol="0" anchor="ctr"/>
          <a:lstStyle/>
          <a:p>
            <a:pPr marL="0" indent="0">
              <a:buNone/>
            </a:pPr>
            <a:r>
              <a:rPr lang="en-US" sz="950" b="1" kern="0" spc="50" dirty="0">
                <a:solidFill>
                  <a:srgbClr val="4FC3F7"/>
                </a:solidFill>
                <a:latin typeface="Calibri" pitchFamily="34" charset="0"/>
                <a:ea typeface="Calibri" pitchFamily="34" charset="-122"/>
                <a:cs typeface="Calibri" pitchFamily="34" charset="-120"/>
              </a:rPr>
              <a:t>human decides</a:t>
            </a:r>
            <a:endParaRPr lang="en-US" sz="950" dirty="0"/>
          </a:p>
        </p:txBody>
      </p:sp>
      <p:sp>
        <p:nvSpPr>
          <p:cNvPr id="18" name="Shape 14"/>
          <p:cNvSpPr/>
          <p:nvPr/>
        </p:nvSpPr>
        <p:spPr>
          <a:xfrm>
            <a:off x="8097317" y="2139696"/>
            <a:ext cx="3454298" cy="2103120"/>
          </a:xfrm>
          <a:prstGeom prst="roundRect">
            <a:avLst>
              <a:gd name="adj" fmla="val 3478"/>
            </a:avLst>
          </a:prstGeom>
          <a:solidFill>
            <a:srgbClr val="0D1128"/>
          </a:solidFill>
          <a:ln w="12700">
            <a:solidFill>
              <a:srgbClr val="F5A623"/>
            </a:solidFill>
            <a:prstDash val="solid"/>
          </a:ln>
        </p:spPr>
      </p:sp>
      <p:pic>
        <p:nvPicPr>
          <p:cNvPr id="19" name="Image 2" descr="preencoded.png"/>
          <p:cNvPicPr>
            <a:picLocks noChangeAspect="1"/>
          </p:cNvPicPr>
          <p:nvPr/>
        </p:nvPicPr>
        <p:blipFill>
          <a:blip r:embed="rId5"/>
          <a:stretch>
            <a:fillRect/>
          </a:stretch>
        </p:blipFill>
        <p:spPr>
          <a:xfrm>
            <a:off x="8353349" y="2395728"/>
            <a:ext cx="365760" cy="365760"/>
          </a:xfrm>
          <a:prstGeom prst="rect">
            <a:avLst/>
          </a:prstGeom>
        </p:spPr>
      </p:pic>
      <p:sp>
        <p:nvSpPr>
          <p:cNvPr id="20" name="Text 15"/>
          <p:cNvSpPr/>
          <p:nvPr/>
        </p:nvSpPr>
        <p:spPr>
          <a:xfrm>
            <a:off x="8353349" y="2889504"/>
            <a:ext cx="2942234" cy="310896"/>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Escalate</a:t>
            </a:r>
            <a:endParaRPr lang="en-US" sz="1600" dirty="0"/>
          </a:p>
        </p:txBody>
      </p:sp>
      <p:sp>
        <p:nvSpPr>
          <p:cNvPr id="21" name="Text 16"/>
          <p:cNvSpPr/>
          <p:nvPr/>
        </p:nvSpPr>
        <p:spPr>
          <a:xfrm>
            <a:off x="8353349" y="3236976"/>
            <a:ext cx="2942234" cy="658368"/>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Compliance violation, margin-proximity, high variance, oscillation, or unprecedented market. Blocked.</a:t>
            </a:r>
            <a:endParaRPr lang="en-US" sz="1050" dirty="0"/>
          </a:p>
        </p:txBody>
      </p:sp>
      <p:sp>
        <p:nvSpPr>
          <p:cNvPr id="22" name="Shape 17"/>
          <p:cNvSpPr/>
          <p:nvPr/>
        </p:nvSpPr>
        <p:spPr>
          <a:xfrm>
            <a:off x="8353349" y="3840480"/>
            <a:ext cx="2942234" cy="0"/>
          </a:xfrm>
          <a:prstGeom prst="line">
            <a:avLst/>
          </a:prstGeom>
          <a:noFill/>
          <a:ln w="12700">
            <a:solidFill>
              <a:srgbClr val="1A2040"/>
            </a:solidFill>
            <a:prstDash val="solid"/>
          </a:ln>
        </p:spPr>
      </p:sp>
      <p:sp>
        <p:nvSpPr>
          <p:cNvPr id="23" name="Text 18"/>
          <p:cNvSpPr/>
          <p:nvPr/>
        </p:nvSpPr>
        <p:spPr>
          <a:xfrm>
            <a:off x="8353349" y="3913632"/>
            <a:ext cx="2942234" cy="274320"/>
          </a:xfrm>
          <a:prstGeom prst="rect">
            <a:avLst/>
          </a:prstGeom>
          <a:noFill/>
          <a:ln/>
        </p:spPr>
        <p:txBody>
          <a:bodyPr wrap="square" lIns="0" tIns="0" rIns="0" bIns="0" rtlCol="0" anchor="ctr"/>
          <a:lstStyle/>
          <a:p>
            <a:pPr marL="0" indent="0">
              <a:buNone/>
            </a:pPr>
            <a:r>
              <a:rPr lang="en-US" sz="950" b="1" kern="0" spc="50" dirty="0">
                <a:solidFill>
                  <a:srgbClr val="F5A623"/>
                </a:solidFill>
                <a:latin typeface="Calibri" pitchFamily="34" charset="0"/>
                <a:ea typeface="Calibri" pitchFamily="34" charset="-122"/>
                <a:cs typeface="Calibri" pitchFamily="34" charset="-120"/>
              </a:rPr>
              <a:t>written override — compliance never</a:t>
            </a:r>
            <a:endParaRPr lang="en-US" sz="950" dirty="0"/>
          </a:p>
        </p:txBody>
      </p:sp>
      <p:sp>
        <p:nvSpPr>
          <p:cNvPr id="24" name="Shape 19"/>
          <p:cNvSpPr/>
          <p:nvPr/>
        </p:nvSpPr>
        <p:spPr>
          <a:xfrm>
            <a:off x="640080" y="4498848"/>
            <a:ext cx="5300320" cy="1371600"/>
          </a:xfrm>
          <a:prstGeom prst="roundRect">
            <a:avLst>
              <a:gd name="adj" fmla="val 5333"/>
            </a:avLst>
          </a:prstGeom>
          <a:solidFill>
            <a:srgbClr val="0D1128"/>
          </a:solidFill>
          <a:ln w="12700">
            <a:solidFill>
              <a:srgbClr val="1A2040"/>
            </a:solidFill>
            <a:prstDash val="solid"/>
          </a:ln>
        </p:spPr>
      </p:sp>
      <p:pic>
        <p:nvPicPr>
          <p:cNvPr id="25" name="Image 3" descr="preencoded.png"/>
          <p:cNvPicPr>
            <a:picLocks noChangeAspect="1"/>
          </p:cNvPicPr>
          <p:nvPr/>
        </p:nvPicPr>
        <p:blipFill>
          <a:blip r:embed="rId6"/>
          <a:stretch>
            <a:fillRect/>
          </a:stretch>
        </p:blipFill>
        <p:spPr>
          <a:xfrm>
            <a:off x="877824" y="4718304"/>
            <a:ext cx="310896" cy="310896"/>
          </a:xfrm>
          <a:prstGeom prst="rect">
            <a:avLst/>
          </a:prstGeom>
        </p:spPr>
      </p:pic>
      <p:sp>
        <p:nvSpPr>
          <p:cNvPr id="26" name="Text 20"/>
          <p:cNvSpPr/>
          <p:nvPr/>
        </p:nvSpPr>
        <p:spPr>
          <a:xfrm>
            <a:off x="1298448" y="4718304"/>
            <a:ext cx="4477360" cy="274320"/>
          </a:xfrm>
          <a:prstGeom prst="rect">
            <a:avLst/>
          </a:prstGeom>
          <a:noFill/>
          <a:ln/>
        </p:spPr>
        <p:txBody>
          <a:bodyPr wrap="square" lIns="0" tIns="0" rIns="0" bIns="0" rtlCol="0" anchor="ctr"/>
          <a:lstStyle/>
          <a:p>
            <a:pPr marL="0" indent="0">
              <a:buNone/>
            </a:pPr>
            <a:r>
              <a:rPr lang="en-US" sz="1300" b="1" dirty="0">
                <a:solidFill>
                  <a:srgbClr val="F4F6FF"/>
                </a:solidFill>
                <a:latin typeface="Calibri" pitchFamily="34" charset="0"/>
                <a:ea typeface="Calibri" pitchFamily="34" charset="-122"/>
                <a:cs typeface="Calibri" pitchFamily="34" charset="-120"/>
              </a:rPr>
              <a:t>Global kill switch</a:t>
            </a:r>
            <a:endParaRPr lang="en-US" sz="1300" dirty="0"/>
          </a:p>
        </p:txBody>
      </p:sp>
      <p:sp>
        <p:nvSpPr>
          <p:cNvPr id="27" name="Text 21"/>
          <p:cNvSpPr/>
          <p:nvPr/>
        </p:nvSpPr>
        <p:spPr>
          <a:xfrm>
            <a:off x="877824" y="5047488"/>
            <a:ext cx="4824832" cy="786384"/>
          </a:xfrm>
          <a:prstGeom prst="rect">
            <a:avLst/>
          </a:prstGeom>
          <a:noFill/>
          <a:ln/>
        </p:spPr>
        <p:txBody>
          <a:bodyPr wrap="square" lIns="0" tIns="0" rIns="0" bIns="0" rtlCol="0" anchor="t"/>
          <a:lstStyle/>
          <a:p>
            <a:pPr marL="0" indent="0">
              <a:lnSpc>
                <a:spcPts val="1350"/>
              </a:lnSpc>
              <a:buNone/>
            </a:pPr>
            <a:r>
              <a:rPr lang="en-US" sz="1050" dirty="0">
                <a:solidFill>
                  <a:srgbClr val="A8B4CC"/>
                </a:solidFill>
                <a:latin typeface="Calibri" pitchFamily="34" charset="0"/>
                <a:ea typeface="Calibri" pitchFamily="34" charset="-122"/>
                <a:cs typeface="Calibri" pitchFamily="34" charset="-120"/>
              </a:rPr>
              <a:t>Halts the loop, cancels pending automatic pushes, and reverts to Supervised mode — in a single action. The compliance veto holds in every mode, including fully autonomous.</a:t>
            </a:r>
            <a:endParaRPr lang="en-US" sz="1050" dirty="0"/>
          </a:p>
        </p:txBody>
      </p:sp>
      <p:sp>
        <p:nvSpPr>
          <p:cNvPr id="28" name="Shape 22"/>
          <p:cNvSpPr/>
          <p:nvPr/>
        </p:nvSpPr>
        <p:spPr>
          <a:xfrm>
            <a:off x="6251296" y="4498848"/>
            <a:ext cx="5300320" cy="1371600"/>
          </a:xfrm>
          <a:prstGeom prst="roundRect">
            <a:avLst>
              <a:gd name="adj" fmla="val 5333"/>
            </a:avLst>
          </a:prstGeom>
          <a:solidFill>
            <a:srgbClr val="0D1128"/>
          </a:solidFill>
          <a:ln w="12700">
            <a:solidFill>
              <a:srgbClr val="1A2040"/>
            </a:solidFill>
            <a:prstDash val="solid"/>
          </a:ln>
        </p:spPr>
      </p:sp>
      <p:pic>
        <p:nvPicPr>
          <p:cNvPr id="29" name="Image 4" descr="preencoded.png"/>
          <p:cNvPicPr>
            <a:picLocks noChangeAspect="1"/>
          </p:cNvPicPr>
          <p:nvPr/>
        </p:nvPicPr>
        <p:blipFill>
          <a:blip r:embed="rId7"/>
          <a:stretch>
            <a:fillRect/>
          </a:stretch>
        </p:blipFill>
        <p:spPr>
          <a:xfrm>
            <a:off x="6489040" y="4718304"/>
            <a:ext cx="310896" cy="310896"/>
          </a:xfrm>
          <a:prstGeom prst="rect">
            <a:avLst/>
          </a:prstGeom>
        </p:spPr>
      </p:pic>
      <p:sp>
        <p:nvSpPr>
          <p:cNvPr id="30" name="Text 23"/>
          <p:cNvSpPr/>
          <p:nvPr/>
        </p:nvSpPr>
        <p:spPr>
          <a:xfrm>
            <a:off x="6909664" y="4718304"/>
            <a:ext cx="4477360" cy="274320"/>
          </a:xfrm>
          <a:prstGeom prst="rect">
            <a:avLst/>
          </a:prstGeom>
          <a:noFill/>
          <a:ln/>
        </p:spPr>
        <p:txBody>
          <a:bodyPr wrap="square" lIns="0" tIns="0" rIns="0" bIns="0" rtlCol="0" anchor="ctr"/>
          <a:lstStyle/>
          <a:p>
            <a:pPr marL="0" indent="0">
              <a:buNone/>
            </a:pPr>
            <a:r>
              <a:rPr lang="en-US" sz="1300" b="1" dirty="0">
                <a:solidFill>
                  <a:srgbClr val="F4F6FF"/>
                </a:solidFill>
                <a:latin typeface="Calibri" pitchFamily="34" charset="0"/>
                <a:ea typeface="Calibri" pitchFamily="34" charset="-122"/>
                <a:cs typeface="Calibri" pitchFamily="34" charset="-120"/>
              </a:rPr>
              <a:t>Responsible-AI boundaries</a:t>
            </a:r>
            <a:endParaRPr lang="en-US" sz="1300" dirty="0"/>
          </a:p>
        </p:txBody>
      </p:sp>
      <p:sp>
        <p:nvSpPr>
          <p:cNvPr id="31" name="Text 24"/>
          <p:cNvSpPr/>
          <p:nvPr/>
        </p:nvSpPr>
        <p:spPr>
          <a:xfrm>
            <a:off x="6489040" y="5047488"/>
            <a:ext cx="4824832" cy="786384"/>
          </a:xfrm>
          <a:prstGeom prst="rect">
            <a:avLst/>
          </a:prstGeom>
          <a:noFill/>
          <a:ln/>
        </p:spPr>
        <p:txBody>
          <a:bodyPr wrap="square" lIns="0" tIns="0" rIns="0" bIns="0" rtlCol="0" anchor="t"/>
          <a:lstStyle/>
          <a:p>
            <a:pPr marL="0" indent="0">
              <a:lnSpc>
                <a:spcPts val="1350"/>
              </a:lnSpc>
              <a:buNone/>
            </a:pPr>
            <a:r>
              <a:rPr lang="en-US" sz="1050" dirty="0">
                <a:solidFill>
                  <a:srgbClr val="A8B4CC"/>
                </a:solidFill>
                <a:latin typeface="Calibri" pitchFamily="34" charset="0"/>
                <a:ea typeface="Calibri" pitchFamily="34" charset="-122"/>
                <a:cs typeface="Calibri" pitchFamily="34" charset="-120"/>
              </a:rPr>
              <a:t>No individual-level pricing, ever — a permanent product boundary, not a time constraint. Automatic PII redaction in all logs. No consumer data enters the system.</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11</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DATA GENERATION &amp; VALIDATION</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3078"/>
              </a:lnSpc>
              <a:buNone/>
            </a:pPr>
            <a:r>
              <a:rPr lang="en-US" sz="2700" b="1" dirty="0">
                <a:solidFill>
                  <a:srgbClr val="F4F6FF"/>
                </a:solidFill>
                <a:latin typeface="Calibri" pitchFamily="34" charset="0"/>
                <a:ea typeface="Calibri" pitchFamily="34" charset="-122"/>
                <a:cs typeface="Calibri" pitchFamily="34" charset="-120"/>
              </a:rPr>
              <a:t>Synthetic data, but objectively measurable</a:t>
            </a:r>
            <a:endParaRPr lang="en-US" sz="2700" dirty="0"/>
          </a:p>
        </p:txBody>
      </p:sp>
      <p:sp>
        <p:nvSpPr>
          <p:cNvPr id="5" name="Shape 3"/>
          <p:cNvSpPr/>
          <p:nvPr/>
        </p:nvSpPr>
        <p:spPr>
          <a:xfrm>
            <a:off x="640080" y="1609344"/>
            <a:ext cx="10911535" cy="1371600"/>
          </a:xfrm>
          <a:prstGeom prst="roundRect">
            <a:avLst>
              <a:gd name="adj" fmla="val 5333"/>
            </a:avLst>
          </a:prstGeom>
          <a:solidFill>
            <a:srgbClr val="0D1128"/>
          </a:solidFill>
          <a:ln w="12700">
            <a:solidFill>
              <a:srgbClr val="F5A623"/>
            </a:solidFill>
            <a:prstDash val="solid"/>
          </a:ln>
        </p:spPr>
      </p:sp>
      <p:pic>
        <p:nvPicPr>
          <p:cNvPr id="6" name="Image 0" descr="preencoded.png"/>
          <p:cNvPicPr>
            <a:picLocks noChangeAspect="1"/>
          </p:cNvPicPr>
          <p:nvPr/>
        </p:nvPicPr>
        <p:blipFill>
          <a:blip r:embed="rId3"/>
          <a:stretch>
            <a:fillRect/>
          </a:stretch>
        </p:blipFill>
        <p:spPr>
          <a:xfrm>
            <a:off x="950976" y="1920240"/>
            <a:ext cx="457200" cy="457200"/>
          </a:xfrm>
          <a:prstGeom prst="rect">
            <a:avLst/>
          </a:prstGeom>
        </p:spPr>
      </p:pic>
      <p:sp>
        <p:nvSpPr>
          <p:cNvPr id="7" name="Text 4"/>
          <p:cNvSpPr/>
          <p:nvPr/>
        </p:nvSpPr>
        <p:spPr>
          <a:xfrm>
            <a:off x="1591056" y="1847088"/>
            <a:ext cx="9631375" cy="365760"/>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Ground-truth elasticity is baked into every SKU</a:t>
            </a:r>
            <a:endParaRPr lang="en-US" sz="1600" dirty="0"/>
          </a:p>
        </p:txBody>
      </p:sp>
      <p:sp>
        <p:nvSpPr>
          <p:cNvPr id="8" name="Text 5"/>
          <p:cNvSpPr/>
          <p:nvPr/>
        </p:nvSpPr>
        <p:spPr>
          <a:xfrm>
            <a:off x="1591056" y="2231136"/>
            <a:ext cx="9631375" cy="640080"/>
          </a:xfrm>
          <a:prstGeom prst="rect">
            <a:avLst/>
          </a:prstGeom>
          <a:noFill/>
          <a:ln/>
        </p:spPr>
        <p:txBody>
          <a:bodyPr wrap="square" lIns="0" tIns="0" rIns="0" bIns="0" rtlCol="0" anchor="t"/>
          <a:lstStyle/>
          <a:p>
            <a:pPr marL="0" indent="0">
              <a:lnSpc>
                <a:spcPts val="1550"/>
              </a:lnSpc>
              <a:buNone/>
            </a:pPr>
            <a:r>
              <a:rPr lang="en-US" sz="1200" dirty="0">
                <a:solidFill>
                  <a:srgbClr val="A8B4CC"/>
                </a:solidFill>
                <a:latin typeface="Calibri" pitchFamily="34" charset="0"/>
                <a:ea typeface="Calibri" pitchFamily="34" charset="-122"/>
                <a:cs typeface="Calibri" pitchFamily="34" charset="-120"/>
              </a:rPr>
              <a:t>Because we generate the data, we know the true optimal price in advance — so we can measure how close a recommendation lands to the real optimum, objectively rather than by opinion. Real retail data can never do this: the true elasticity is never known.</a:t>
            </a:r>
            <a:endParaRPr lang="en-US" sz="1200" dirty="0"/>
          </a:p>
        </p:txBody>
      </p:sp>
      <p:sp>
        <p:nvSpPr>
          <p:cNvPr id="9" name="Text 6"/>
          <p:cNvSpPr/>
          <p:nvPr/>
        </p:nvSpPr>
        <p:spPr>
          <a:xfrm>
            <a:off x="640080" y="3182112"/>
            <a:ext cx="5394960" cy="219456"/>
          </a:xfrm>
          <a:prstGeom prst="rect">
            <a:avLst/>
          </a:prstGeom>
          <a:noFill/>
          <a:ln/>
        </p:spPr>
        <p:txBody>
          <a:bodyPr wrap="square" lIns="0" tIns="0" rIns="0" bIns="0" rtlCol="0" anchor="ctr"/>
          <a:lstStyle/>
          <a:p>
            <a:pPr marL="0" indent="0">
              <a:buNone/>
            </a:pPr>
            <a:r>
              <a:rPr lang="en-US" sz="900" b="1" kern="0" spc="120" dirty="0">
                <a:solidFill>
                  <a:srgbClr val="6A7590"/>
                </a:solidFill>
                <a:latin typeface="Calibri" pitchFamily="34" charset="0"/>
                <a:ea typeface="Calibri" pitchFamily="34" charset="-122"/>
                <a:cs typeface="Calibri" pitchFamily="34" charset="-120"/>
              </a:rPr>
              <a:t>QUALITY GATE — RUNS BEFORE ANY PRICING</a:t>
            </a:r>
            <a:endParaRPr lang="en-US" sz="900" dirty="0"/>
          </a:p>
        </p:txBody>
      </p:sp>
      <p:pic>
        <p:nvPicPr>
          <p:cNvPr id="10" name="Image 1" descr="preencoded.png"/>
          <p:cNvPicPr>
            <a:picLocks noChangeAspect="1"/>
          </p:cNvPicPr>
          <p:nvPr/>
        </p:nvPicPr>
        <p:blipFill>
          <a:blip r:embed="rId4"/>
          <a:stretch>
            <a:fillRect/>
          </a:stretch>
        </p:blipFill>
        <p:spPr>
          <a:xfrm>
            <a:off x="640080" y="3511296"/>
            <a:ext cx="219456" cy="219456"/>
          </a:xfrm>
          <a:prstGeom prst="rect">
            <a:avLst/>
          </a:prstGeom>
        </p:spPr>
      </p:pic>
      <p:sp>
        <p:nvSpPr>
          <p:cNvPr id="11" name="Text 7"/>
          <p:cNvSpPr/>
          <p:nvPr/>
        </p:nvSpPr>
        <p:spPr>
          <a:xfrm>
            <a:off x="969264" y="3493008"/>
            <a:ext cx="5065776" cy="274320"/>
          </a:xfrm>
          <a:prstGeom prst="rect">
            <a:avLst/>
          </a:prstGeom>
          <a:noFill/>
          <a:ln/>
        </p:spPr>
        <p:txBody>
          <a:bodyPr wrap="square" lIns="0" tIns="0" rIns="0" bIns="0" rtlCol="0" anchor="ctr"/>
          <a:lstStyle/>
          <a:p>
            <a:pPr marL="0" indent="0">
              <a:buNone/>
            </a:pPr>
            <a:r>
              <a:rPr lang="en-US" sz="1200" dirty="0">
                <a:solidFill>
                  <a:srgbClr val="F4F6FF"/>
                </a:solidFill>
                <a:latin typeface="Calibri" pitchFamily="34" charset="0"/>
                <a:ea typeface="Calibri" pitchFamily="34" charset="-122"/>
                <a:cs typeface="Calibri" pitchFamily="34" charset="-120"/>
              </a:rPr>
              <a:t>Freshness</a:t>
            </a:r>
            <a:endParaRPr lang="en-US" sz="1200" dirty="0"/>
          </a:p>
        </p:txBody>
      </p:sp>
      <p:pic>
        <p:nvPicPr>
          <p:cNvPr id="12" name="Image 2" descr="preencoded.png"/>
          <p:cNvPicPr>
            <a:picLocks noChangeAspect="1"/>
          </p:cNvPicPr>
          <p:nvPr/>
        </p:nvPicPr>
        <p:blipFill>
          <a:blip r:embed="rId4"/>
          <a:stretch>
            <a:fillRect/>
          </a:stretch>
        </p:blipFill>
        <p:spPr>
          <a:xfrm>
            <a:off x="640080" y="3968496"/>
            <a:ext cx="219456" cy="219456"/>
          </a:xfrm>
          <a:prstGeom prst="rect">
            <a:avLst/>
          </a:prstGeom>
        </p:spPr>
      </p:pic>
      <p:sp>
        <p:nvSpPr>
          <p:cNvPr id="13" name="Text 8"/>
          <p:cNvSpPr/>
          <p:nvPr/>
        </p:nvSpPr>
        <p:spPr>
          <a:xfrm>
            <a:off x="969264" y="3950208"/>
            <a:ext cx="5065776" cy="274320"/>
          </a:xfrm>
          <a:prstGeom prst="rect">
            <a:avLst/>
          </a:prstGeom>
          <a:noFill/>
          <a:ln/>
        </p:spPr>
        <p:txBody>
          <a:bodyPr wrap="square" lIns="0" tIns="0" rIns="0" bIns="0" rtlCol="0" anchor="ctr"/>
          <a:lstStyle/>
          <a:p>
            <a:pPr marL="0" indent="0">
              <a:buNone/>
            </a:pPr>
            <a:r>
              <a:rPr lang="en-US" sz="1200" dirty="0">
                <a:solidFill>
                  <a:srgbClr val="F4F6FF"/>
                </a:solidFill>
                <a:latin typeface="Calibri" pitchFamily="34" charset="0"/>
                <a:ea typeface="Calibri" pitchFamily="34" charset="-122"/>
                <a:cs typeface="Calibri" pitchFamily="34" charset="-120"/>
              </a:rPr>
              <a:t>Completeness</a:t>
            </a:r>
            <a:endParaRPr lang="en-US" sz="1200" dirty="0"/>
          </a:p>
        </p:txBody>
      </p:sp>
      <p:pic>
        <p:nvPicPr>
          <p:cNvPr id="14" name="Image 3" descr="preencoded.png"/>
          <p:cNvPicPr>
            <a:picLocks noChangeAspect="1"/>
          </p:cNvPicPr>
          <p:nvPr/>
        </p:nvPicPr>
        <p:blipFill>
          <a:blip r:embed="rId4"/>
          <a:stretch>
            <a:fillRect/>
          </a:stretch>
        </p:blipFill>
        <p:spPr>
          <a:xfrm>
            <a:off x="640080" y="4425696"/>
            <a:ext cx="219456" cy="219456"/>
          </a:xfrm>
          <a:prstGeom prst="rect">
            <a:avLst/>
          </a:prstGeom>
        </p:spPr>
      </p:pic>
      <p:sp>
        <p:nvSpPr>
          <p:cNvPr id="15" name="Text 9"/>
          <p:cNvSpPr/>
          <p:nvPr/>
        </p:nvSpPr>
        <p:spPr>
          <a:xfrm>
            <a:off x="969264" y="4407408"/>
            <a:ext cx="5065776" cy="274320"/>
          </a:xfrm>
          <a:prstGeom prst="rect">
            <a:avLst/>
          </a:prstGeom>
          <a:noFill/>
          <a:ln/>
        </p:spPr>
        <p:txBody>
          <a:bodyPr wrap="square" lIns="0" tIns="0" rIns="0" bIns="0" rtlCol="0" anchor="ctr"/>
          <a:lstStyle/>
          <a:p>
            <a:pPr marL="0" indent="0">
              <a:buNone/>
            </a:pPr>
            <a:r>
              <a:rPr lang="en-US" sz="1200" dirty="0">
                <a:solidFill>
                  <a:srgbClr val="F4F6FF"/>
                </a:solidFill>
                <a:latin typeface="Calibri" pitchFamily="34" charset="0"/>
                <a:ea typeface="Calibri" pitchFamily="34" charset="-122"/>
                <a:cs typeface="Calibri" pitchFamily="34" charset="-120"/>
              </a:rPr>
              <a:t>Schema conformance</a:t>
            </a:r>
            <a:endParaRPr lang="en-US" sz="1200" dirty="0"/>
          </a:p>
        </p:txBody>
      </p:sp>
      <p:pic>
        <p:nvPicPr>
          <p:cNvPr id="16" name="Image 4" descr="preencoded.png"/>
          <p:cNvPicPr>
            <a:picLocks noChangeAspect="1"/>
          </p:cNvPicPr>
          <p:nvPr/>
        </p:nvPicPr>
        <p:blipFill>
          <a:blip r:embed="rId4"/>
          <a:stretch>
            <a:fillRect/>
          </a:stretch>
        </p:blipFill>
        <p:spPr>
          <a:xfrm>
            <a:off x="640080" y="4882896"/>
            <a:ext cx="219456" cy="219456"/>
          </a:xfrm>
          <a:prstGeom prst="rect">
            <a:avLst/>
          </a:prstGeom>
        </p:spPr>
      </p:pic>
      <p:sp>
        <p:nvSpPr>
          <p:cNvPr id="17" name="Text 10"/>
          <p:cNvSpPr/>
          <p:nvPr/>
        </p:nvSpPr>
        <p:spPr>
          <a:xfrm>
            <a:off x="969264" y="4864608"/>
            <a:ext cx="5065776" cy="274320"/>
          </a:xfrm>
          <a:prstGeom prst="rect">
            <a:avLst/>
          </a:prstGeom>
          <a:noFill/>
          <a:ln/>
        </p:spPr>
        <p:txBody>
          <a:bodyPr wrap="square" lIns="0" tIns="0" rIns="0" bIns="0" rtlCol="0" anchor="ctr"/>
          <a:lstStyle/>
          <a:p>
            <a:pPr marL="0" indent="0">
              <a:buNone/>
            </a:pPr>
            <a:r>
              <a:rPr lang="en-US" sz="1200" dirty="0">
                <a:solidFill>
                  <a:srgbClr val="F4F6FF"/>
                </a:solidFill>
                <a:latin typeface="Calibri" pitchFamily="34" charset="0"/>
                <a:ea typeface="Calibri" pitchFamily="34" charset="-122"/>
                <a:cs typeface="Calibri" pitchFamily="34" charset="-120"/>
              </a:rPr>
              <a:t>Referential integrity</a:t>
            </a:r>
            <a:endParaRPr lang="en-US" sz="1200" dirty="0"/>
          </a:p>
        </p:txBody>
      </p:sp>
      <p:pic>
        <p:nvPicPr>
          <p:cNvPr id="18" name="Image 5" descr="preencoded.png"/>
          <p:cNvPicPr>
            <a:picLocks noChangeAspect="1"/>
          </p:cNvPicPr>
          <p:nvPr/>
        </p:nvPicPr>
        <p:blipFill>
          <a:blip r:embed="rId4"/>
          <a:stretch>
            <a:fillRect/>
          </a:stretch>
        </p:blipFill>
        <p:spPr>
          <a:xfrm>
            <a:off x="640080" y="5340096"/>
            <a:ext cx="219456" cy="219456"/>
          </a:xfrm>
          <a:prstGeom prst="rect">
            <a:avLst/>
          </a:prstGeom>
        </p:spPr>
      </p:pic>
      <p:sp>
        <p:nvSpPr>
          <p:cNvPr id="19" name="Text 11"/>
          <p:cNvSpPr/>
          <p:nvPr/>
        </p:nvSpPr>
        <p:spPr>
          <a:xfrm>
            <a:off x="969264" y="5321808"/>
            <a:ext cx="5065776" cy="274320"/>
          </a:xfrm>
          <a:prstGeom prst="rect">
            <a:avLst/>
          </a:prstGeom>
          <a:noFill/>
          <a:ln/>
        </p:spPr>
        <p:txBody>
          <a:bodyPr wrap="square" lIns="0" tIns="0" rIns="0" bIns="0" rtlCol="0" anchor="ctr"/>
          <a:lstStyle/>
          <a:p>
            <a:pPr marL="0" indent="0">
              <a:buNone/>
            </a:pPr>
            <a:r>
              <a:rPr lang="en-US" sz="1200" dirty="0">
                <a:solidFill>
                  <a:srgbClr val="F4F6FF"/>
                </a:solidFill>
                <a:latin typeface="Calibri" pitchFamily="34" charset="0"/>
                <a:ea typeface="Calibri" pitchFamily="34" charset="-122"/>
                <a:cs typeface="Calibri" pitchFamily="34" charset="-120"/>
              </a:rPr>
              <a:t>Statistical outliers</a:t>
            </a:r>
            <a:endParaRPr lang="en-US" sz="1200" dirty="0"/>
          </a:p>
        </p:txBody>
      </p:sp>
      <p:sp>
        <p:nvSpPr>
          <p:cNvPr id="20" name="Text 12"/>
          <p:cNvSpPr/>
          <p:nvPr/>
        </p:nvSpPr>
        <p:spPr>
          <a:xfrm>
            <a:off x="640080" y="5815584"/>
            <a:ext cx="5394960" cy="365760"/>
          </a:xfrm>
          <a:prstGeom prst="rect">
            <a:avLst/>
          </a:prstGeom>
          <a:noFill/>
          <a:ln/>
        </p:spPr>
        <p:txBody>
          <a:bodyPr wrap="square" lIns="0" tIns="0" rIns="0" bIns="0" rtlCol="0" anchor="t"/>
          <a:lstStyle/>
          <a:p>
            <a:pPr marL="0" indent="0">
              <a:lnSpc>
                <a:spcPts val="1350"/>
              </a:lnSpc>
              <a:buNone/>
            </a:pPr>
            <a:r>
              <a:rPr lang="en-US" sz="1050" dirty="0">
                <a:solidFill>
                  <a:srgbClr val="F5A623"/>
                </a:solidFill>
                <a:latin typeface="Calibri" pitchFamily="34" charset="0"/>
                <a:ea typeface="Calibri" pitchFamily="34" charset="-122"/>
                <a:cs typeface="Calibri" pitchFamily="34" charset="-120"/>
              </a:rPr>
              <a:t>A failing gate halts the run with a specific reason. Never prices on data it judged unfit.</a:t>
            </a:r>
            <a:endParaRPr lang="en-US" sz="1050" dirty="0"/>
          </a:p>
        </p:txBody>
      </p:sp>
      <p:sp>
        <p:nvSpPr>
          <p:cNvPr id="21" name="Shape 13"/>
          <p:cNvSpPr/>
          <p:nvPr/>
        </p:nvSpPr>
        <p:spPr>
          <a:xfrm>
            <a:off x="6400800" y="3438144"/>
            <a:ext cx="5150815" cy="2395728"/>
          </a:xfrm>
          <a:prstGeom prst="roundRect">
            <a:avLst>
              <a:gd name="adj" fmla="val 3053"/>
            </a:avLst>
          </a:prstGeom>
          <a:solidFill>
            <a:srgbClr val="0D1128"/>
          </a:solidFill>
          <a:ln w="12700">
            <a:solidFill>
              <a:srgbClr val="F5A623"/>
            </a:solidFill>
            <a:prstDash val="solid"/>
          </a:ln>
        </p:spPr>
      </p:sp>
      <p:pic>
        <p:nvPicPr>
          <p:cNvPr id="22" name="Image 6" descr="preencoded.png"/>
          <p:cNvPicPr>
            <a:picLocks noChangeAspect="1"/>
          </p:cNvPicPr>
          <p:nvPr/>
        </p:nvPicPr>
        <p:blipFill>
          <a:blip r:embed="rId5"/>
          <a:stretch>
            <a:fillRect/>
          </a:stretch>
        </p:blipFill>
        <p:spPr>
          <a:xfrm>
            <a:off x="6675120" y="3657600"/>
            <a:ext cx="365760" cy="365760"/>
          </a:xfrm>
          <a:prstGeom prst="rect">
            <a:avLst/>
          </a:prstGeom>
        </p:spPr>
      </p:pic>
      <p:sp>
        <p:nvSpPr>
          <p:cNvPr id="23" name="Text 14"/>
          <p:cNvSpPr/>
          <p:nvPr/>
        </p:nvSpPr>
        <p:spPr>
          <a:xfrm>
            <a:off x="7168896" y="3675888"/>
            <a:ext cx="4144975" cy="329184"/>
          </a:xfrm>
          <a:prstGeom prst="rect">
            <a:avLst/>
          </a:prstGeom>
          <a:noFill/>
          <a:ln/>
        </p:spPr>
        <p:txBody>
          <a:bodyPr wrap="square" lIns="0" tIns="0" rIns="0" bIns="0" rtlCol="0" anchor="ctr"/>
          <a:lstStyle/>
          <a:p>
            <a:pPr marL="0" indent="0">
              <a:buNone/>
            </a:pPr>
            <a:r>
              <a:rPr lang="en-US" sz="1400" b="1" dirty="0">
                <a:solidFill>
                  <a:srgbClr val="F5A623"/>
                </a:solidFill>
                <a:latin typeface="Calibri" pitchFamily="34" charset="0"/>
                <a:ea typeface="Calibri" pitchFamily="34" charset="-122"/>
                <a:cs typeface="Calibri" pitchFamily="34" charset="-120"/>
              </a:rPr>
              <a:t>The demo that wins the room</a:t>
            </a:r>
            <a:endParaRPr lang="en-US" sz="1400" dirty="0"/>
          </a:p>
        </p:txBody>
      </p:sp>
      <p:sp>
        <p:nvSpPr>
          <p:cNvPr id="24" name="Text 15"/>
          <p:cNvSpPr/>
          <p:nvPr/>
        </p:nvSpPr>
        <p:spPr>
          <a:xfrm>
            <a:off x="6675120" y="4114800"/>
            <a:ext cx="4602175" cy="274320"/>
          </a:xfrm>
          <a:prstGeom prst="rect">
            <a:avLst/>
          </a:prstGeom>
          <a:noFill/>
          <a:ln/>
        </p:spPr>
        <p:txBody>
          <a:bodyPr wrap="square" lIns="0" tIns="0" rIns="0" bIns="0" rtlCol="0" anchor="ctr"/>
          <a:lstStyle/>
          <a:p>
            <a:pPr marL="0" indent="0">
              <a:buNone/>
            </a:pPr>
            <a:r>
              <a:rPr lang="en-US" sz="1250" b="1" dirty="0">
                <a:solidFill>
                  <a:srgbClr val="F4F6FF"/>
                </a:solidFill>
                <a:latin typeface="Calibri" pitchFamily="34" charset="0"/>
                <a:ea typeface="Calibri" pitchFamily="34" charset="-122"/>
                <a:cs typeface="Calibri" pitchFamily="34" charset="-120"/>
              </a:rPr>
              <a:t>Degrade one SKU's history, live.</a:t>
            </a:r>
            <a:endParaRPr lang="en-US" sz="1250" dirty="0"/>
          </a:p>
        </p:txBody>
      </p:sp>
      <p:sp>
        <p:nvSpPr>
          <p:cNvPr id="25" name="Text 16"/>
          <p:cNvSpPr/>
          <p:nvPr/>
        </p:nvSpPr>
        <p:spPr>
          <a:xfrm>
            <a:off x="6675120" y="4443984"/>
            <a:ext cx="4602175" cy="822960"/>
          </a:xfrm>
          <a:prstGeom prst="rect">
            <a:avLst/>
          </a:prstGeom>
          <a:noFill/>
          <a:ln/>
        </p:spPr>
        <p:txBody>
          <a:bodyPr wrap="square" lIns="0" tIns="0" rIns="0" bIns="0" rtlCol="0" anchor="t"/>
          <a:lstStyle/>
          <a:p>
            <a:pPr marL="0" indent="0">
              <a:lnSpc>
                <a:spcPts val="1500"/>
              </a:lnSpc>
              <a:buNone/>
            </a:pPr>
            <a:r>
              <a:rPr lang="en-US" sz="1150" dirty="0">
                <a:solidFill>
                  <a:srgbClr val="A8B4CC"/>
                </a:solidFill>
                <a:latin typeface="Calibri" pitchFamily="34" charset="0"/>
                <a:ea typeface="Calibri" pitchFamily="34" charset="-122"/>
                <a:cs typeface="Calibri" pitchFamily="34" charset="-120"/>
              </a:rPr>
              <a:t>Watch its confidence fall and its recommendation move from </a:t>
            </a:r>
            <a:r>
              <a:rPr lang="en-US" sz="1150" b="1" dirty="0">
                <a:solidFill>
                  <a:srgbClr val="4FC3F7"/>
                </a:solidFill>
                <a:latin typeface="Calibri" pitchFamily="34" charset="0"/>
                <a:ea typeface="Calibri" pitchFamily="34" charset="-122"/>
                <a:cs typeface="Calibri" pitchFamily="34" charset="-120"/>
              </a:rPr>
              <a:t>Auto-approve</a:t>
            </a:r>
            <a:r>
              <a:rPr lang="en-US" sz="1150" dirty="0">
                <a:solidFill>
                  <a:srgbClr val="A8B4CC"/>
                </a:solidFill>
                <a:latin typeface="Calibri" pitchFamily="34" charset="0"/>
                <a:ea typeface="Calibri" pitchFamily="34" charset="-122"/>
                <a:cs typeface="Calibri" pitchFamily="34" charset="-120"/>
              </a:rPr>
              <a:t> to </a:t>
            </a:r>
            <a:r>
              <a:rPr lang="en-US" sz="1150" b="1" dirty="0">
                <a:solidFill>
                  <a:srgbClr val="F5A623"/>
                </a:solidFill>
                <a:latin typeface="Calibri" pitchFamily="34" charset="0"/>
                <a:ea typeface="Calibri" pitchFamily="34" charset="-122"/>
                <a:cs typeface="Calibri" pitchFamily="34" charset="-120"/>
              </a:rPr>
              <a:t>Escalate</a:t>
            </a:r>
            <a:r>
              <a:rPr lang="en-US" sz="1150" dirty="0">
                <a:solidFill>
                  <a:srgbClr val="A8B4CC"/>
                </a:solidFill>
                <a:latin typeface="Calibri" pitchFamily="34" charset="0"/>
                <a:ea typeface="Calibri" pitchFamily="34" charset="-122"/>
                <a:cs typeface="Calibri" pitchFamily="34" charset="-120"/>
              </a:rPr>
              <a:t> — while a rules engine's output wouldn't change at all.</a:t>
            </a:r>
            <a:endParaRPr lang="en-US" sz="1150" dirty="0"/>
          </a:p>
        </p:txBody>
      </p:sp>
      <p:sp>
        <p:nvSpPr>
          <p:cNvPr id="26" name="Text 17"/>
          <p:cNvSpPr/>
          <p:nvPr/>
        </p:nvSpPr>
        <p:spPr>
          <a:xfrm>
            <a:off x="6675120" y="5358384"/>
            <a:ext cx="4602175" cy="402336"/>
          </a:xfrm>
          <a:prstGeom prst="rect">
            <a:avLst/>
          </a:prstGeom>
          <a:noFill/>
          <a:ln/>
        </p:spPr>
        <p:txBody>
          <a:bodyPr wrap="square" lIns="0" tIns="0" rIns="0" bIns="0" rtlCol="0" anchor="t"/>
          <a:lstStyle/>
          <a:p>
            <a:pPr marL="0" indent="0">
              <a:lnSpc>
                <a:spcPts val="1400"/>
              </a:lnSpc>
              <a:buNone/>
            </a:pPr>
            <a:r>
              <a:rPr lang="en-US" sz="1100" i="1" dirty="0">
                <a:solidFill>
                  <a:srgbClr val="A8B4CC"/>
                </a:solidFill>
                <a:latin typeface="Calibri" pitchFamily="34" charset="0"/>
                <a:ea typeface="Calibri" pitchFamily="34" charset="-122"/>
                <a:cs typeface="Calibri" pitchFamily="34" charset="-120"/>
              </a:rPr>
              <a:t>Calibrated confidence is exactly what makes bounded autonomy safe.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5070F"/>
        </a:solidFill>
        <a:effectLst/>
      </p:bgPr>
    </p:bg>
    <p:spTree>
      <p:nvGrpSpPr>
        <p:cNvPr id="1" name=""/>
        <p:cNvGrpSpPr/>
        <p:nvPr/>
      </p:nvGrpSpPr>
      <p:grpSpPr>
        <a:xfrm>
          <a:off x="0" y="0"/>
          <a:ext cx="0" cy="0"/>
          <a:chOff x="0" y="0"/>
          <a:chExt cx="0" cy="0"/>
        </a:xfrm>
      </p:grpSpPr>
      <p:sp>
        <p:nvSpPr>
          <p:cNvPr id="2" name="Text 0"/>
          <p:cNvSpPr/>
          <p:nvPr/>
        </p:nvSpPr>
        <p:spPr>
          <a:xfrm>
            <a:off x="11002975" y="6345936"/>
            <a:ext cx="548640" cy="274320"/>
          </a:xfrm>
          <a:prstGeom prst="rect">
            <a:avLst/>
          </a:prstGeom>
          <a:noFill/>
          <a:ln/>
        </p:spPr>
        <p:txBody>
          <a:bodyPr wrap="square" lIns="0" tIns="0" rIns="0" bIns="0" rtlCol="0" anchor="ctr"/>
          <a:lstStyle/>
          <a:p>
            <a:pPr marL="0" indent="0" algn="r">
              <a:buNone/>
            </a:pPr>
            <a:r>
              <a:rPr lang="en-US" sz="1000" dirty="0">
                <a:solidFill>
                  <a:srgbClr val="6A7590"/>
                </a:solidFill>
                <a:latin typeface="Calibri" pitchFamily="34" charset="0"/>
                <a:ea typeface="Calibri" pitchFamily="34" charset="-122"/>
                <a:cs typeface="Calibri" pitchFamily="34" charset="-120"/>
              </a:rPr>
              <a:t>12</a:t>
            </a:r>
            <a:endParaRPr lang="en-US" sz="1000" dirty="0"/>
          </a:p>
        </p:txBody>
      </p:sp>
      <p:sp>
        <p:nvSpPr>
          <p:cNvPr id="3" name="Text 1"/>
          <p:cNvSpPr/>
          <p:nvPr/>
        </p:nvSpPr>
        <p:spPr>
          <a:xfrm>
            <a:off x="640080" y="457200"/>
            <a:ext cx="10911535" cy="237744"/>
          </a:xfrm>
          <a:prstGeom prst="rect">
            <a:avLst/>
          </a:prstGeom>
          <a:noFill/>
          <a:ln/>
        </p:spPr>
        <p:txBody>
          <a:bodyPr wrap="square" lIns="0" tIns="0" rIns="0" bIns="0" rtlCol="0" anchor="ctr"/>
          <a:lstStyle/>
          <a:p>
            <a:pPr marL="0" indent="0">
              <a:buNone/>
            </a:pPr>
            <a:r>
              <a:rPr lang="en-US" sz="1050" b="1" kern="0" spc="240" dirty="0">
                <a:solidFill>
                  <a:srgbClr val="6A7590"/>
                </a:solidFill>
                <a:latin typeface="Calibri" pitchFamily="34" charset="0"/>
                <a:ea typeface="Calibri" pitchFamily="34" charset="-122"/>
                <a:cs typeface="Calibri" pitchFamily="34" charset="-120"/>
              </a:rPr>
              <a:t>RESULTS, DECISIONS &amp; WHAT'S NEXT</a:t>
            </a:r>
            <a:endParaRPr lang="en-US" sz="1050" dirty="0"/>
          </a:p>
        </p:txBody>
      </p:sp>
      <p:sp>
        <p:nvSpPr>
          <p:cNvPr id="4" name="Text 2"/>
          <p:cNvSpPr/>
          <p:nvPr/>
        </p:nvSpPr>
        <p:spPr>
          <a:xfrm>
            <a:off x="640080" y="749808"/>
            <a:ext cx="10911535" cy="640080"/>
          </a:xfrm>
          <a:prstGeom prst="rect">
            <a:avLst/>
          </a:prstGeom>
          <a:noFill/>
          <a:ln/>
        </p:spPr>
        <p:txBody>
          <a:bodyPr wrap="square" lIns="0" tIns="0" rIns="0" bIns="0" rtlCol="0" anchor="t"/>
          <a:lstStyle/>
          <a:p>
            <a:pPr marL="0" indent="0">
              <a:lnSpc>
                <a:spcPts val="2850"/>
              </a:lnSpc>
              <a:buNone/>
            </a:pPr>
            <a:r>
              <a:rPr lang="en-US" sz="2500" b="1" dirty="0">
                <a:solidFill>
                  <a:srgbClr val="F4F6FF"/>
                </a:solidFill>
                <a:latin typeface="Calibri" pitchFamily="34" charset="0"/>
                <a:ea typeface="Calibri" pitchFamily="34" charset="-122"/>
                <a:cs typeface="Calibri" pitchFamily="34" charset="-120"/>
              </a:rPr>
              <a:t>Every claim carries evidence — including the zeros</a:t>
            </a:r>
            <a:endParaRPr lang="en-US" sz="2500" dirty="0"/>
          </a:p>
        </p:txBody>
      </p:sp>
      <p:sp>
        <p:nvSpPr>
          <p:cNvPr id="5" name="Shape 3"/>
          <p:cNvSpPr/>
          <p:nvPr/>
        </p:nvSpPr>
        <p:spPr>
          <a:xfrm>
            <a:off x="640080" y="1627632"/>
            <a:ext cx="2522144" cy="1737360"/>
          </a:xfrm>
          <a:prstGeom prst="roundRect">
            <a:avLst>
              <a:gd name="adj" fmla="val 4211"/>
            </a:avLst>
          </a:prstGeom>
          <a:solidFill>
            <a:srgbClr val="0D1128"/>
          </a:solidFill>
          <a:ln w="12700">
            <a:solidFill>
              <a:srgbClr val="F5A623"/>
            </a:solidFill>
            <a:prstDash val="solid"/>
          </a:ln>
        </p:spPr>
      </p:sp>
      <p:sp>
        <p:nvSpPr>
          <p:cNvPr id="6" name="Text 4"/>
          <p:cNvSpPr/>
          <p:nvPr/>
        </p:nvSpPr>
        <p:spPr>
          <a:xfrm>
            <a:off x="640080" y="1865376"/>
            <a:ext cx="2522144" cy="731520"/>
          </a:xfrm>
          <a:prstGeom prst="rect">
            <a:avLst/>
          </a:prstGeom>
          <a:noFill/>
          <a:ln/>
        </p:spPr>
        <p:txBody>
          <a:bodyPr wrap="square" lIns="0" tIns="0" rIns="0" bIns="0" rtlCol="0" anchor="ctr"/>
          <a:lstStyle/>
          <a:p>
            <a:pPr marL="0" indent="0" algn="ctr">
              <a:buNone/>
            </a:pPr>
            <a:r>
              <a:rPr lang="en-US" sz="4200" kern="0" spc="-100" dirty="0">
                <a:solidFill>
                  <a:srgbClr val="F5A623"/>
                </a:solidFill>
                <a:latin typeface="Calibri" pitchFamily="34" charset="0"/>
                <a:ea typeface="Calibri" pitchFamily="34" charset="-122"/>
                <a:cs typeface="Calibri" pitchFamily="34" charset="-120"/>
              </a:rPr>
              <a:t>≥5%</a:t>
            </a:r>
            <a:endParaRPr lang="en-US" sz="4200" dirty="0"/>
          </a:p>
        </p:txBody>
      </p:sp>
      <p:sp>
        <p:nvSpPr>
          <p:cNvPr id="7" name="Text 5"/>
          <p:cNvSpPr/>
          <p:nvPr/>
        </p:nvSpPr>
        <p:spPr>
          <a:xfrm>
            <a:off x="768096" y="2615184"/>
            <a:ext cx="2266112" cy="310896"/>
          </a:xfrm>
          <a:prstGeom prst="rect">
            <a:avLst/>
          </a:prstGeom>
          <a:noFill/>
          <a:ln/>
        </p:spPr>
        <p:txBody>
          <a:bodyPr wrap="square" lIns="0" tIns="0" rIns="0" bIns="0" rtlCol="0" anchor="t"/>
          <a:lstStyle/>
          <a:p>
            <a:pPr marL="0" indent="0" algn="ctr">
              <a:lnSpc>
                <a:spcPts val="1400"/>
              </a:lnSpc>
              <a:buNone/>
            </a:pPr>
            <a:r>
              <a:rPr lang="en-US" sz="1200" b="1" dirty="0">
                <a:solidFill>
                  <a:srgbClr val="F4F6FF"/>
                </a:solidFill>
                <a:latin typeface="Calibri" pitchFamily="34" charset="0"/>
                <a:ea typeface="Calibri" pitchFamily="34" charset="-122"/>
                <a:cs typeface="Calibri" pitchFamily="34" charset="-120"/>
              </a:rPr>
              <a:t>Revenue uplift</a:t>
            </a:r>
            <a:endParaRPr lang="en-US" sz="1200" dirty="0"/>
          </a:p>
        </p:txBody>
      </p:sp>
      <p:sp>
        <p:nvSpPr>
          <p:cNvPr id="8" name="Text 6"/>
          <p:cNvSpPr/>
          <p:nvPr/>
        </p:nvSpPr>
        <p:spPr>
          <a:xfrm>
            <a:off x="768096" y="2926080"/>
            <a:ext cx="2266112" cy="365760"/>
          </a:xfrm>
          <a:prstGeom prst="rect">
            <a:avLst/>
          </a:prstGeom>
          <a:noFill/>
          <a:ln/>
        </p:spPr>
        <p:txBody>
          <a:bodyPr wrap="square" lIns="0" tIns="0" rIns="0" bIns="0" rtlCol="0" anchor="t"/>
          <a:lstStyle/>
          <a:p>
            <a:pPr marL="0" indent="0" algn="ctr">
              <a:lnSpc>
                <a:spcPts val="1100"/>
              </a:lnSpc>
              <a:buNone/>
            </a:pPr>
            <a:r>
              <a:rPr lang="en-US" sz="900" dirty="0">
                <a:solidFill>
                  <a:srgbClr val="A8B4CC"/>
                </a:solidFill>
                <a:latin typeface="Calibri" pitchFamily="34" charset="0"/>
                <a:ea typeface="Calibri" pitchFamily="34" charset="-122"/>
                <a:cs typeface="Calibri" pitchFamily="34" charset="-120"/>
              </a:rPr>
              <a:t>vs. rule-based baseline, identical data</a:t>
            </a:r>
            <a:endParaRPr lang="en-US" sz="900" dirty="0"/>
          </a:p>
        </p:txBody>
      </p:sp>
      <p:sp>
        <p:nvSpPr>
          <p:cNvPr id="9" name="Shape 7"/>
          <p:cNvSpPr/>
          <p:nvPr/>
        </p:nvSpPr>
        <p:spPr>
          <a:xfrm>
            <a:off x="3436544" y="1627632"/>
            <a:ext cx="2522144" cy="1737360"/>
          </a:xfrm>
          <a:prstGeom prst="roundRect">
            <a:avLst>
              <a:gd name="adj" fmla="val 4211"/>
            </a:avLst>
          </a:prstGeom>
          <a:solidFill>
            <a:srgbClr val="0D1128"/>
          </a:solidFill>
          <a:ln w="12700">
            <a:solidFill>
              <a:srgbClr val="1A2040"/>
            </a:solidFill>
            <a:prstDash val="solid"/>
          </a:ln>
        </p:spPr>
      </p:sp>
      <p:sp>
        <p:nvSpPr>
          <p:cNvPr id="10" name="Text 8"/>
          <p:cNvSpPr/>
          <p:nvPr/>
        </p:nvSpPr>
        <p:spPr>
          <a:xfrm>
            <a:off x="3436544" y="1865376"/>
            <a:ext cx="2522144" cy="731520"/>
          </a:xfrm>
          <a:prstGeom prst="rect">
            <a:avLst/>
          </a:prstGeom>
          <a:noFill/>
          <a:ln/>
        </p:spPr>
        <p:txBody>
          <a:bodyPr wrap="square" lIns="0" tIns="0" rIns="0" bIns="0" rtlCol="0" anchor="ctr"/>
          <a:lstStyle/>
          <a:p>
            <a:pPr marL="0" indent="0" algn="ctr">
              <a:buNone/>
            </a:pPr>
            <a:r>
              <a:rPr lang="en-US" sz="4200" kern="0" spc="-100" dirty="0">
                <a:solidFill>
                  <a:srgbClr val="F4F6FF"/>
                </a:solidFill>
                <a:latin typeface="Calibri" pitchFamily="34" charset="0"/>
                <a:ea typeface="Calibri" pitchFamily="34" charset="-122"/>
                <a:cs typeface="Calibri" pitchFamily="34" charset="-120"/>
              </a:rPr>
              <a:t>&lt;10%</a:t>
            </a:r>
            <a:endParaRPr lang="en-US" sz="4200" dirty="0"/>
          </a:p>
        </p:txBody>
      </p:sp>
      <p:sp>
        <p:nvSpPr>
          <p:cNvPr id="11" name="Text 9"/>
          <p:cNvSpPr/>
          <p:nvPr/>
        </p:nvSpPr>
        <p:spPr>
          <a:xfrm>
            <a:off x="3564560" y="2615184"/>
            <a:ext cx="2266112" cy="310896"/>
          </a:xfrm>
          <a:prstGeom prst="rect">
            <a:avLst/>
          </a:prstGeom>
          <a:noFill/>
          <a:ln/>
        </p:spPr>
        <p:txBody>
          <a:bodyPr wrap="square" lIns="0" tIns="0" rIns="0" bIns="0" rtlCol="0" anchor="t"/>
          <a:lstStyle/>
          <a:p>
            <a:pPr marL="0" indent="0" algn="ctr">
              <a:lnSpc>
                <a:spcPts val="1400"/>
              </a:lnSpc>
              <a:buNone/>
            </a:pPr>
            <a:r>
              <a:rPr lang="en-US" sz="1200" b="1" dirty="0">
                <a:solidFill>
                  <a:srgbClr val="F4F6FF"/>
                </a:solidFill>
                <a:latin typeface="Calibri" pitchFamily="34" charset="0"/>
                <a:ea typeface="Calibri" pitchFamily="34" charset="-122"/>
                <a:cs typeface="Calibri" pitchFamily="34" charset="-120"/>
              </a:rPr>
              <a:t>Price accuracy</a:t>
            </a:r>
            <a:endParaRPr lang="en-US" sz="1200" dirty="0"/>
          </a:p>
        </p:txBody>
      </p:sp>
      <p:sp>
        <p:nvSpPr>
          <p:cNvPr id="12" name="Text 10"/>
          <p:cNvSpPr/>
          <p:nvPr/>
        </p:nvSpPr>
        <p:spPr>
          <a:xfrm>
            <a:off x="3564560" y="2926080"/>
            <a:ext cx="2266112" cy="365760"/>
          </a:xfrm>
          <a:prstGeom prst="rect">
            <a:avLst/>
          </a:prstGeom>
          <a:noFill/>
          <a:ln/>
        </p:spPr>
        <p:txBody>
          <a:bodyPr wrap="square" lIns="0" tIns="0" rIns="0" bIns="0" rtlCol="0" anchor="t"/>
          <a:lstStyle/>
          <a:p>
            <a:pPr marL="0" indent="0" algn="ctr">
              <a:lnSpc>
                <a:spcPts val="1100"/>
              </a:lnSpc>
              <a:buNone/>
            </a:pPr>
            <a:r>
              <a:rPr lang="en-US" sz="900" dirty="0">
                <a:solidFill>
                  <a:srgbClr val="4FC3F7"/>
                </a:solidFill>
                <a:latin typeface="Calibri" pitchFamily="34" charset="0"/>
                <a:ea typeface="Calibri" pitchFamily="34" charset="-122"/>
                <a:cs typeface="Calibri" pitchFamily="34" charset="-120"/>
              </a:rPr>
              <a:t>vs. ground-truth optimum</a:t>
            </a:r>
            <a:endParaRPr lang="en-US" sz="900" dirty="0"/>
          </a:p>
        </p:txBody>
      </p:sp>
      <p:sp>
        <p:nvSpPr>
          <p:cNvPr id="13" name="Shape 11"/>
          <p:cNvSpPr/>
          <p:nvPr/>
        </p:nvSpPr>
        <p:spPr>
          <a:xfrm>
            <a:off x="6233008" y="1627632"/>
            <a:ext cx="2522144" cy="1737360"/>
          </a:xfrm>
          <a:prstGeom prst="roundRect">
            <a:avLst>
              <a:gd name="adj" fmla="val 4211"/>
            </a:avLst>
          </a:prstGeom>
          <a:solidFill>
            <a:srgbClr val="0D1128"/>
          </a:solidFill>
          <a:ln w="12700">
            <a:solidFill>
              <a:srgbClr val="1A2040"/>
            </a:solidFill>
            <a:prstDash val="solid"/>
          </a:ln>
        </p:spPr>
      </p:sp>
      <p:sp>
        <p:nvSpPr>
          <p:cNvPr id="14" name="Text 12"/>
          <p:cNvSpPr/>
          <p:nvPr/>
        </p:nvSpPr>
        <p:spPr>
          <a:xfrm>
            <a:off x="6233008" y="1865376"/>
            <a:ext cx="2522144" cy="731520"/>
          </a:xfrm>
          <a:prstGeom prst="rect">
            <a:avLst/>
          </a:prstGeom>
          <a:noFill/>
          <a:ln/>
        </p:spPr>
        <p:txBody>
          <a:bodyPr wrap="square" lIns="0" tIns="0" rIns="0" bIns="0" rtlCol="0" anchor="ctr"/>
          <a:lstStyle/>
          <a:p>
            <a:pPr marL="0" indent="0" algn="ctr">
              <a:buNone/>
            </a:pPr>
            <a:r>
              <a:rPr lang="en-US" sz="4200" kern="0" spc="-100" dirty="0">
                <a:solidFill>
                  <a:srgbClr val="F4F6FF"/>
                </a:solidFill>
                <a:latin typeface="Calibri" pitchFamily="34" charset="0"/>
                <a:ea typeface="Calibri" pitchFamily="34" charset="-122"/>
                <a:cs typeface="Calibri" pitchFamily="34" charset="-120"/>
              </a:rPr>
              <a:t>0</a:t>
            </a:r>
            <a:endParaRPr lang="en-US" sz="4200" dirty="0"/>
          </a:p>
        </p:txBody>
      </p:sp>
      <p:sp>
        <p:nvSpPr>
          <p:cNvPr id="15" name="Text 13"/>
          <p:cNvSpPr/>
          <p:nvPr/>
        </p:nvSpPr>
        <p:spPr>
          <a:xfrm>
            <a:off x="6361024" y="2615184"/>
            <a:ext cx="2266112" cy="310896"/>
          </a:xfrm>
          <a:prstGeom prst="rect">
            <a:avLst/>
          </a:prstGeom>
          <a:noFill/>
          <a:ln/>
        </p:spPr>
        <p:txBody>
          <a:bodyPr wrap="square" lIns="0" tIns="0" rIns="0" bIns="0" rtlCol="0" anchor="t"/>
          <a:lstStyle/>
          <a:p>
            <a:pPr marL="0" indent="0" algn="ctr">
              <a:lnSpc>
                <a:spcPts val="1400"/>
              </a:lnSpc>
              <a:buNone/>
            </a:pPr>
            <a:r>
              <a:rPr lang="en-US" sz="1200" b="1" dirty="0">
                <a:solidFill>
                  <a:srgbClr val="F4F6FF"/>
                </a:solidFill>
                <a:latin typeface="Calibri" pitchFamily="34" charset="0"/>
                <a:ea typeface="Calibri" pitchFamily="34" charset="-122"/>
                <a:cs typeface="Calibri" pitchFamily="34" charset="-120"/>
              </a:rPr>
              <a:t>Violations to commerce</a:t>
            </a:r>
            <a:endParaRPr lang="en-US" sz="1200" dirty="0"/>
          </a:p>
        </p:txBody>
      </p:sp>
      <p:sp>
        <p:nvSpPr>
          <p:cNvPr id="16" name="Text 14"/>
          <p:cNvSpPr/>
          <p:nvPr/>
        </p:nvSpPr>
        <p:spPr>
          <a:xfrm>
            <a:off x="6361024" y="2926080"/>
            <a:ext cx="2266112" cy="365760"/>
          </a:xfrm>
          <a:prstGeom prst="rect">
            <a:avLst/>
          </a:prstGeom>
          <a:noFill/>
          <a:ln/>
        </p:spPr>
        <p:txBody>
          <a:bodyPr wrap="square" lIns="0" tIns="0" rIns="0" bIns="0" rtlCol="0" anchor="t"/>
          <a:lstStyle/>
          <a:p>
            <a:pPr marL="0" indent="0" algn="ctr">
              <a:lnSpc>
                <a:spcPts val="1100"/>
              </a:lnSpc>
              <a:buNone/>
            </a:pPr>
            <a:r>
              <a:rPr lang="en-US" sz="900" dirty="0">
                <a:solidFill>
                  <a:srgbClr val="4FC3F7"/>
                </a:solidFill>
                <a:latin typeface="Calibri" pitchFamily="34" charset="0"/>
                <a:ea typeface="Calibri" pitchFamily="34" charset="-122"/>
                <a:cs typeface="Calibri" pitchFamily="34" charset="-120"/>
              </a:rPr>
              <a:t>in any operating mode</a:t>
            </a:r>
            <a:endParaRPr lang="en-US" sz="900" dirty="0"/>
          </a:p>
        </p:txBody>
      </p:sp>
      <p:sp>
        <p:nvSpPr>
          <p:cNvPr id="17" name="Shape 15"/>
          <p:cNvSpPr/>
          <p:nvPr/>
        </p:nvSpPr>
        <p:spPr>
          <a:xfrm>
            <a:off x="9029471" y="1627632"/>
            <a:ext cx="2522144" cy="1737360"/>
          </a:xfrm>
          <a:prstGeom prst="roundRect">
            <a:avLst>
              <a:gd name="adj" fmla="val 4211"/>
            </a:avLst>
          </a:prstGeom>
          <a:solidFill>
            <a:srgbClr val="0D1128"/>
          </a:solidFill>
          <a:ln w="12700">
            <a:solidFill>
              <a:srgbClr val="1A2040"/>
            </a:solidFill>
            <a:prstDash val="solid"/>
          </a:ln>
        </p:spPr>
      </p:sp>
      <p:sp>
        <p:nvSpPr>
          <p:cNvPr id="18" name="Text 16"/>
          <p:cNvSpPr/>
          <p:nvPr/>
        </p:nvSpPr>
        <p:spPr>
          <a:xfrm>
            <a:off x="9029471" y="1865376"/>
            <a:ext cx="2522144" cy="731520"/>
          </a:xfrm>
          <a:prstGeom prst="rect">
            <a:avLst/>
          </a:prstGeom>
          <a:noFill/>
          <a:ln/>
        </p:spPr>
        <p:txBody>
          <a:bodyPr wrap="square" lIns="0" tIns="0" rIns="0" bIns="0" rtlCol="0" anchor="ctr"/>
          <a:lstStyle/>
          <a:p>
            <a:pPr marL="0" indent="0" algn="ctr">
              <a:buNone/>
            </a:pPr>
            <a:r>
              <a:rPr lang="en-US" sz="4200" kern="0" spc="-100" dirty="0">
                <a:solidFill>
                  <a:srgbClr val="F4F6FF"/>
                </a:solidFill>
                <a:latin typeface="Calibri" pitchFamily="34" charset="0"/>
                <a:ea typeface="Calibri" pitchFamily="34" charset="-122"/>
                <a:cs typeface="Calibri" pitchFamily="34" charset="-120"/>
              </a:rPr>
              <a:t>100%</a:t>
            </a:r>
            <a:endParaRPr lang="en-US" sz="4200" dirty="0"/>
          </a:p>
        </p:txBody>
      </p:sp>
      <p:sp>
        <p:nvSpPr>
          <p:cNvPr id="19" name="Text 17"/>
          <p:cNvSpPr/>
          <p:nvPr/>
        </p:nvSpPr>
        <p:spPr>
          <a:xfrm>
            <a:off x="9157487" y="2615184"/>
            <a:ext cx="2266112" cy="310896"/>
          </a:xfrm>
          <a:prstGeom prst="rect">
            <a:avLst/>
          </a:prstGeom>
          <a:noFill/>
          <a:ln/>
        </p:spPr>
        <p:txBody>
          <a:bodyPr wrap="square" lIns="0" tIns="0" rIns="0" bIns="0" rtlCol="0" anchor="t"/>
          <a:lstStyle/>
          <a:p>
            <a:pPr marL="0" indent="0" algn="ctr">
              <a:lnSpc>
                <a:spcPts val="1400"/>
              </a:lnSpc>
              <a:buNone/>
            </a:pPr>
            <a:r>
              <a:rPr lang="en-US" sz="1200" b="1" dirty="0">
                <a:solidFill>
                  <a:srgbClr val="F4F6FF"/>
                </a:solidFill>
                <a:latin typeface="Calibri" pitchFamily="34" charset="0"/>
                <a:ea typeface="Calibri" pitchFamily="34" charset="-122"/>
                <a:cs typeface="Calibri" pitchFamily="34" charset="-120"/>
              </a:rPr>
              <a:t>Recs with citations</a:t>
            </a:r>
            <a:endParaRPr lang="en-US" sz="1200" dirty="0"/>
          </a:p>
        </p:txBody>
      </p:sp>
      <p:sp>
        <p:nvSpPr>
          <p:cNvPr id="20" name="Text 18"/>
          <p:cNvSpPr/>
          <p:nvPr/>
        </p:nvSpPr>
        <p:spPr>
          <a:xfrm>
            <a:off x="9157487" y="2926080"/>
            <a:ext cx="2266112" cy="365760"/>
          </a:xfrm>
          <a:prstGeom prst="rect">
            <a:avLst/>
          </a:prstGeom>
          <a:noFill/>
          <a:ln/>
        </p:spPr>
        <p:txBody>
          <a:bodyPr wrap="square" lIns="0" tIns="0" rIns="0" bIns="0" rtlCol="0" anchor="t"/>
          <a:lstStyle/>
          <a:p>
            <a:pPr marL="0" indent="0" algn="ctr">
              <a:lnSpc>
                <a:spcPts val="1100"/>
              </a:lnSpc>
              <a:buNone/>
            </a:pPr>
            <a:r>
              <a:rPr lang="en-US" sz="900" dirty="0">
                <a:solidFill>
                  <a:srgbClr val="4FC3F7"/>
                </a:solidFill>
                <a:latin typeface="Calibri" pitchFamily="34" charset="0"/>
                <a:ea typeface="Calibri" pitchFamily="34" charset="-122"/>
                <a:cs typeface="Calibri" pitchFamily="34" charset="-120"/>
              </a:rPr>
              <a:t>grounding enforced</a:t>
            </a:r>
            <a:endParaRPr lang="en-US" sz="900" dirty="0"/>
          </a:p>
        </p:txBody>
      </p:sp>
      <p:sp>
        <p:nvSpPr>
          <p:cNvPr id="21" name="Text 19"/>
          <p:cNvSpPr/>
          <p:nvPr/>
        </p:nvSpPr>
        <p:spPr>
          <a:xfrm>
            <a:off x="640080" y="3657600"/>
            <a:ext cx="5272888" cy="219456"/>
          </a:xfrm>
          <a:prstGeom prst="rect">
            <a:avLst/>
          </a:prstGeom>
          <a:noFill/>
          <a:ln/>
        </p:spPr>
        <p:txBody>
          <a:bodyPr wrap="square" lIns="0" tIns="0" rIns="0" bIns="0" rtlCol="0" anchor="ctr"/>
          <a:lstStyle/>
          <a:p>
            <a:pPr marL="0" indent="0">
              <a:buNone/>
            </a:pPr>
            <a:r>
              <a:rPr lang="en-US" sz="900" b="1" kern="0" spc="120" dirty="0">
                <a:solidFill>
                  <a:srgbClr val="6A7590"/>
                </a:solidFill>
                <a:latin typeface="Calibri" pitchFamily="34" charset="0"/>
                <a:ea typeface="Calibri" pitchFamily="34" charset="-122"/>
                <a:cs typeface="Calibri" pitchFamily="34" charset="-120"/>
              </a:rPr>
              <a:t>DECISIONS WE'D DEFEND</a:t>
            </a:r>
            <a:endParaRPr lang="en-US" sz="900" dirty="0"/>
          </a:p>
        </p:txBody>
      </p:sp>
      <p:pic>
        <p:nvPicPr>
          <p:cNvPr id="22" name="Image 0" descr="preencoded.png"/>
          <p:cNvPicPr>
            <a:picLocks noChangeAspect="1"/>
          </p:cNvPicPr>
          <p:nvPr/>
        </p:nvPicPr>
        <p:blipFill>
          <a:blip r:embed="rId3"/>
          <a:stretch>
            <a:fillRect/>
          </a:stretch>
        </p:blipFill>
        <p:spPr>
          <a:xfrm>
            <a:off x="640080" y="3986784"/>
            <a:ext cx="201168" cy="201168"/>
          </a:xfrm>
          <a:prstGeom prst="rect">
            <a:avLst/>
          </a:prstGeom>
        </p:spPr>
      </p:pic>
      <p:sp>
        <p:nvSpPr>
          <p:cNvPr id="23" name="Text 20"/>
          <p:cNvSpPr/>
          <p:nvPr/>
        </p:nvSpPr>
        <p:spPr>
          <a:xfrm>
            <a:off x="950976" y="3931920"/>
            <a:ext cx="4961992" cy="54864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Five agents not seven — independent failure modes and a clean compliance audit, at a latency cost we mitigate</a:t>
            </a:r>
            <a:endParaRPr lang="en-US" sz="1050" dirty="0"/>
          </a:p>
        </p:txBody>
      </p:sp>
      <p:pic>
        <p:nvPicPr>
          <p:cNvPr id="24" name="Image 1" descr="preencoded.png"/>
          <p:cNvPicPr>
            <a:picLocks noChangeAspect="1"/>
          </p:cNvPicPr>
          <p:nvPr/>
        </p:nvPicPr>
        <p:blipFill>
          <a:blip r:embed="rId3"/>
          <a:stretch>
            <a:fillRect/>
          </a:stretch>
        </p:blipFill>
        <p:spPr>
          <a:xfrm>
            <a:off x="640080" y="4553712"/>
            <a:ext cx="201168" cy="201168"/>
          </a:xfrm>
          <a:prstGeom prst="rect">
            <a:avLst/>
          </a:prstGeom>
        </p:spPr>
      </p:pic>
      <p:sp>
        <p:nvSpPr>
          <p:cNvPr id="25" name="Text 21"/>
          <p:cNvSpPr/>
          <p:nvPr/>
        </p:nvSpPr>
        <p:spPr>
          <a:xfrm>
            <a:off x="950976" y="4498848"/>
            <a:ext cx="4961992" cy="54864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RAG breadth tuned per role, not blanket-injected — the documented token trade-off</a:t>
            </a:r>
            <a:endParaRPr lang="en-US" sz="1050" dirty="0"/>
          </a:p>
        </p:txBody>
      </p:sp>
      <p:pic>
        <p:nvPicPr>
          <p:cNvPr id="26" name="Image 2" descr="preencoded.png"/>
          <p:cNvPicPr>
            <a:picLocks noChangeAspect="1"/>
          </p:cNvPicPr>
          <p:nvPr/>
        </p:nvPicPr>
        <p:blipFill>
          <a:blip r:embed="rId3"/>
          <a:stretch>
            <a:fillRect/>
          </a:stretch>
        </p:blipFill>
        <p:spPr>
          <a:xfrm>
            <a:off x="640080" y="5120640"/>
            <a:ext cx="201168" cy="201168"/>
          </a:xfrm>
          <a:prstGeom prst="rect">
            <a:avLst/>
          </a:prstGeom>
        </p:spPr>
      </p:pic>
      <p:sp>
        <p:nvSpPr>
          <p:cNvPr id="27" name="Text 22"/>
          <p:cNvSpPr/>
          <p:nvPr/>
        </p:nvSpPr>
        <p:spPr>
          <a:xfrm>
            <a:off x="950976" y="5065776"/>
            <a:ext cx="4961992" cy="54864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Regression with honest intervals over a deep-learning forecast — defensible and interpretable</a:t>
            </a:r>
            <a:endParaRPr lang="en-US" sz="1050" dirty="0"/>
          </a:p>
        </p:txBody>
      </p:sp>
      <p:sp>
        <p:nvSpPr>
          <p:cNvPr id="28" name="Text 23"/>
          <p:cNvSpPr/>
          <p:nvPr/>
        </p:nvSpPr>
        <p:spPr>
          <a:xfrm>
            <a:off x="6278728" y="3657600"/>
            <a:ext cx="5272888" cy="219456"/>
          </a:xfrm>
          <a:prstGeom prst="rect">
            <a:avLst/>
          </a:prstGeom>
          <a:noFill/>
          <a:ln/>
        </p:spPr>
        <p:txBody>
          <a:bodyPr wrap="square" lIns="0" tIns="0" rIns="0" bIns="0" rtlCol="0" anchor="ctr"/>
          <a:lstStyle/>
          <a:p>
            <a:pPr marL="0" indent="0">
              <a:buNone/>
            </a:pPr>
            <a:r>
              <a:rPr lang="en-US" sz="900" b="1" kern="0" spc="120" dirty="0">
                <a:solidFill>
                  <a:srgbClr val="6A7590"/>
                </a:solidFill>
                <a:latin typeface="Calibri" pitchFamily="34" charset="0"/>
                <a:ea typeface="Calibri" pitchFamily="34" charset="-122"/>
                <a:cs typeface="Calibri" pitchFamily="34" charset="-120"/>
              </a:rPr>
              <a:t>WHAT'S NEXT — NAMED BEFORE YOU ASK</a:t>
            </a:r>
            <a:endParaRPr lang="en-US" sz="900" dirty="0"/>
          </a:p>
        </p:txBody>
      </p:sp>
      <p:pic>
        <p:nvPicPr>
          <p:cNvPr id="29" name="Image 3" descr="preencoded.png"/>
          <p:cNvPicPr>
            <a:picLocks noChangeAspect="1"/>
          </p:cNvPicPr>
          <p:nvPr/>
        </p:nvPicPr>
        <p:blipFill>
          <a:blip r:embed="rId4"/>
          <a:stretch>
            <a:fillRect/>
          </a:stretch>
        </p:blipFill>
        <p:spPr>
          <a:xfrm>
            <a:off x="6278728" y="3986784"/>
            <a:ext cx="201168" cy="201168"/>
          </a:xfrm>
          <a:prstGeom prst="rect">
            <a:avLst/>
          </a:prstGeom>
        </p:spPr>
      </p:pic>
      <p:sp>
        <p:nvSpPr>
          <p:cNvPr id="30" name="Text 24"/>
          <p:cNvSpPr/>
          <p:nvPr/>
        </p:nvSpPr>
        <p:spPr>
          <a:xfrm>
            <a:off x="6589624" y="3931920"/>
            <a:ext cx="4961992" cy="54864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Distribution-refinement learning loop — degrades gracefully to reporting if cut</a:t>
            </a:r>
            <a:endParaRPr lang="en-US" sz="1050" dirty="0"/>
          </a:p>
        </p:txBody>
      </p:sp>
      <p:pic>
        <p:nvPicPr>
          <p:cNvPr id="31" name="Image 4" descr="preencoded.png"/>
          <p:cNvPicPr>
            <a:picLocks noChangeAspect="1"/>
          </p:cNvPicPr>
          <p:nvPr/>
        </p:nvPicPr>
        <p:blipFill>
          <a:blip r:embed="rId4"/>
          <a:stretch>
            <a:fillRect/>
          </a:stretch>
        </p:blipFill>
        <p:spPr>
          <a:xfrm>
            <a:off x="6278728" y="4553712"/>
            <a:ext cx="201168" cy="201168"/>
          </a:xfrm>
          <a:prstGeom prst="rect">
            <a:avLst/>
          </a:prstGeom>
        </p:spPr>
      </p:pic>
      <p:sp>
        <p:nvSpPr>
          <p:cNvPr id="32" name="Text 25"/>
          <p:cNvSpPr/>
          <p:nvPr/>
        </p:nvSpPr>
        <p:spPr>
          <a:xfrm>
            <a:off x="6589624" y="4498848"/>
            <a:ext cx="4961992" cy="54864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Autonomous mode ships behind Supervised and Assisted, not ahead of them</a:t>
            </a:r>
            <a:endParaRPr lang="en-US" sz="1050" dirty="0"/>
          </a:p>
        </p:txBody>
      </p:sp>
      <p:pic>
        <p:nvPicPr>
          <p:cNvPr id="33" name="Image 5" descr="preencoded.png"/>
          <p:cNvPicPr>
            <a:picLocks noChangeAspect="1"/>
          </p:cNvPicPr>
          <p:nvPr/>
        </p:nvPicPr>
        <p:blipFill>
          <a:blip r:embed="rId4"/>
          <a:stretch>
            <a:fillRect/>
          </a:stretch>
        </p:blipFill>
        <p:spPr>
          <a:xfrm>
            <a:off x="6278728" y="5120640"/>
            <a:ext cx="201168" cy="201168"/>
          </a:xfrm>
          <a:prstGeom prst="rect">
            <a:avLst/>
          </a:prstGeom>
        </p:spPr>
      </p:pic>
      <p:sp>
        <p:nvSpPr>
          <p:cNvPr id="34" name="Text 26"/>
          <p:cNvSpPr/>
          <p:nvPr/>
        </p:nvSpPr>
        <p:spPr>
          <a:xfrm>
            <a:off x="6589624" y="5065776"/>
            <a:ext cx="4961992" cy="548640"/>
          </a:xfrm>
          <a:prstGeom prst="rect">
            <a:avLst/>
          </a:prstGeom>
          <a:noFill/>
          <a:ln/>
        </p:spPr>
        <p:txBody>
          <a:bodyPr wrap="square" lIns="0" tIns="0" rIns="0" bIns="0" rtlCol="0" anchor="t"/>
          <a:lstStyle/>
          <a:p>
            <a:pPr marL="0" indent="0">
              <a:lnSpc>
                <a:spcPts val="1300"/>
              </a:lnSpc>
              <a:buNone/>
            </a:pPr>
            <a:r>
              <a:rPr lang="en-US" sz="1050" dirty="0">
                <a:solidFill>
                  <a:srgbClr val="A8B4CC"/>
                </a:solidFill>
                <a:latin typeface="Calibri" pitchFamily="34" charset="0"/>
                <a:ea typeface="Calibri" pitchFamily="34" charset="-122"/>
                <a:cs typeface="Calibri" pitchFamily="34" charset="-120"/>
              </a:rPr>
              <a:t>Live competitor scraping stays an optional adapter, never the demo path</a:t>
            </a:r>
            <a:endParaRPr lang="en-US" sz="1050" dirty="0"/>
          </a:p>
        </p:txBody>
      </p:sp>
      <p:sp>
        <p:nvSpPr>
          <p:cNvPr id="35" name="Shape 27"/>
          <p:cNvSpPr/>
          <p:nvPr/>
        </p:nvSpPr>
        <p:spPr>
          <a:xfrm>
            <a:off x="4084168" y="5870448"/>
            <a:ext cx="4023360" cy="0"/>
          </a:xfrm>
          <a:prstGeom prst="line">
            <a:avLst/>
          </a:prstGeom>
          <a:noFill/>
          <a:ln w="12700">
            <a:solidFill>
              <a:srgbClr val="1A2040"/>
            </a:solidFill>
            <a:prstDash val="solid"/>
          </a:ln>
        </p:spPr>
      </p:sp>
      <p:sp>
        <p:nvSpPr>
          <p:cNvPr id="36" name="Text 28"/>
          <p:cNvSpPr/>
          <p:nvPr/>
        </p:nvSpPr>
        <p:spPr>
          <a:xfrm>
            <a:off x="0" y="5998464"/>
            <a:ext cx="12191695" cy="457200"/>
          </a:xfrm>
          <a:prstGeom prst="rect">
            <a:avLst/>
          </a:prstGeom>
          <a:noFill/>
          <a:ln/>
        </p:spPr>
        <p:txBody>
          <a:bodyPr wrap="square" lIns="0" tIns="0" rIns="0" bIns="0" rtlCol="0" anchor="ctr"/>
          <a:lstStyle/>
          <a:p>
            <a:pPr marL="0" indent="0" algn="ctr">
              <a:buNone/>
            </a:pPr>
            <a:r>
              <a:rPr lang="en-US" sz="2200" dirty="0">
                <a:solidFill>
                  <a:srgbClr val="F5A623"/>
                </a:solidFill>
                <a:latin typeface="Calibri" pitchFamily="34" charset="0"/>
                <a:ea typeface="Calibri" pitchFamily="34" charset="-122"/>
                <a:cs typeface="Calibri" pitchFamily="34" charset="-120"/>
              </a:rPr>
              <a:t>AI proposes. Deterministic rules dispose.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4834</Words>
  <Application>Microsoft Office PowerPoint</Application>
  <PresentationFormat>Widescreen</PresentationFormat>
  <Paragraphs>267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Sauris Nandi</cp:lastModifiedBy>
  <cp:revision>3</cp:revision>
  <dcterms:created xsi:type="dcterms:W3CDTF">2026-08-07T20:28:37Z</dcterms:created>
  <dcterms:modified xsi:type="dcterms:W3CDTF">2026-08-08T01:49:35Z</dcterms:modified>
</cp:coreProperties>
</file>